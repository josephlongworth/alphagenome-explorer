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77" r:id="rId8"/>
    <p:sldId id="278" r:id="rId9"/>
    <p:sldId id="275" r:id="rId10"/>
    <p:sldId id="274" r:id="rId11"/>
    <p:sldId id="263" r:id="rId12"/>
    <p:sldId id="265" r:id="rId13"/>
    <p:sldId id="281" r:id="rId14"/>
    <p:sldId id="282" r:id="rId15"/>
    <p:sldId id="269" r:id="rId16"/>
    <p:sldId id="270" r:id="rId17"/>
    <p:sldId id="276" r:id="rId18"/>
    <p:sldId id="279" r:id="rId19"/>
    <p:sldId id="280" r:id="rId20"/>
    <p:sldId id="273" r:id="rId21"/>
    <p:sldId id="262" r:id="rId22"/>
    <p:sldId id="264"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5798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the DII Bioinformatics Club session on AlphaGenome. Three parts: paper, Python tutorial, and hands-on app demo.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three session parts. Emphasise no prior reading or coding needed.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context: &gt;98% variants non-coding. Existing models trade off length vs resolution vs modalities.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Key takeaway: AlphaGenome is the first to unify all three dimensions.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U-Net + Transformer architecture. Sequence parallelism splits 1Mb into 131kb chunks. Multiple resolution output heads.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network as three stages: compress, reason, expand. Convolutions = local pattern scanning (like reading nearby words). Transformer = long-range reasoning (connecting ideas across a whole book). Decoder = reconstructing the full-resolution output. The Transformer sits in the middle, on a compressed representation.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in the left panel, each output node only receives information from its immediate neighbours. In the right panel, every output node can receive information from ALL input positions. The model learns WHICH connections are important by training on real experimental data. The teal highlighted lines show that position 1 and position 7 — representing distant parts of the genome — can directly influence each other's outputs. This is how AlphaGenome captures long-range regulatory interactions.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AE927-F13A-9C05-CFEB-CFCBDEF6D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DF4E9-01DC-F537-75C4-4FB3E4F5F9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27F326-5AD6-EB28-1B48-2C1D4724A1E8}"/>
              </a:ext>
            </a:extLst>
          </p:cNvPr>
          <p:cNvSpPr>
            <a:spLocks noGrp="1"/>
          </p:cNvSpPr>
          <p:nvPr>
            <p:ph type="body" idx="1"/>
          </p:nvPr>
        </p:nvSpPr>
        <p:spPr/>
        <p:txBody>
          <a:bodyPr/>
          <a:lstStyle/>
          <a:p>
            <a:r>
              <a:rPr lang="en-US" dirty="0"/>
              <a:t>Key: U-Net + Transformer architecture. Sequence parallelism splits 1Mb into 131kb chunks. Multiple resolution output heads.</a:t>
            </a:r>
          </a:p>
        </p:txBody>
      </p:sp>
      <p:sp>
        <p:nvSpPr>
          <p:cNvPr id="4" name="Slide Number Placeholder 3">
            <a:extLst>
              <a:ext uri="{FF2B5EF4-FFF2-40B4-BE49-F238E27FC236}">
                <a16:creationId xmlns:a16="http://schemas.microsoft.com/office/drawing/2014/main" id="{BA5EB087-6560-9A55-2926-35BF03724597}"/>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0617031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EB44D-EEE6-549B-5B81-3B0A0225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E2F271-A7F0-E5B0-3BD5-B6D80FF65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C1E74-3255-9E63-C974-FFC4169A5299}"/>
              </a:ext>
            </a:extLst>
          </p:cNvPr>
          <p:cNvSpPr>
            <a:spLocks noGrp="1"/>
          </p:cNvSpPr>
          <p:nvPr>
            <p:ph type="body" idx="1"/>
          </p:nvPr>
        </p:nvSpPr>
        <p:spPr/>
        <p:txBody>
          <a:bodyPr/>
          <a:lstStyle/>
          <a:p>
            <a:r>
              <a:rPr lang="en-US" dirty="0"/>
              <a:t>Key: U-Net + Transformer architecture. Sequence parallelism splits 1Mb into 131kb chunks. Multiple resolution output heads.</a:t>
            </a:r>
          </a:p>
        </p:txBody>
      </p:sp>
      <p:sp>
        <p:nvSpPr>
          <p:cNvPr id="4" name="Slide Number Placeholder 3">
            <a:extLst>
              <a:ext uri="{FF2B5EF4-FFF2-40B4-BE49-F238E27FC236}">
                <a16:creationId xmlns:a16="http://schemas.microsoft.com/office/drawing/2014/main" id="{B8A08B2C-897F-DFC9-0211-2C9B4DA00DED}"/>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7391430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of 26 variant effect tasks. Mention TAL1 case study briefly — shows cross-modality power.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you don't need a powerful computer. The heavy computation runs on Google's hardware. Your laptop just sends requests and receives results via the API. The API key authenticates you — like a login. The Python SDK wraps the API calls so you write simple Python functions instead of raw HTTP requests.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sit-on slide for ~25 minutes while participants work through the notebook. Walk around the room helping. Key issues that may come up: API key not set correctly, pip install failing (network issues), GTF download taking a while on first run. The predict_variant call takes ~30-60 seconds — reassure them this is normal. Step 6 (scoring) is currently not working so they can skip it. The bonus step is for faster participants — encourage them to try a different tissue or variant.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of 4 modules. Remind everyone to set the API key first in Settings.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ECFD9-483D-6DA7-AF16-CCE4F407B8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37E45D-82A3-C814-F8A8-9837A81F4F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58E30-8F2F-1796-39A0-466579B0D92A}"/>
              </a:ext>
            </a:extLst>
          </p:cNvPr>
          <p:cNvSpPr>
            <a:spLocks noGrp="1"/>
          </p:cNvSpPr>
          <p:nvPr>
            <p:ph type="body" idx="1"/>
          </p:nvPr>
        </p:nvSpPr>
        <p:spPr/>
        <p:txBody>
          <a:bodyPr/>
          <a:lstStyle/>
          <a:p>
            <a:r>
              <a:rPr lang="en-US" dirty="0"/>
              <a:t>Quick overview of 4 modules. Remind everyone to set the API key first in Settings.</a:t>
            </a:r>
          </a:p>
        </p:txBody>
      </p:sp>
      <p:sp>
        <p:nvSpPr>
          <p:cNvPr id="4" name="Slide Number Placeholder 3">
            <a:extLst>
              <a:ext uri="{FF2B5EF4-FFF2-40B4-BE49-F238E27FC236}">
                <a16:creationId xmlns:a16="http://schemas.microsoft.com/office/drawing/2014/main" id="{90BCE210-2E76-7A3F-8DED-56DC7F36291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1725913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students, 4 groups (2+2+2+1). Each group gets one module. Phase 1: 15 min to explore — run the suggested example, then experiment with settings. Phase 2: 5 min per group to present what their module does, what they observed, and how an immunologist could use it. RBM20 is the interval prediction example — students saw this protein at the DII meeting. It's a splicing regulator highly expressed in heart, so they should discover heart/cardiac tissue shows the strongest signal.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E0948-CB6C-0E07-C88F-A74104B2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37220-09EA-FC13-6119-1BC9BBC68B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DE46B-F482-7F80-5287-A7BA7840B577}"/>
              </a:ext>
            </a:extLst>
          </p:cNvPr>
          <p:cNvSpPr>
            <a:spLocks noGrp="1"/>
          </p:cNvSpPr>
          <p:nvPr>
            <p:ph type="body" idx="1"/>
          </p:nvPr>
        </p:nvSpPr>
        <p:spPr/>
        <p:txBody>
          <a:bodyPr/>
          <a:lstStyle/>
          <a:p>
            <a:r>
              <a:rPr lang="en-US" dirty="0"/>
              <a:t>Quick overview of 4 modules. Remind everyone to set the API key first in Settings.</a:t>
            </a:r>
          </a:p>
        </p:txBody>
      </p:sp>
      <p:sp>
        <p:nvSpPr>
          <p:cNvPr id="4" name="Slide Number Placeholder 3">
            <a:extLst>
              <a:ext uri="{FF2B5EF4-FFF2-40B4-BE49-F238E27FC236}">
                <a16:creationId xmlns:a16="http://schemas.microsoft.com/office/drawing/2014/main" id="{5C6938B6-D234-5AA1-0A40-DD81373E62F4}"/>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575300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everyone. Point to resources. Remind about feedback / future sessions.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phases: pretrain on real data, then distill with mutations. Distillation is what makes variant scoring work well.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guide. Open the Nature paper and show these figures directly — much better than screenshots in slides.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10.101.0.70:808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fr-CH"/>
          </a:p>
        </p:txBody>
      </p:sp>
      <p:pic>
        <p:nvPicPr>
          <p:cNvPr id="3" name="Image 0" descr="preencoded.png"/>
          <p:cNvPicPr>
            <a:picLocks noChangeAspect="1"/>
          </p:cNvPicPr>
          <p:nvPr/>
        </p:nvPicPr>
        <p:blipFill>
          <a:blip r:embed="rId3"/>
          <a:stretch>
            <a:fillRect/>
          </a:stretch>
        </p:blipFill>
        <p:spPr>
          <a:xfrm>
            <a:off x="731520" y="822960"/>
            <a:ext cx="640080" cy="640080"/>
          </a:xfrm>
          <a:prstGeom prst="rect">
            <a:avLst/>
          </a:prstGeom>
        </p:spPr>
      </p:pic>
      <p:sp>
        <p:nvSpPr>
          <p:cNvPr id="4" name="Text 1"/>
          <p:cNvSpPr/>
          <p:nvPr/>
        </p:nvSpPr>
        <p:spPr>
          <a:xfrm>
            <a:off x="731520" y="1554480"/>
            <a:ext cx="7680960" cy="82296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AlphaGenome</a:t>
            </a:r>
            <a:endParaRPr lang="en-US" sz="4400" dirty="0"/>
          </a:p>
        </p:txBody>
      </p:sp>
      <p:sp>
        <p:nvSpPr>
          <p:cNvPr id="5" name="Text 2"/>
          <p:cNvSpPr/>
          <p:nvPr/>
        </p:nvSpPr>
        <p:spPr>
          <a:xfrm>
            <a:off x="731520" y="2331720"/>
            <a:ext cx="7680960" cy="502920"/>
          </a:xfrm>
          <a:prstGeom prst="rect">
            <a:avLst/>
          </a:prstGeom>
          <a:noFill/>
          <a:ln/>
        </p:spPr>
        <p:txBody>
          <a:bodyPr wrap="square" rtlCol="0" anchor="ctr"/>
          <a:lstStyle/>
          <a:p>
            <a:pPr marL="0" indent="0">
              <a:buNone/>
            </a:pPr>
            <a:r>
              <a:rPr lang="en-US" sz="2200" dirty="0">
                <a:solidFill>
                  <a:srgbClr val="5EEAD4"/>
                </a:solidFill>
                <a:latin typeface="Calibri" pitchFamily="34" charset="0"/>
                <a:ea typeface="Calibri" pitchFamily="34" charset="-122"/>
                <a:cs typeface="Calibri" pitchFamily="34" charset="-120"/>
              </a:rPr>
              <a:t>From Paper to Practice</a:t>
            </a:r>
            <a:endParaRPr lang="en-US" sz="2200" dirty="0"/>
          </a:p>
        </p:txBody>
      </p:sp>
      <p:sp>
        <p:nvSpPr>
          <p:cNvPr id="6" name="Shape 3"/>
          <p:cNvSpPr/>
          <p:nvPr/>
        </p:nvSpPr>
        <p:spPr>
          <a:xfrm>
            <a:off x="731520" y="3017520"/>
            <a:ext cx="2286000" cy="0"/>
          </a:xfrm>
          <a:prstGeom prst="line">
            <a:avLst/>
          </a:prstGeom>
          <a:noFill/>
          <a:ln w="25400">
            <a:solidFill>
              <a:srgbClr val="0D9488"/>
            </a:solidFill>
            <a:prstDash val="solid"/>
          </a:ln>
        </p:spPr>
        <p:txBody>
          <a:bodyPr/>
          <a:lstStyle/>
          <a:p>
            <a:endParaRPr lang="fr-CH"/>
          </a:p>
        </p:txBody>
      </p:sp>
      <p:sp>
        <p:nvSpPr>
          <p:cNvPr id="7" name="Text 4"/>
          <p:cNvSpPr/>
          <p:nvPr/>
        </p:nvSpPr>
        <p:spPr>
          <a:xfrm>
            <a:off x="731520" y="3246120"/>
            <a:ext cx="7680960" cy="365760"/>
          </a:xfrm>
          <a:prstGeom prst="rect">
            <a:avLst/>
          </a:prstGeom>
          <a:noFill/>
          <a:ln/>
        </p:spPr>
        <p:txBody>
          <a:bodyPr wrap="square" rtlCol="0" anchor="ctr"/>
          <a:lstStyle/>
          <a:p>
            <a:pPr marL="0" indent="0">
              <a:buNone/>
            </a:pPr>
            <a:r>
              <a:rPr lang="en-US" sz="1500" b="1" dirty="0">
                <a:solidFill>
                  <a:srgbClr val="E2E8F0"/>
                </a:solidFill>
                <a:latin typeface="Calibri" pitchFamily="34" charset="0"/>
                <a:ea typeface="Calibri" pitchFamily="34" charset="-122"/>
                <a:cs typeface="Calibri" pitchFamily="34" charset="-120"/>
              </a:rPr>
              <a:t>DII Bioinformatics Club</a:t>
            </a:r>
            <a:endParaRPr lang="en-US" sz="1500" dirty="0"/>
          </a:p>
        </p:txBody>
      </p:sp>
      <p:sp>
        <p:nvSpPr>
          <p:cNvPr id="8" name="Text 5"/>
          <p:cNvSpPr/>
          <p:nvPr/>
        </p:nvSpPr>
        <p:spPr>
          <a:xfrm>
            <a:off x="731520" y="3566160"/>
            <a:ext cx="7680960" cy="32004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Luxembourg Institute of Health</a:t>
            </a:r>
            <a:endParaRPr lang="en-US" sz="1300" dirty="0"/>
          </a:p>
        </p:txBody>
      </p:sp>
      <p:sp>
        <p:nvSpPr>
          <p:cNvPr id="9" name="Text 6"/>
          <p:cNvSpPr/>
          <p:nvPr/>
        </p:nvSpPr>
        <p:spPr>
          <a:xfrm>
            <a:off x="731520" y="3931920"/>
            <a:ext cx="7680960" cy="32004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Joseph &amp; Oliver</a:t>
            </a:r>
            <a:endParaRPr lang="en-US" sz="1300" dirty="0"/>
          </a:p>
        </p:txBody>
      </p:sp>
      <p:sp>
        <p:nvSpPr>
          <p:cNvPr id="10" name="Shape 7"/>
          <p:cNvSpPr/>
          <p:nvPr/>
        </p:nvSpPr>
        <p:spPr>
          <a:xfrm>
            <a:off x="0" y="4960620"/>
            <a:ext cx="9144000" cy="182880"/>
          </a:xfrm>
          <a:prstGeom prst="rect">
            <a:avLst/>
          </a:prstGeom>
          <a:solidFill>
            <a:srgbClr val="0D9488"/>
          </a:solidFill>
          <a:ln/>
        </p:spPr>
        <p:txBody>
          <a:bodyPr/>
          <a:lstStyle/>
          <a:p>
            <a:endParaRPr lang="fr-CH"/>
          </a:p>
        </p:txBody>
      </p:sp>
      <p:pic>
        <p:nvPicPr>
          <p:cNvPr id="1026" name="Picture 2" descr="AlphaGenome: Google DeepMind’s Breakthrough Model for Predicting DNA ...">
            <a:extLst>
              <a:ext uri="{FF2B5EF4-FFF2-40B4-BE49-F238E27FC236}">
                <a16:creationId xmlns:a16="http://schemas.microsoft.com/office/drawing/2014/main" id="{94B76486-F62F-DD88-9A21-E1D530536B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0720" y="1451610"/>
            <a:ext cx="2766060" cy="276606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Session Overview</a:t>
            </a:r>
            <a:endParaRPr lang="en-US" sz="3000" dirty="0"/>
          </a:p>
        </p:txBody>
      </p:sp>
      <p:sp>
        <p:nvSpPr>
          <p:cNvPr id="3" name="Text 1"/>
          <p:cNvSpPr/>
          <p:nvPr/>
        </p:nvSpPr>
        <p:spPr>
          <a:xfrm>
            <a:off x="548640" y="868680"/>
            <a:ext cx="8046720" cy="320040"/>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2 hours  ·  3 components  ·  No prior coding or reading required</a:t>
            </a:r>
            <a:endParaRPr lang="en-US" sz="1300" dirty="0"/>
          </a:p>
        </p:txBody>
      </p:sp>
      <p:sp>
        <p:nvSpPr>
          <p:cNvPr id="4" name="Shape 2"/>
          <p:cNvSpPr/>
          <p:nvPr/>
        </p:nvSpPr>
        <p:spPr>
          <a:xfrm>
            <a:off x="548640" y="1463040"/>
            <a:ext cx="8046720" cy="960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5" name="Shape 3"/>
          <p:cNvSpPr/>
          <p:nvPr/>
        </p:nvSpPr>
        <p:spPr>
          <a:xfrm>
            <a:off x="548640" y="1463040"/>
            <a:ext cx="64008" cy="960120"/>
          </a:xfrm>
          <a:prstGeom prst="rect">
            <a:avLst/>
          </a:prstGeom>
          <a:solidFill>
            <a:srgbClr val="0D9488"/>
          </a:solidFill>
          <a:ln/>
        </p:spPr>
        <p:txBody>
          <a:bodyPr/>
          <a:lstStyle/>
          <a:p>
            <a:endParaRPr lang="fr-CH"/>
          </a:p>
        </p:txBody>
      </p:sp>
      <p:sp>
        <p:nvSpPr>
          <p:cNvPr id="6" name="Shape 4"/>
          <p:cNvSpPr/>
          <p:nvPr/>
        </p:nvSpPr>
        <p:spPr>
          <a:xfrm>
            <a:off x="868680" y="1645920"/>
            <a:ext cx="548640" cy="548640"/>
          </a:xfrm>
          <a:prstGeom prst="ellipse">
            <a:avLst/>
          </a:prstGeom>
          <a:solidFill>
            <a:srgbClr val="0D9488"/>
          </a:solidFill>
          <a:ln/>
        </p:spPr>
        <p:txBody>
          <a:bodyPr/>
          <a:lstStyle/>
          <a:p>
            <a:endParaRPr lang="fr-CH"/>
          </a:p>
        </p:txBody>
      </p:sp>
      <p:pic>
        <p:nvPicPr>
          <p:cNvPr id="7" name="Image 0" descr="preencoded.png"/>
          <p:cNvPicPr>
            <a:picLocks noChangeAspect="1"/>
          </p:cNvPicPr>
          <p:nvPr/>
        </p:nvPicPr>
        <p:blipFill>
          <a:blip r:embed="rId3"/>
          <a:stretch>
            <a:fillRect/>
          </a:stretch>
        </p:blipFill>
        <p:spPr>
          <a:xfrm>
            <a:off x="978408" y="1755648"/>
            <a:ext cx="329184" cy="329184"/>
          </a:xfrm>
          <a:prstGeom prst="rect">
            <a:avLst/>
          </a:prstGeom>
        </p:spPr>
      </p:pic>
      <p:sp>
        <p:nvSpPr>
          <p:cNvPr id="8" name="Text 5"/>
          <p:cNvSpPr/>
          <p:nvPr/>
        </p:nvSpPr>
        <p:spPr>
          <a:xfrm>
            <a:off x="1645920" y="1554480"/>
            <a:ext cx="6400800" cy="274320"/>
          </a:xfrm>
          <a:prstGeom prst="rect">
            <a:avLst/>
          </a:prstGeom>
          <a:noFill/>
          <a:ln/>
        </p:spPr>
        <p:txBody>
          <a:bodyPr wrap="square" lIns="0" tIns="0" rIns="0" bIns="0"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PART 1  ·  30 MIN</a:t>
            </a:r>
            <a:endParaRPr lang="en-US" sz="1000" dirty="0"/>
          </a:p>
        </p:txBody>
      </p:sp>
      <p:sp>
        <p:nvSpPr>
          <p:cNvPr id="9" name="Text 6"/>
          <p:cNvSpPr/>
          <p:nvPr/>
        </p:nvSpPr>
        <p:spPr>
          <a:xfrm>
            <a:off x="1645920" y="1783080"/>
            <a:ext cx="3657600" cy="27432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The Paper</a:t>
            </a:r>
            <a:endParaRPr lang="en-US" sz="1700" dirty="0"/>
          </a:p>
        </p:txBody>
      </p:sp>
      <p:sp>
        <p:nvSpPr>
          <p:cNvPr id="10" name="Text 7"/>
          <p:cNvSpPr/>
          <p:nvPr/>
        </p:nvSpPr>
        <p:spPr>
          <a:xfrm>
            <a:off x="1645920" y="2039112"/>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How the model was built, what it predicts, and why it matters for variant interpretation</a:t>
            </a:r>
            <a:endParaRPr lang="en-US" sz="1200" dirty="0"/>
          </a:p>
        </p:txBody>
      </p:sp>
      <p:sp>
        <p:nvSpPr>
          <p:cNvPr id="11" name="Shape 8"/>
          <p:cNvSpPr/>
          <p:nvPr/>
        </p:nvSpPr>
        <p:spPr>
          <a:xfrm>
            <a:off x="548640" y="2606040"/>
            <a:ext cx="8046720" cy="960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12" name="Shape 9"/>
          <p:cNvSpPr/>
          <p:nvPr/>
        </p:nvSpPr>
        <p:spPr>
          <a:xfrm>
            <a:off x="548640" y="2606040"/>
            <a:ext cx="64008" cy="960120"/>
          </a:xfrm>
          <a:prstGeom prst="rect">
            <a:avLst/>
          </a:prstGeom>
          <a:solidFill>
            <a:srgbClr val="1A252F"/>
          </a:solidFill>
          <a:ln/>
        </p:spPr>
        <p:txBody>
          <a:bodyPr/>
          <a:lstStyle/>
          <a:p>
            <a:endParaRPr lang="fr-CH"/>
          </a:p>
        </p:txBody>
      </p:sp>
      <p:sp>
        <p:nvSpPr>
          <p:cNvPr id="13" name="Shape 10"/>
          <p:cNvSpPr/>
          <p:nvPr/>
        </p:nvSpPr>
        <p:spPr>
          <a:xfrm>
            <a:off x="868680" y="2788920"/>
            <a:ext cx="548640" cy="548640"/>
          </a:xfrm>
          <a:prstGeom prst="ellipse">
            <a:avLst/>
          </a:prstGeom>
          <a:solidFill>
            <a:srgbClr val="1A252F"/>
          </a:solidFill>
          <a:ln/>
        </p:spPr>
        <p:txBody>
          <a:bodyPr/>
          <a:lstStyle/>
          <a:p>
            <a:endParaRPr lang="fr-CH"/>
          </a:p>
        </p:txBody>
      </p:sp>
      <p:pic>
        <p:nvPicPr>
          <p:cNvPr id="14" name="Image 1" descr="preencoded.png"/>
          <p:cNvPicPr>
            <a:picLocks noChangeAspect="1"/>
          </p:cNvPicPr>
          <p:nvPr/>
        </p:nvPicPr>
        <p:blipFill>
          <a:blip r:embed="rId4"/>
          <a:stretch>
            <a:fillRect/>
          </a:stretch>
        </p:blipFill>
        <p:spPr>
          <a:xfrm>
            <a:off x="978408" y="2898648"/>
            <a:ext cx="329184" cy="329184"/>
          </a:xfrm>
          <a:prstGeom prst="rect">
            <a:avLst/>
          </a:prstGeom>
        </p:spPr>
      </p:pic>
      <p:sp>
        <p:nvSpPr>
          <p:cNvPr id="15" name="Text 11"/>
          <p:cNvSpPr/>
          <p:nvPr/>
        </p:nvSpPr>
        <p:spPr>
          <a:xfrm>
            <a:off x="1645920" y="2697480"/>
            <a:ext cx="6400800" cy="274320"/>
          </a:xfrm>
          <a:prstGeom prst="rect">
            <a:avLst/>
          </a:prstGeom>
          <a:noFill/>
          <a:ln/>
        </p:spPr>
        <p:txBody>
          <a:bodyPr wrap="square" lIns="0" tIns="0" rIns="0" bIns="0"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PART 2  ·  30 MIN</a:t>
            </a:r>
            <a:endParaRPr lang="en-US" sz="1000" dirty="0"/>
          </a:p>
        </p:txBody>
      </p:sp>
      <p:sp>
        <p:nvSpPr>
          <p:cNvPr id="16" name="Text 12"/>
          <p:cNvSpPr/>
          <p:nvPr/>
        </p:nvSpPr>
        <p:spPr>
          <a:xfrm>
            <a:off x="1645920" y="2926080"/>
            <a:ext cx="3657600" cy="27432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Python Tutorial</a:t>
            </a:r>
            <a:endParaRPr lang="en-US" sz="1700" dirty="0"/>
          </a:p>
        </p:txBody>
      </p:sp>
      <p:sp>
        <p:nvSpPr>
          <p:cNvPr id="17" name="Text 13"/>
          <p:cNvSpPr/>
          <p:nvPr/>
        </p:nvSpPr>
        <p:spPr>
          <a:xfrm>
            <a:off x="1645920" y="3182112"/>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Walk through the getting-started script focusing on variant effect prediction with the SDK</a:t>
            </a:r>
            <a:endParaRPr lang="en-US" sz="1200" dirty="0"/>
          </a:p>
        </p:txBody>
      </p:sp>
      <p:sp>
        <p:nvSpPr>
          <p:cNvPr id="18" name="Shape 14"/>
          <p:cNvSpPr/>
          <p:nvPr/>
        </p:nvSpPr>
        <p:spPr>
          <a:xfrm>
            <a:off x="548640" y="3749040"/>
            <a:ext cx="8046720" cy="960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19" name="Shape 15"/>
          <p:cNvSpPr/>
          <p:nvPr/>
        </p:nvSpPr>
        <p:spPr>
          <a:xfrm>
            <a:off x="548640" y="3749040"/>
            <a:ext cx="64008" cy="960120"/>
          </a:xfrm>
          <a:prstGeom prst="rect">
            <a:avLst/>
          </a:prstGeom>
          <a:solidFill>
            <a:srgbClr val="334155"/>
          </a:solidFill>
          <a:ln/>
        </p:spPr>
        <p:txBody>
          <a:bodyPr/>
          <a:lstStyle/>
          <a:p>
            <a:endParaRPr lang="fr-CH"/>
          </a:p>
        </p:txBody>
      </p:sp>
      <p:sp>
        <p:nvSpPr>
          <p:cNvPr id="20" name="Shape 16"/>
          <p:cNvSpPr/>
          <p:nvPr/>
        </p:nvSpPr>
        <p:spPr>
          <a:xfrm>
            <a:off x="868680" y="3931920"/>
            <a:ext cx="548640" cy="548640"/>
          </a:xfrm>
          <a:prstGeom prst="ellipse">
            <a:avLst/>
          </a:prstGeom>
          <a:solidFill>
            <a:srgbClr val="334155"/>
          </a:solidFill>
          <a:ln/>
        </p:spPr>
        <p:txBody>
          <a:bodyPr/>
          <a:lstStyle/>
          <a:p>
            <a:endParaRPr lang="fr-CH"/>
          </a:p>
        </p:txBody>
      </p:sp>
      <p:pic>
        <p:nvPicPr>
          <p:cNvPr id="21" name="Image 2" descr="preencoded.png"/>
          <p:cNvPicPr>
            <a:picLocks noChangeAspect="1"/>
          </p:cNvPicPr>
          <p:nvPr/>
        </p:nvPicPr>
        <p:blipFill>
          <a:blip r:embed="rId5"/>
          <a:stretch>
            <a:fillRect/>
          </a:stretch>
        </p:blipFill>
        <p:spPr>
          <a:xfrm>
            <a:off x="978408" y="4041648"/>
            <a:ext cx="329184" cy="329184"/>
          </a:xfrm>
          <a:prstGeom prst="rect">
            <a:avLst/>
          </a:prstGeom>
        </p:spPr>
      </p:pic>
      <p:sp>
        <p:nvSpPr>
          <p:cNvPr id="22" name="Text 17"/>
          <p:cNvSpPr/>
          <p:nvPr/>
        </p:nvSpPr>
        <p:spPr>
          <a:xfrm>
            <a:off x="1645920" y="3840480"/>
            <a:ext cx="6400800" cy="274320"/>
          </a:xfrm>
          <a:prstGeom prst="rect">
            <a:avLst/>
          </a:prstGeom>
          <a:noFill/>
          <a:ln/>
        </p:spPr>
        <p:txBody>
          <a:bodyPr wrap="square" lIns="0" tIns="0" rIns="0" bIns="0"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PART 3  ·  30 MIN</a:t>
            </a:r>
            <a:endParaRPr lang="en-US" sz="1000" dirty="0"/>
          </a:p>
        </p:txBody>
      </p:sp>
      <p:sp>
        <p:nvSpPr>
          <p:cNvPr id="23" name="Text 18"/>
          <p:cNvSpPr/>
          <p:nvPr/>
        </p:nvSpPr>
        <p:spPr>
          <a:xfrm>
            <a:off x="1645920" y="4069080"/>
            <a:ext cx="3657600" cy="27432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App Demo &amp; Exploration</a:t>
            </a:r>
            <a:endParaRPr lang="en-US" sz="1700" dirty="0"/>
          </a:p>
        </p:txBody>
      </p:sp>
      <p:sp>
        <p:nvSpPr>
          <p:cNvPr id="24" name="Text 19"/>
          <p:cNvSpPr/>
          <p:nvPr/>
        </p:nvSpPr>
        <p:spPr>
          <a:xfrm>
            <a:off x="1645920" y="4325112"/>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Hands-on with the AlphaGenome Explorer app — run predictions across all four modules</a:t>
            </a:r>
            <a:endParaRPr lang="en-US" sz="1200" dirty="0"/>
          </a:p>
        </p:txBody>
      </p:sp>
      <p:sp>
        <p:nvSpPr>
          <p:cNvPr id="25" name="Text 20"/>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252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fr-CH"/>
          </a:p>
        </p:txBody>
      </p:sp>
      <p:sp>
        <p:nvSpPr>
          <p:cNvPr id="3" name="Text 1"/>
          <p:cNvSpPr/>
          <p:nvPr/>
        </p:nvSpPr>
        <p:spPr>
          <a:xfrm>
            <a:off x="731520" y="1097280"/>
            <a:ext cx="7680960" cy="411480"/>
          </a:xfrm>
          <a:prstGeom prst="rect">
            <a:avLst/>
          </a:prstGeom>
          <a:noFill/>
          <a:ln/>
        </p:spPr>
        <p:txBody>
          <a:bodyPr wrap="square" rtlCol="0" anchor="ctr"/>
          <a:lstStyle/>
          <a:p>
            <a:pPr marL="0" indent="0">
              <a:buNone/>
            </a:pPr>
            <a:r>
              <a:rPr lang="en-US" sz="1400" b="1" kern="0" spc="400" dirty="0">
                <a:solidFill>
                  <a:srgbClr val="14B8A6"/>
                </a:solidFill>
                <a:latin typeface="Calibri" pitchFamily="34" charset="0"/>
                <a:ea typeface="Calibri" pitchFamily="34" charset="-122"/>
                <a:cs typeface="Calibri" pitchFamily="34" charset="-120"/>
              </a:rPr>
              <a:t>PART 1  ·  THE MODEL</a:t>
            </a:r>
            <a:endParaRPr lang="en-US" sz="1400" dirty="0"/>
          </a:p>
        </p:txBody>
      </p:sp>
      <p:pic>
        <p:nvPicPr>
          <p:cNvPr id="4" name="Image 0" descr="preencoded.png"/>
          <p:cNvPicPr>
            <a:picLocks noChangeAspect="1"/>
          </p:cNvPicPr>
          <p:nvPr/>
        </p:nvPicPr>
        <p:blipFill>
          <a:blip r:embed="rId3"/>
          <a:stretch>
            <a:fillRect/>
          </a:stretch>
        </p:blipFill>
        <p:spPr>
          <a:xfrm>
            <a:off x="731520" y="1691640"/>
            <a:ext cx="502920" cy="502920"/>
          </a:xfrm>
          <a:prstGeom prst="rect">
            <a:avLst/>
          </a:prstGeom>
        </p:spPr>
      </p:pic>
      <p:sp>
        <p:nvSpPr>
          <p:cNvPr id="5" name="Text 2"/>
          <p:cNvSpPr/>
          <p:nvPr/>
        </p:nvSpPr>
        <p:spPr>
          <a:xfrm>
            <a:off x="1417320" y="1645920"/>
            <a:ext cx="6858000" cy="59436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The Paper</a:t>
            </a:r>
            <a:endParaRPr lang="en-US" sz="3400" dirty="0"/>
          </a:p>
        </p:txBody>
      </p:sp>
      <p:sp>
        <p:nvSpPr>
          <p:cNvPr id="6" name="Text 3"/>
          <p:cNvSpPr/>
          <p:nvPr/>
        </p:nvSpPr>
        <p:spPr>
          <a:xfrm>
            <a:off x="731520" y="2468880"/>
            <a:ext cx="7680960" cy="640080"/>
          </a:xfrm>
          <a:prstGeom prst="rect">
            <a:avLst/>
          </a:prstGeom>
          <a:noFill/>
          <a:ln/>
        </p:spPr>
        <p:txBody>
          <a:bodyPr wrap="square" rtlCol="0" anchor="ctr"/>
          <a:lstStyle/>
          <a:p>
            <a:pPr marL="0" indent="0">
              <a:buNone/>
            </a:pPr>
            <a:r>
              <a:rPr lang="en-US" sz="1600" dirty="0">
                <a:solidFill>
                  <a:srgbClr val="E2E8F0"/>
                </a:solidFill>
                <a:latin typeface="Calibri" pitchFamily="34" charset="0"/>
                <a:ea typeface="Calibri" pitchFamily="34" charset="-122"/>
                <a:cs typeface="Calibri" pitchFamily="34" charset="-120"/>
              </a:rPr>
              <a:t>Understanding how AlphaGenome was built and what it predicts</a:t>
            </a:r>
            <a:endParaRPr lang="en-US" sz="1600" dirty="0"/>
          </a:p>
        </p:txBody>
      </p:sp>
      <p:sp>
        <p:nvSpPr>
          <p:cNvPr id="7" name="Shape 4"/>
          <p:cNvSpPr/>
          <p:nvPr/>
        </p:nvSpPr>
        <p:spPr>
          <a:xfrm>
            <a:off x="0" y="4960620"/>
            <a:ext cx="9144000" cy="182880"/>
          </a:xfrm>
          <a:prstGeom prst="rect">
            <a:avLst/>
          </a:prstGeom>
          <a:solidFill>
            <a:srgbClr val="0D9488"/>
          </a:solidFill>
          <a:ln/>
        </p:spPr>
        <p:txBody>
          <a:bodyPr/>
          <a:lstStyle/>
          <a:p>
            <a:endParaRPr lang="fr-CH"/>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The Challenge</a:t>
            </a:r>
            <a:endParaRPr lang="en-US" sz="3000" dirty="0"/>
          </a:p>
        </p:txBody>
      </p:sp>
      <p:sp>
        <p:nvSpPr>
          <p:cNvPr id="3" name="Shape 1"/>
          <p:cNvSpPr/>
          <p:nvPr/>
        </p:nvSpPr>
        <p:spPr>
          <a:xfrm>
            <a:off x="548640" y="1097280"/>
            <a:ext cx="2926080" cy="2560320"/>
          </a:xfrm>
          <a:prstGeom prst="rect">
            <a:avLst/>
          </a:prstGeom>
          <a:solidFill>
            <a:srgbClr val="1A252F"/>
          </a:solidFill>
          <a:ln/>
          <a:effectLst>
            <a:outerShdw blurRad="50800" dist="25400" dir="8100000" algn="bl" rotWithShape="0">
              <a:srgbClr val="000000">
                <a:alpha val="10000"/>
              </a:srgbClr>
            </a:outerShdw>
          </a:effectLst>
        </p:spPr>
        <p:txBody>
          <a:bodyPr/>
          <a:lstStyle/>
          <a:p>
            <a:endParaRPr lang="fr-CH"/>
          </a:p>
        </p:txBody>
      </p:sp>
      <p:sp>
        <p:nvSpPr>
          <p:cNvPr id="4" name="Text 2"/>
          <p:cNvSpPr/>
          <p:nvPr/>
        </p:nvSpPr>
        <p:spPr>
          <a:xfrm>
            <a:off x="548640" y="1371600"/>
            <a:ext cx="2926080" cy="822960"/>
          </a:xfrm>
          <a:prstGeom prst="rect">
            <a:avLst/>
          </a:prstGeom>
          <a:noFill/>
          <a:ln/>
        </p:spPr>
        <p:txBody>
          <a:bodyPr wrap="square" rtlCol="0" anchor="ctr"/>
          <a:lstStyle/>
          <a:p>
            <a:pPr marL="0" indent="0" algn="ctr">
              <a:buNone/>
            </a:pPr>
            <a:r>
              <a:rPr lang="en-US" sz="5200" b="1" dirty="0">
                <a:solidFill>
                  <a:srgbClr val="5EEAD4"/>
                </a:solidFill>
                <a:latin typeface="Trebuchet MS" pitchFamily="34" charset="0"/>
                <a:ea typeface="Trebuchet MS" pitchFamily="34" charset="-122"/>
                <a:cs typeface="Trebuchet MS" pitchFamily="34" charset="-120"/>
              </a:rPr>
              <a:t>&gt;98%</a:t>
            </a:r>
            <a:endParaRPr lang="en-US" sz="5200" dirty="0"/>
          </a:p>
        </p:txBody>
      </p:sp>
      <p:sp>
        <p:nvSpPr>
          <p:cNvPr id="5" name="Text 3"/>
          <p:cNvSpPr/>
          <p:nvPr/>
        </p:nvSpPr>
        <p:spPr>
          <a:xfrm>
            <a:off x="731520" y="2194560"/>
            <a:ext cx="2560320" cy="914400"/>
          </a:xfrm>
          <a:prstGeom prst="rect">
            <a:avLst/>
          </a:prstGeom>
          <a:noFill/>
          <a:ln/>
        </p:spPr>
        <p:txBody>
          <a:bodyPr wrap="square" rtlCol="0" anchor="ctr"/>
          <a:lstStyle/>
          <a:p>
            <a:pPr marL="0" indent="0" algn="ctr">
              <a:buNone/>
            </a:pPr>
            <a:r>
              <a:rPr lang="en-US" sz="1500" dirty="0">
                <a:solidFill>
                  <a:srgbClr val="E2E8F0"/>
                </a:solidFill>
                <a:latin typeface="Calibri" pitchFamily="34" charset="0"/>
                <a:ea typeface="Calibri" pitchFamily="34" charset="-122"/>
                <a:cs typeface="Calibri" pitchFamily="34" charset="-120"/>
              </a:rPr>
              <a:t>of human genetic</a:t>
            </a:r>
            <a:endParaRPr lang="en-US" sz="1500" dirty="0"/>
          </a:p>
          <a:p>
            <a:pPr marL="0" indent="0" algn="ctr">
              <a:buNone/>
            </a:pPr>
            <a:r>
              <a:rPr lang="en-US" sz="1500" dirty="0">
                <a:solidFill>
                  <a:srgbClr val="E2E8F0"/>
                </a:solidFill>
                <a:latin typeface="Calibri" pitchFamily="34" charset="0"/>
                <a:ea typeface="Calibri" pitchFamily="34" charset="-122"/>
                <a:cs typeface="Calibri" pitchFamily="34" charset="-120"/>
              </a:rPr>
              <a:t>variants are</a:t>
            </a:r>
            <a:endParaRPr lang="en-US" sz="1500" dirty="0"/>
          </a:p>
          <a:p>
            <a:pPr marL="0" indent="0" algn="ctr">
              <a:buNone/>
            </a:pPr>
            <a:r>
              <a:rPr lang="en-US" sz="1500" dirty="0">
                <a:solidFill>
                  <a:srgbClr val="E2E8F0"/>
                </a:solidFill>
                <a:latin typeface="Calibri" pitchFamily="34" charset="0"/>
                <a:ea typeface="Calibri" pitchFamily="34" charset="-122"/>
                <a:cs typeface="Calibri" pitchFamily="34" charset="-120"/>
              </a:rPr>
              <a:t>non-coding</a:t>
            </a:r>
            <a:endParaRPr lang="en-US" sz="1500" dirty="0"/>
          </a:p>
        </p:txBody>
      </p:sp>
      <p:sp>
        <p:nvSpPr>
          <p:cNvPr id="6" name="Text 4"/>
          <p:cNvSpPr/>
          <p:nvPr/>
        </p:nvSpPr>
        <p:spPr>
          <a:xfrm>
            <a:off x="548640" y="3200400"/>
            <a:ext cx="2926080" cy="274320"/>
          </a:xfrm>
          <a:prstGeom prst="rect">
            <a:avLst/>
          </a:prstGeom>
          <a:noFill/>
          <a:ln/>
        </p:spPr>
        <p:txBody>
          <a:bodyPr wrap="square"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Halldorsson et al., Nature 2022</a:t>
            </a:r>
            <a:endParaRPr lang="en-US" sz="900" dirty="0"/>
          </a:p>
        </p:txBody>
      </p:sp>
      <p:sp>
        <p:nvSpPr>
          <p:cNvPr id="7" name="Shape 5"/>
          <p:cNvSpPr/>
          <p:nvPr/>
        </p:nvSpPr>
        <p:spPr>
          <a:xfrm>
            <a:off x="3840480" y="1143000"/>
            <a:ext cx="4937760" cy="713232"/>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8" name="Shape 6"/>
          <p:cNvSpPr/>
          <p:nvPr/>
        </p:nvSpPr>
        <p:spPr>
          <a:xfrm>
            <a:off x="3840480" y="1143000"/>
            <a:ext cx="54864" cy="713232"/>
          </a:xfrm>
          <a:prstGeom prst="rect">
            <a:avLst/>
          </a:prstGeom>
          <a:solidFill>
            <a:srgbClr val="0D9488"/>
          </a:solidFill>
          <a:ln/>
        </p:spPr>
        <p:txBody>
          <a:bodyPr/>
          <a:lstStyle/>
          <a:p>
            <a:endParaRPr lang="fr-CH"/>
          </a:p>
        </p:txBody>
      </p:sp>
      <p:sp>
        <p:nvSpPr>
          <p:cNvPr id="9" name="Text 7"/>
          <p:cNvSpPr/>
          <p:nvPr/>
        </p:nvSpPr>
        <p:spPr>
          <a:xfrm>
            <a:off x="4114800" y="1216152"/>
            <a:ext cx="448056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Non-coding = hard to interpret</a:t>
            </a:r>
            <a:endParaRPr lang="en-US" sz="1300" dirty="0"/>
          </a:p>
        </p:txBody>
      </p:sp>
      <p:sp>
        <p:nvSpPr>
          <p:cNvPr id="10" name="Text 8"/>
          <p:cNvSpPr/>
          <p:nvPr/>
        </p:nvSpPr>
        <p:spPr>
          <a:xfrm>
            <a:off x="4114800" y="1472184"/>
            <a:ext cx="448056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Variants can affect chromatin, expression, splicing, TF binding, 3D structure — all in tissue-specific ways</a:t>
            </a:r>
            <a:endParaRPr lang="en-US" sz="1100" dirty="0"/>
          </a:p>
        </p:txBody>
      </p:sp>
      <p:sp>
        <p:nvSpPr>
          <p:cNvPr id="11" name="Shape 9"/>
          <p:cNvSpPr/>
          <p:nvPr/>
        </p:nvSpPr>
        <p:spPr>
          <a:xfrm>
            <a:off x="3840480" y="2011680"/>
            <a:ext cx="4937760" cy="713232"/>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2" name="Shape 10"/>
          <p:cNvSpPr/>
          <p:nvPr/>
        </p:nvSpPr>
        <p:spPr>
          <a:xfrm>
            <a:off x="3840480" y="2011680"/>
            <a:ext cx="54864" cy="713232"/>
          </a:xfrm>
          <a:prstGeom prst="rect">
            <a:avLst/>
          </a:prstGeom>
          <a:solidFill>
            <a:srgbClr val="0D9488"/>
          </a:solidFill>
          <a:ln/>
        </p:spPr>
        <p:txBody>
          <a:bodyPr/>
          <a:lstStyle/>
          <a:p>
            <a:endParaRPr lang="fr-CH"/>
          </a:p>
        </p:txBody>
      </p:sp>
      <p:sp>
        <p:nvSpPr>
          <p:cNvPr id="13" name="Text 11"/>
          <p:cNvSpPr/>
          <p:nvPr/>
        </p:nvSpPr>
        <p:spPr>
          <a:xfrm>
            <a:off x="4114800" y="2084832"/>
            <a:ext cx="448056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Experimental validation is slow</a:t>
            </a:r>
            <a:endParaRPr lang="en-US" sz="1300" dirty="0"/>
          </a:p>
        </p:txBody>
      </p:sp>
      <p:sp>
        <p:nvSpPr>
          <p:cNvPr id="14" name="Text 12"/>
          <p:cNvSpPr/>
          <p:nvPr/>
        </p:nvSpPr>
        <p:spPr>
          <a:xfrm>
            <a:off x="4114800" y="2340864"/>
            <a:ext cx="448056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Can't functionally test every variant in every tissue; computational prediction is essential</a:t>
            </a:r>
            <a:endParaRPr lang="en-US" sz="1100" dirty="0"/>
          </a:p>
        </p:txBody>
      </p:sp>
      <p:sp>
        <p:nvSpPr>
          <p:cNvPr id="15" name="Shape 13"/>
          <p:cNvSpPr/>
          <p:nvPr/>
        </p:nvSpPr>
        <p:spPr>
          <a:xfrm>
            <a:off x="3840480" y="2880360"/>
            <a:ext cx="4937760" cy="713232"/>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6" name="Shape 14"/>
          <p:cNvSpPr/>
          <p:nvPr/>
        </p:nvSpPr>
        <p:spPr>
          <a:xfrm>
            <a:off x="3840480" y="2880360"/>
            <a:ext cx="54864" cy="713232"/>
          </a:xfrm>
          <a:prstGeom prst="rect">
            <a:avLst/>
          </a:prstGeom>
          <a:solidFill>
            <a:srgbClr val="0D9488"/>
          </a:solidFill>
          <a:ln/>
        </p:spPr>
        <p:txBody>
          <a:bodyPr/>
          <a:lstStyle/>
          <a:p>
            <a:endParaRPr lang="fr-CH"/>
          </a:p>
        </p:txBody>
      </p:sp>
      <p:sp>
        <p:nvSpPr>
          <p:cNvPr id="17" name="Text 15"/>
          <p:cNvSpPr/>
          <p:nvPr/>
        </p:nvSpPr>
        <p:spPr>
          <a:xfrm>
            <a:off x="4114800" y="2953512"/>
            <a:ext cx="448056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Existing models face trade-offs</a:t>
            </a:r>
            <a:endParaRPr lang="en-US" sz="1300" dirty="0"/>
          </a:p>
        </p:txBody>
      </p:sp>
      <p:sp>
        <p:nvSpPr>
          <p:cNvPr id="18" name="Text 16"/>
          <p:cNvSpPr/>
          <p:nvPr/>
        </p:nvSpPr>
        <p:spPr>
          <a:xfrm>
            <a:off x="4114800" y="3209544"/>
            <a:ext cx="448056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Long context OR high resolution OR multi-modality — pick two. No model unified all three before AlphaGenome</a:t>
            </a:r>
            <a:endParaRPr lang="en-US" sz="1100" dirty="0"/>
          </a:p>
        </p:txBody>
      </p:sp>
      <p:sp>
        <p:nvSpPr>
          <p:cNvPr id="19" name="Text 17"/>
          <p:cNvSpPr/>
          <p:nvPr/>
        </p:nvSpPr>
        <p:spPr>
          <a:xfrm>
            <a:off x="548640" y="4114800"/>
            <a:ext cx="8046720" cy="274320"/>
          </a:xfrm>
          <a:prstGeom prst="rect">
            <a:avLst/>
          </a:prstGeom>
          <a:noFill/>
          <a:ln/>
        </p:spPr>
        <p:txBody>
          <a:bodyPr wrap="square"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Avsec, Latysheva, Cheng et al. Nature (2026)</a:t>
            </a:r>
            <a:endParaRPr lang="en-US" sz="1000" dirty="0"/>
          </a:p>
        </p:txBody>
      </p:sp>
      <p:sp>
        <p:nvSpPr>
          <p:cNvPr id="20" name="Text 18"/>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2600" b="1" dirty="0">
                <a:solidFill>
                  <a:srgbClr val="0F172A"/>
                </a:solidFill>
                <a:latin typeface="Trebuchet MS" pitchFamily="34" charset="0"/>
                <a:ea typeface="Trebuchet MS" pitchFamily="34" charset="-122"/>
                <a:cs typeface="Trebuchet MS" pitchFamily="34" charset="-120"/>
              </a:rPr>
              <a:t>The Trade-off Landscape Before AlphaGenome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2560320"/>
        </p:xfrm>
        <a:graphic>
          <a:graphicData uri="http://schemas.openxmlformats.org/drawingml/2006/table">
            <a:tbl>
              <a:tblPr/>
              <a:tblGrid>
                <a:gridCol w="1463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2743200">
                  <a:extLst>
                    <a:ext uri="{9D8B030D-6E8A-4147-A177-3AD203B41FA5}">
                      <a16:colId xmlns:a16="http://schemas.microsoft.com/office/drawing/2014/main" val="20004"/>
                    </a:ext>
                  </a:extLst>
                </a:gridCol>
              </a:tblGrid>
              <a:tr h="41148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52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Input Length</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52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Resolution</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52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Modalities</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52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Limitation</a:t>
                      </a:r>
                      <a:endParaRPr lang="en-US" sz="12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52F"/>
                    </a:solidFill>
                  </a:tcPr>
                </a:tc>
                <a:extLst>
                  <a:ext uri="{0D108BD9-81ED-4DB2-BD59-A6C34878D82A}">
                    <a16:rowId xmlns:a16="http://schemas.microsoft.com/office/drawing/2014/main" val="10000"/>
                  </a:ext>
                </a:extLst>
              </a:tr>
              <a:tr h="411480">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SpliceAI</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EF4444"/>
                          </a:solidFill>
                          <a:latin typeface="Calibri" pitchFamily="34" charset="0"/>
                          <a:ea typeface="Calibri" pitchFamily="34" charset="-122"/>
                          <a:cs typeface="Calibri" pitchFamily="34" charset="-120"/>
                        </a:rPr>
                        <a:t>10 kb</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1 bp</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EF4444"/>
                          </a:solidFill>
                          <a:latin typeface="Calibri" pitchFamily="34" charset="0"/>
                          <a:ea typeface="Calibri" pitchFamily="34" charset="-122"/>
                          <a:cs typeface="Calibri" pitchFamily="34" charset="-120"/>
                        </a:rPr>
                        <a:t>Splicing only</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Short context, single modality</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Enformer</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200 kb</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EF4444"/>
                          </a:solidFill>
                          <a:latin typeface="Calibri" pitchFamily="34" charset="0"/>
                          <a:ea typeface="Calibri" pitchFamily="34" charset="-122"/>
                          <a:cs typeface="Calibri" pitchFamily="34" charset="-120"/>
                        </a:rPr>
                        <a:t>128 bp bins</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Multi-modal</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Coarse resolution</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Borzoi</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500 kb</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32 bp bins</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Multi-modal</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Still binned, no splicing junctions</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ChromBPNet</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EF4444"/>
                          </a:solidFill>
                          <a:latin typeface="Calibri" pitchFamily="34" charset="0"/>
                          <a:ea typeface="Calibri" pitchFamily="34" charset="-122"/>
                          <a:cs typeface="Calibri" pitchFamily="34" charset="-120"/>
                        </a:rPr>
                        <a:t>~2 kb</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1 bp</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EF4444"/>
                          </a:solidFill>
                          <a:latin typeface="Calibri" pitchFamily="34" charset="0"/>
                          <a:ea typeface="Calibri" pitchFamily="34" charset="-122"/>
                          <a:cs typeface="Calibri" pitchFamily="34" charset="-120"/>
                        </a:rPr>
                        <a:t>Chromatin only</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100" dirty="0">
                          <a:solidFill>
                            <a:srgbClr val="0F172A"/>
                          </a:solidFill>
                          <a:latin typeface="Calibri" pitchFamily="34" charset="0"/>
                          <a:ea typeface="Calibri" pitchFamily="34" charset="-122"/>
                          <a:cs typeface="Calibri" pitchFamily="34" charset="-120"/>
                        </a:rPr>
                        <a:t>Very short, single modality</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lgn="ctr">
                        <a:buNone/>
                      </a:pPr>
                      <a:r>
                        <a:rPr lang="en-US" sz="1100" b="1" dirty="0">
                          <a:solidFill>
                            <a:srgbClr val="0F172A"/>
                          </a:solidFill>
                          <a:latin typeface="Calibri" pitchFamily="34" charset="0"/>
                          <a:ea typeface="Calibri" pitchFamily="34" charset="-122"/>
                          <a:cs typeface="Calibri" pitchFamily="34" charset="-120"/>
                        </a:rPr>
                        <a:t>AlphaGenome</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1 Mb</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1 bp</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11 output types</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100" b="1" dirty="0">
                          <a:solidFill>
                            <a:srgbClr val="047857"/>
                          </a:solidFill>
                          <a:latin typeface="Calibri" pitchFamily="34" charset="0"/>
                          <a:ea typeface="Calibri" pitchFamily="34" charset="-122"/>
                          <a:cs typeface="Calibri" pitchFamily="34" charset="-120"/>
                        </a:rPr>
                        <a:t>Unified — all three</a:t>
                      </a:r>
                      <a:endParaRPr lang="en-US" sz="11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extLst>
                  <a:ext uri="{0D108BD9-81ED-4DB2-BD59-A6C34878D82A}">
                    <a16:rowId xmlns:a16="http://schemas.microsoft.com/office/drawing/2014/main" val="10005"/>
                  </a:ext>
                </a:extLst>
              </a:tr>
            </a:tbl>
          </a:graphicData>
        </a:graphic>
      </p:graphicFrame>
      <p:sp>
        <p:nvSpPr>
          <p:cNvPr id="4" name="Text 1"/>
          <p:cNvSpPr/>
          <p:nvPr/>
        </p:nvSpPr>
        <p:spPr>
          <a:xfrm>
            <a:off x="548640" y="4114800"/>
            <a:ext cx="8046720" cy="457200"/>
          </a:xfrm>
          <a:prstGeom prst="rect">
            <a:avLst/>
          </a:prstGeom>
          <a:noFill/>
          <a:ln/>
        </p:spPr>
        <p:txBody>
          <a:bodyPr wrap="square"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AlphaGenome is the first model to unify long-range context (1 Mb), base-pair resolution, and broad modality coverage in a single framework.</a:t>
            </a:r>
            <a:endParaRPr lang="en-US" sz="1200" dirty="0"/>
          </a:p>
        </p:txBody>
      </p:sp>
      <p:sp>
        <p:nvSpPr>
          <p:cNvPr id="5" name="Text 2"/>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Model Architecture</a:t>
            </a:r>
            <a:endParaRPr lang="en-US" sz="3000" dirty="0"/>
          </a:p>
        </p:txBody>
      </p:sp>
      <p:sp>
        <p:nvSpPr>
          <p:cNvPr id="3" name="Shape 1"/>
          <p:cNvSpPr/>
          <p:nvPr/>
        </p:nvSpPr>
        <p:spPr>
          <a:xfrm>
            <a:off x="457200" y="1143000"/>
            <a:ext cx="1645920" cy="914400"/>
          </a:xfrm>
          <a:prstGeom prst="rect">
            <a:avLst/>
          </a:prstGeom>
          <a:solidFill>
            <a:srgbClr val="1A252F"/>
          </a:solidFill>
          <a:ln/>
          <a:effectLst>
            <a:outerShdw blurRad="50800" dist="25400" dir="8100000" algn="bl" rotWithShape="0">
              <a:srgbClr val="000000">
                <a:alpha val="10000"/>
              </a:srgbClr>
            </a:outerShdw>
          </a:effectLst>
        </p:spPr>
        <p:txBody>
          <a:bodyPr/>
          <a:lstStyle/>
          <a:p>
            <a:endParaRPr lang="fr-CH"/>
          </a:p>
        </p:txBody>
      </p:sp>
      <p:sp>
        <p:nvSpPr>
          <p:cNvPr id="4" name="Text 2"/>
          <p:cNvSpPr/>
          <p:nvPr/>
        </p:nvSpPr>
        <p:spPr>
          <a:xfrm>
            <a:off x="457200" y="1188720"/>
            <a:ext cx="1645920" cy="228600"/>
          </a:xfrm>
          <a:prstGeom prst="rect">
            <a:avLst/>
          </a:prstGeom>
          <a:noFill/>
          <a:ln/>
        </p:spPr>
        <p:txBody>
          <a:bodyPr wrap="square" rtlCol="0" anchor="ctr"/>
          <a:lstStyle/>
          <a:p>
            <a:pPr marL="0" indent="0" algn="ctr">
              <a:buNone/>
            </a:pPr>
            <a:r>
              <a:rPr lang="en-US" sz="900" b="1" kern="0" spc="200" dirty="0">
                <a:solidFill>
                  <a:srgbClr val="14B8A6"/>
                </a:solidFill>
                <a:latin typeface="Calibri" pitchFamily="34" charset="0"/>
                <a:ea typeface="Calibri" pitchFamily="34" charset="-122"/>
                <a:cs typeface="Calibri" pitchFamily="34" charset="-120"/>
              </a:rPr>
              <a:t>INPUT</a:t>
            </a:r>
            <a:endParaRPr lang="en-US" sz="900" dirty="0"/>
          </a:p>
        </p:txBody>
      </p:sp>
      <p:sp>
        <p:nvSpPr>
          <p:cNvPr id="5" name="Text 3"/>
          <p:cNvSpPr/>
          <p:nvPr/>
        </p:nvSpPr>
        <p:spPr>
          <a:xfrm>
            <a:off x="457200" y="1417320"/>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 Mb DNA</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sequence</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 species ID</a:t>
            </a:r>
            <a:endParaRPr lang="en-US" sz="1200" dirty="0"/>
          </a:p>
        </p:txBody>
      </p:sp>
      <p:sp>
        <p:nvSpPr>
          <p:cNvPr id="6" name="Text 4"/>
          <p:cNvSpPr/>
          <p:nvPr/>
        </p:nvSpPr>
        <p:spPr>
          <a:xfrm>
            <a:off x="2148840" y="1325880"/>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7" name="Shape 5"/>
          <p:cNvSpPr/>
          <p:nvPr/>
        </p:nvSpPr>
        <p:spPr>
          <a:xfrm>
            <a:off x="2560320" y="1143000"/>
            <a:ext cx="1645920" cy="914400"/>
          </a:xfrm>
          <a:prstGeom prst="rect">
            <a:avLst/>
          </a:prstGeom>
          <a:solidFill>
            <a:srgbClr val="0D9488"/>
          </a:solidFill>
          <a:ln/>
          <a:effectLst>
            <a:outerShdw blurRad="50800" dist="25400" dir="8100000" algn="bl" rotWithShape="0">
              <a:srgbClr val="000000">
                <a:alpha val="10000"/>
              </a:srgbClr>
            </a:outerShdw>
          </a:effectLst>
        </p:spPr>
        <p:txBody>
          <a:bodyPr/>
          <a:lstStyle/>
          <a:p>
            <a:endParaRPr lang="fr-CH"/>
          </a:p>
        </p:txBody>
      </p:sp>
      <p:sp>
        <p:nvSpPr>
          <p:cNvPr id="8" name="Text 6"/>
          <p:cNvSpPr/>
          <p:nvPr/>
        </p:nvSpPr>
        <p:spPr>
          <a:xfrm>
            <a:off x="2560320" y="1188720"/>
            <a:ext cx="1645920" cy="228600"/>
          </a:xfrm>
          <a:prstGeom prst="rect">
            <a:avLst/>
          </a:prstGeom>
          <a:noFill/>
          <a:ln/>
        </p:spPr>
        <p:txBody>
          <a:bodyPr wrap="square" rtlCol="0" anchor="ctr"/>
          <a:lstStyle/>
          <a:p>
            <a:pPr marL="0" indent="0" algn="ctr">
              <a:buNone/>
            </a:pPr>
            <a:r>
              <a:rPr lang="en-US" sz="900" b="1" kern="0" spc="200" dirty="0">
                <a:solidFill>
                  <a:srgbClr val="FFFFFF"/>
                </a:solidFill>
                <a:latin typeface="Calibri" pitchFamily="34" charset="0"/>
                <a:ea typeface="Calibri" pitchFamily="34" charset="-122"/>
                <a:cs typeface="Calibri" pitchFamily="34" charset="-120"/>
              </a:rPr>
              <a:t>ENCODER</a:t>
            </a:r>
            <a:endParaRPr lang="en-US" sz="900" dirty="0"/>
          </a:p>
        </p:txBody>
      </p:sp>
      <p:sp>
        <p:nvSpPr>
          <p:cNvPr id="9" name="Text 7"/>
          <p:cNvSpPr/>
          <p:nvPr/>
        </p:nvSpPr>
        <p:spPr>
          <a:xfrm>
            <a:off x="2560320" y="1417320"/>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U-Net</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downsampling</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131 kb chunks</a:t>
            </a:r>
            <a:endParaRPr lang="en-US" sz="1200" dirty="0"/>
          </a:p>
        </p:txBody>
      </p:sp>
      <p:sp>
        <p:nvSpPr>
          <p:cNvPr id="10" name="Text 8"/>
          <p:cNvSpPr/>
          <p:nvPr/>
        </p:nvSpPr>
        <p:spPr>
          <a:xfrm rot="5400000">
            <a:off x="3200400" y="1968878"/>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11" name="Shape 9"/>
          <p:cNvSpPr/>
          <p:nvPr/>
        </p:nvSpPr>
        <p:spPr>
          <a:xfrm>
            <a:off x="2560320" y="2418296"/>
            <a:ext cx="1645920" cy="914400"/>
          </a:xfrm>
          <a:prstGeom prst="rect">
            <a:avLst/>
          </a:prstGeom>
          <a:solidFill>
            <a:srgbClr val="334155"/>
          </a:solidFill>
          <a:ln/>
          <a:effectLst>
            <a:outerShdw blurRad="50800" dist="25400" dir="8100000" algn="bl" rotWithShape="0">
              <a:srgbClr val="000000">
                <a:alpha val="10000"/>
              </a:srgbClr>
            </a:outerShdw>
          </a:effectLst>
        </p:spPr>
        <p:txBody>
          <a:bodyPr/>
          <a:lstStyle/>
          <a:p>
            <a:endParaRPr lang="fr-CH"/>
          </a:p>
        </p:txBody>
      </p:sp>
      <p:sp>
        <p:nvSpPr>
          <p:cNvPr id="12" name="Text 10"/>
          <p:cNvSpPr/>
          <p:nvPr/>
        </p:nvSpPr>
        <p:spPr>
          <a:xfrm>
            <a:off x="2560320" y="2464016"/>
            <a:ext cx="1645920" cy="228600"/>
          </a:xfrm>
          <a:prstGeom prst="rect">
            <a:avLst/>
          </a:prstGeom>
          <a:noFill/>
          <a:ln/>
        </p:spPr>
        <p:txBody>
          <a:bodyPr wrap="square" rtlCol="0" anchor="ctr"/>
          <a:lstStyle/>
          <a:p>
            <a:pPr marL="0" indent="0" algn="ctr">
              <a:buNone/>
            </a:pPr>
            <a:r>
              <a:rPr lang="en-US" sz="900" b="1" kern="0" spc="200" dirty="0">
                <a:solidFill>
                  <a:srgbClr val="5EEAD4"/>
                </a:solidFill>
                <a:latin typeface="Calibri" pitchFamily="34" charset="0"/>
                <a:ea typeface="Calibri" pitchFamily="34" charset="-122"/>
                <a:cs typeface="Calibri" pitchFamily="34" charset="-120"/>
              </a:rPr>
              <a:t>TRANSFORMER</a:t>
            </a:r>
            <a:endParaRPr lang="en-US" sz="900" dirty="0"/>
          </a:p>
        </p:txBody>
      </p:sp>
      <p:sp>
        <p:nvSpPr>
          <p:cNvPr id="13" name="Text 11"/>
          <p:cNvSpPr/>
          <p:nvPr/>
        </p:nvSpPr>
        <p:spPr>
          <a:xfrm>
            <a:off x="2560320" y="2692616"/>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Cross-device</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attention</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(long-range)</a:t>
            </a:r>
            <a:endParaRPr lang="en-US" sz="1200" dirty="0"/>
          </a:p>
        </p:txBody>
      </p:sp>
      <p:sp>
        <p:nvSpPr>
          <p:cNvPr id="14" name="Text 12"/>
          <p:cNvSpPr/>
          <p:nvPr/>
        </p:nvSpPr>
        <p:spPr>
          <a:xfrm flipV="1">
            <a:off x="2148840" y="2557888"/>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15" name="Shape 13"/>
          <p:cNvSpPr/>
          <p:nvPr/>
        </p:nvSpPr>
        <p:spPr>
          <a:xfrm>
            <a:off x="228600" y="2418296"/>
            <a:ext cx="1920240" cy="914400"/>
          </a:xfrm>
          <a:prstGeom prst="rect">
            <a:avLst/>
          </a:prstGeom>
          <a:solidFill>
            <a:srgbClr val="0D9488"/>
          </a:solidFill>
          <a:ln/>
          <a:effectLst>
            <a:outerShdw blurRad="50800" dist="25400" dir="8100000" algn="bl" rotWithShape="0">
              <a:srgbClr val="000000">
                <a:alpha val="10000"/>
              </a:srgbClr>
            </a:outerShdw>
          </a:effectLst>
        </p:spPr>
        <p:txBody>
          <a:bodyPr/>
          <a:lstStyle/>
          <a:p>
            <a:endParaRPr lang="fr-CH"/>
          </a:p>
        </p:txBody>
      </p:sp>
      <p:sp>
        <p:nvSpPr>
          <p:cNvPr id="16" name="Text 14"/>
          <p:cNvSpPr/>
          <p:nvPr/>
        </p:nvSpPr>
        <p:spPr>
          <a:xfrm>
            <a:off x="228600" y="2464016"/>
            <a:ext cx="1920240" cy="228600"/>
          </a:xfrm>
          <a:prstGeom prst="rect">
            <a:avLst/>
          </a:prstGeom>
          <a:noFill/>
          <a:ln/>
        </p:spPr>
        <p:txBody>
          <a:bodyPr wrap="square" rtlCol="0" anchor="ctr"/>
          <a:lstStyle/>
          <a:p>
            <a:pPr marL="0" indent="0" algn="ctr">
              <a:buNone/>
            </a:pPr>
            <a:r>
              <a:rPr lang="en-US" sz="900" b="1" kern="0" spc="200" dirty="0">
                <a:solidFill>
                  <a:srgbClr val="FFFFFF"/>
                </a:solidFill>
                <a:latin typeface="Calibri" pitchFamily="34" charset="0"/>
                <a:ea typeface="Calibri" pitchFamily="34" charset="-122"/>
                <a:cs typeface="Calibri" pitchFamily="34" charset="-120"/>
              </a:rPr>
              <a:t>DECODER + HEADS</a:t>
            </a:r>
            <a:endParaRPr lang="en-US" sz="900" dirty="0"/>
          </a:p>
        </p:txBody>
      </p:sp>
      <p:sp>
        <p:nvSpPr>
          <p:cNvPr id="17" name="Text 15"/>
          <p:cNvSpPr/>
          <p:nvPr/>
        </p:nvSpPr>
        <p:spPr>
          <a:xfrm>
            <a:off x="228600" y="2692616"/>
            <a:ext cx="192024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U-Net upsampling</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 task-specific</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output heads</a:t>
            </a:r>
            <a:endParaRPr lang="en-US" sz="1200" dirty="0"/>
          </a:p>
        </p:txBody>
      </p:sp>
      <p:sp>
        <p:nvSpPr>
          <p:cNvPr id="18" name="Text 16"/>
          <p:cNvSpPr/>
          <p:nvPr/>
        </p:nvSpPr>
        <p:spPr>
          <a:xfrm>
            <a:off x="457200" y="4434840"/>
            <a:ext cx="8046720" cy="32004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Predicted Output Types (5,930 human tracks / 1,128 mouse tracks)</a:t>
            </a:r>
            <a:endParaRPr lang="en-US" sz="1300" dirty="0"/>
          </a:p>
        </p:txBody>
      </p:sp>
      <p:sp>
        <p:nvSpPr>
          <p:cNvPr id="20" name="Text 17"/>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pic>
        <p:nvPicPr>
          <p:cNvPr id="24" name="Picture 23">
            <a:extLst>
              <a:ext uri="{FF2B5EF4-FFF2-40B4-BE49-F238E27FC236}">
                <a16:creationId xmlns:a16="http://schemas.microsoft.com/office/drawing/2014/main" id="{4C282415-12EA-2306-942B-F4538EC05723}"/>
              </a:ext>
            </a:extLst>
          </p:cNvPr>
          <p:cNvPicPr>
            <a:picLocks noChangeAspect="1"/>
          </p:cNvPicPr>
          <p:nvPr/>
        </p:nvPicPr>
        <p:blipFill>
          <a:blip r:embed="rId3"/>
          <a:stretch>
            <a:fillRect/>
          </a:stretch>
        </p:blipFill>
        <p:spPr>
          <a:xfrm>
            <a:off x="6289161" y="122403"/>
            <a:ext cx="1972863" cy="502109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28600"/>
            <a:ext cx="8046720" cy="502920"/>
          </a:xfrm>
          <a:prstGeom prst="rect">
            <a:avLst/>
          </a:prstGeom>
          <a:noFill/>
          <a:ln/>
        </p:spPr>
        <p:txBody>
          <a:bodyPr wrap="square" lIns="0" tIns="0" rIns="0" bIns="0" rtlCol="0" anchor="ctr"/>
          <a:lstStyle/>
          <a:p>
            <a:pPr marL="0" indent="0">
              <a:buNone/>
            </a:pPr>
            <a:r>
              <a:rPr lang="en-US" sz="2300" b="1" dirty="0">
                <a:solidFill>
                  <a:srgbClr val="0F172A"/>
                </a:solidFill>
                <a:latin typeface="Trebuchet MS" pitchFamily="34" charset="0"/>
                <a:ea typeface="Trebuchet MS" pitchFamily="34" charset="-122"/>
                <a:cs typeface="Trebuchet MS" pitchFamily="34" charset="-120"/>
              </a:rPr>
              <a:t>What is a Neural Network? Where Does the Transformer Fit?</a:t>
            </a:r>
            <a:endParaRPr lang="en-US" sz="2300" dirty="0"/>
          </a:p>
        </p:txBody>
      </p:sp>
      <p:sp>
        <p:nvSpPr>
          <p:cNvPr id="3" name="Text 1"/>
          <p:cNvSpPr/>
          <p:nvPr/>
        </p:nvSpPr>
        <p:spPr>
          <a:xfrm>
            <a:off x="548640" y="731520"/>
            <a:ext cx="8046720" cy="32004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AlphaGenome is a neural network — software that learns patterns from data. Here's its overall shape:</a:t>
            </a:r>
            <a:endParaRPr lang="en-US" sz="1200" dirty="0"/>
          </a:p>
        </p:txBody>
      </p:sp>
      <p:sp>
        <p:nvSpPr>
          <p:cNvPr id="4" name="Shape 2"/>
          <p:cNvSpPr/>
          <p:nvPr/>
        </p:nvSpPr>
        <p:spPr>
          <a:xfrm>
            <a:off x="320040" y="1417320"/>
            <a:ext cx="1051560" cy="640080"/>
          </a:xfrm>
          <a:prstGeom prst="rect">
            <a:avLst/>
          </a:prstGeom>
          <a:solidFill>
            <a:srgbClr val="1A252F"/>
          </a:solidFill>
          <a:ln/>
        </p:spPr>
        <p:txBody>
          <a:bodyPr/>
          <a:lstStyle/>
          <a:p>
            <a:endParaRPr lang="fr-CH"/>
          </a:p>
        </p:txBody>
      </p:sp>
      <p:sp>
        <p:nvSpPr>
          <p:cNvPr id="5" name="Text 3"/>
          <p:cNvSpPr/>
          <p:nvPr/>
        </p:nvSpPr>
        <p:spPr>
          <a:xfrm>
            <a:off x="32004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1 Mb DNA sequence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(raw A, T, G, C)</a:t>
            </a:r>
            <a:endParaRPr lang="en-US" sz="850" dirty="0"/>
          </a:p>
        </p:txBody>
      </p:sp>
      <p:sp>
        <p:nvSpPr>
          <p:cNvPr id="6" name="Text 4"/>
          <p:cNvSpPr/>
          <p:nvPr/>
        </p:nvSpPr>
        <p:spPr>
          <a:xfrm>
            <a:off x="135331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7" name="Shape 5"/>
          <p:cNvSpPr/>
          <p:nvPr/>
        </p:nvSpPr>
        <p:spPr>
          <a:xfrm>
            <a:off x="1600200" y="1417320"/>
            <a:ext cx="1051560" cy="640080"/>
          </a:xfrm>
          <a:prstGeom prst="rect">
            <a:avLst/>
          </a:prstGeom>
          <a:solidFill>
            <a:srgbClr val="3B82F6"/>
          </a:solidFill>
          <a:ln/>
        </p:spPr>
        <p:txBody>
          <a:bodyPr/>
          <a:lstStyle/>
          <a:p>
            <a:endParaRPr lang="fr-CH"/>
          </a:p>
        </p:txBody>
      </p:sp>
      <p:sp>
        <p:nvSpPr>
          <p:cNvPr id="8" name="Text 6"/>
          <p:cNvSpPr/>
          <p:nvPr/>
        </p:nvSpPr>
        <p:spPr>
          <a:xfrm>
            <a:off x="160020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Convolutional layers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(local pattern detection)</a:t>
            </a:r>
            <a:endParaRPr lang="en-US" sz="850" dirty="0"/>
          </a:p>
        </p:txBody>
      </p:sp>
      <p:sp>
        <p:nvSpPr>
          <p:cNvPr id="9" name="Text 7"/>
          <p:cNvSpPr/>
          <p:nvPr/>
        </p:nvSpPr>
        <p:spPr>
          <a:xfrm>
            <a:off x="263347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10" name="Shape 8"/>
          <p:cNvSpPr/>
          <p:nvPr/>
        </p:nvSpPr>
        <p:spPr>
          <a:xfrm>
            <a:off x="2880360" y="1417320"/>
            <a:ext cx="1051560" cy="640080"/>
          </a:xfrm>
          <a:prstGeom prst="rect">
            <a:avLst/>
          </a:prstGeom>
          <a:solidFill>
            <a:srgbClr val="60A5FA"/>
          </a:solidFill>
          <a:ln/>
        </p:spPr>
        <p:txBody>
          <a:bodyPr/>
          <a:lstStyle/>
          <a:p>
            <a:endParaRPr lang="fr-CH"/>
          </a:p>
        </p:txBody>
      </p:sp>
      <p:sp>
        <p:nvSpPr>
          <p:cNvPr id="11" name="Text 9"/>
          <p:cNvSpPr/>
          <p:nvPr/>
        </p:nvSpPr>
        <p:spPr>
          <a:xfrm>
            <a:off x="288036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Downsample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(compress sequence)</a:t>
            </a:r>
            <a:endParaRPr lang="en-US" sz="850" dirty="0"/>
          </a:p>
        </p:txBody>
      </p:sp>
      <p:sp>
        <p:nvSpPr>
          <p:cNvPr id="12" name="Text 10"/>
          <p:cNvSpPr/>
          <p:nvPr/>
        </p:nvSpPr>
        <p:spPr>
          <a:xfrm>
            <a:off x="391363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13" name="Shape 11"/>
          <p:cNvSpPr/>
          <p:nvPr/>
        </p:nvSpPr>
        <p:spPr>
          <a:xfrm>
            <a:off x="4160520" y="1348740"/>
            <a:ext cx="1051560" cy="777240"/>
          </a:xfrm>
          <a:prstGeom prst="rect">
            <a:avLst/>
          </a:prstGeom>
          <a:solidFill>
            <a:srgbClr val="0D9488"/>
          </a:solidFill>
          <a:ln/>
          <a:effectLst>
            <a:outerShdw blurRad="50800" dist="25400" dir="8100000" algn="bl" rotWithShape="0">
              <a:srgbClr val="000000">
                <a:alpha val="10000"/>
              </a:srgbClr>
            </a:outerShdw>
          </a:effectLst>
        </p:spPr>
        <p:txBody>
          <a:bodyPr/>
          <a:lstStyle/>
          <a:p>
            <a:endParaRPr lang="fr-CH"/>
          </a:p>
        </p:txBody>
      </p:sp>
      <p:sp>
        <p:nvSpPr>
          <p:cNvPr id="14" name="Shape 12"/>
          <p:cNvSpPr/>
          <p:nvPr/>
        </p:nvSpPr>
        <p:spPr>
          <a:xfrm>
            <a:off x="4123944" y="1312164"/>
            <a:ext cx="1124712" cy="850392"/>
          </a:xfrm>
          <a:prstGeom prst="rect">
            <a:avLst/>
          </a:prstGeom>
          <a:solidFill>
            <a:srgbClr val="000000">
              <a:alpha val="0"/>
            </a:srgbClr>
          </a:solidFill>
          <a:ln w="31750">
            <a:solidFill>
              <a:srgbClr val="5EEAD4"/>
            </a:solidFill>
            <a:prstDash val="solid"/>
          </a:ln>
        </p:spPr>
        <p:txBody>
          <a:bodyPr/>
          <a:lstStyle/>
          <a:p>
            <a:endParaRPr lang="fr-CH"/>
          </a:p>
        </p:txBody>
      </p:sp>
      <p:sp>
        <p:nvSpPr>
          <p:cNvPr id="15" name="Text 13"/>
          <p:cNvSpPr/>
          <p:nvPr/>
        </p:nvSpPr>
        <p:spPr>
          <a:xfrm>
            <a:off x="4160520" y="1394460"/>
            <a:ext cx="1051560"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Transformer</a:t>
            </a:r>
            <a:endParaRPr lang="en-US" sz="850" dirty="0"/>
          </a:p>
          <a:p>
            <a:pPr marL="0" indent="0" algn="ctr">
              <a:buNone/>
            </a:pPr>
            <a:r>
              <a:rPr lang="en-US" sz="850" b="1" dirty="0">
                <a:solidFill>
                  <a:srgbClr val="FFFFFF"/>
                </a:solidFill>
                <a:latin typeface="Calibri" pitchFamily="34" charset="0"/>
                <a:ea typeface="Calibri" pitchFamily="34" charset="-122"/>
                <a:cs typeface="Calibri" pitchFamily="34" charset="-120"/>
              </a:rPr>
              <a:t>(long-range connections)</a:t>
            </a:r>
            <a:endParaRPr lang="en-US" sz="850" dirty="0"/>
          </a:p>
        </p:txBody>
      </p:sp>
      <p:sp>
        <p:nvSpPr>
          <p:cNvPr id="16" name="Text 14"/>
          <p:cNvSpPr/>
          <p:nvPr/>
        </p:nvSpPr>
        <p:spPr>
          <a:xfrm>
            <a:off x="519379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17" name="Shape 15"/>
          <p:cNvSpPr/>
          <p:nvPr/>
        </p:nvSpPr>
        <p:spPr>
          <a:xfrm>
            <a:off x="5440680" y="1417320"/>
            <a:ext cx="1051560" cy="640080"/>
          </a:xfrm>
          <a:prstGeom prst="rect">
            <a:avLst/>
          </a:prstGeom>
          <a:solidFill>
            <a:srgbClr val="60A5FA"/>
          </a:solidFill>
          <a:ln/>
        </p:spPr>
        <p:txBody>
          <a:bodyPr/>
          <a:lstStyle/>
          <a:p>
            <a:endParaRPr lang="fr-CH"/>
          </a:p>
        </p:txBody>
      </p:sp>
      <p:sp>
        <p:nvSpPr>
          <p:cNvPr id="18" name="Text 16"/>
          <p:cNvSpPr/>
          <p:nvPr/>
        </p:nvSpPr>
        <p:spPr>
          <a:xfrm>
            <a:off x="544068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Upsample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(expand back out)</a:t>
            </a:r>
            <a:endParaRPr lang="en-US" sz="850" dirty="0"/>
          </a:p>
        </p:txBody>
      </p:sp>
      <p:sp>
        <p:nvSpPr>
          <p:cNvPr id="19" name="Text 17"/>
          <p:cNvSpPr/>
          <p:nvPr/>
        </p:nvSpPr>
        <p:spPr>
          <a:xfrm>
            <a:off x="647395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20" name="Shape 18"/>
          <p:cNvSpPr/>
          <p:nvPr/>
        </p:nvSpPr>
        <p:spPr>
          <a:xfrm>
            <a:off x="6720840" y="1417320"/>
            <a:ext cx="1051560" cy="640080"/>
          </a:xfrm>
          <a:prstGeom prst="rect">
            <a:avLst/>
          </a:prstGeom>
          <a:solidFill>
            <a:srgbClr val="3B82F6"/>
          </a:solidFill>
          <a:ln/>
        </p:spPr>
        <p:txBody>
          <a:bodyPr/>
          <a:lstStyle/>
          <a:p>
            <a:endParaRPr lang="fr-CH"/>
          </a:p>
        </p:txBody>
      </p:sp>
      <p:sp>
        <p:nvSpPr>
          <p:cNvPr id="21" name="Text 19"/>
          <p:cNvSpPr/>
          <p:nvPr/>
        </p:nvSpPr>
        <p:spPr>
          <a:xfrm>
            <a:off x="672084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Convolutional layers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(refine predictions)</a:t>
            </a:r>
            <a:endParaRPr lang="en-US" sz="850" dirty="0"/>
          </a:p>
        </p:txBody>
      </p:sp>
      <p:sp>
        <p:nvSpPr>
          <p:cNvPr id="22" name="Text 20"/>
          <p:cNvSpPr/>
          <p:nvPr/>
        </p:nvSpPr>
        <p:spPr>
          <a:xfrm>
            <a:off x="7754112" y="1508760"/>
            <a:ext cx="320040" cy="320040"/>
          </a:xfrm>
          <a:prstGeom prst="rect">
            <a:avLst/>
          </a:prstGeom>
          <a:noFill/>
          <a:ln/>
        </p:spPr>
        <p:txBody>
          <a:bodyPr wrap="square" rtlCol="0" anchor="ctr"/>
          <a:lstStyle/>
          <a:p>
            <a:pPr marL="0" indent="0" algn="ctr">
              <a:buNone/>
            </a:pPr>
            <a:r>
              <a:rPr lang="en-US" sz="1600" dirty="0">
                <a:solidFill>
                  <a:srgbClr val="64748B"/>
                </a:solidFill>
              </a:rPr>
              <a:t>→</a:t>
            </a:r>
            <a:endParaRPr lang="en-US" sz="1600" dirty="0"/>
          </a:p>
        </p:txBody>
      </p:sp>
      <p:sp>
        <p:nvSpPr>
          <p:cNvPr id="23" name="Shape 21"/>
          <p:cNvSpPr/>
          <p:nvPr/>
        </p:nvSpPr>
        <p:spPr>
          <a:xfrm>
            <a:off x="8001000" y="1417320"/>
            <a:ext cx="1051560" cy="640080"/>
          </a:xfrm>
          <a:prstGeom prst="rect">
            <a:avLst/>
          </a:prstGeom>
          <a:solidFill>
            <a:srgbClr val="1A252F"/>
          </a:solidFill>
          <a:ln/>
        </p:spPr>
        <p:txBody>
          <a:bodyPr/>
          <a:lstStyle/>
          <a:p>
            <a:endParaRPr lang="fr-CH"/>
          </a:p>
        </p:txBody>
      </p:sp>
      <p:sp>
        <p:nvSpPr>
          <p:cNvPr id="24" name="Text 22"/>
          <p:cNvSpPr/>
          <p:nvPr/>
        </p:nvSpPr>
        <p:spPr>
          <a:xfrm>
            <a:off x="8001000" y="1463040"/>
            <a:ext cx="1051560" cy="54864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Predicted tracks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(RNA-seq, DNASE, etc.)</a:t>
            </a:r>
            <a:endParaRPr lang="en-US" sz="850" dirty="0"/>
          </a:p>
        </p:txBody>
      </p:sp>
      <p:sp>
        <p:nvSpPr>
          <p:cNvPr id="25" name="Text 23"/>
          <p:cNvSpPr/>
          <p:nvPr/>
        </p:nvSpPr>
        <p:spPr>
          <a:xfrm>
            <a:off x="320040" y="1097280"/>
            <a:ext cx="3657600" cy="274320"/>
          </a:xfrm>
          <a:prstGeom prst="rect">
            <a:avLst/>
          </a:prstGeom>
          <a:noFill/>
          <a:ln/>
        </p:spPr>
        <p:txBody>
          <a:bodyPr wrap="square" lIns="0" tIns="0" rIns="0" bIns="0" rtlCol="0" anchor="ctr"/>
          <a:lstStyle/>
          <a:p>
            <a:pPr marL="0" indent="0" algn="ctr">
              <a:buNone/>
            </a:pPr>
            <a:r>
              <a:rPr lang="en-US" sz="1000" b="1" kern="0" spc="300" dirty="0">
                <a:solidFill>
                  <a:srgbClr val="3B82F6"/>
                </a:solidFill>
                <a:latin typeface="Calibri" pitchFamily="34" charset="0"/>
                <a:ea typeface="Calibri" pitchFamily="34" charset="-122"/>
                <a:cs typeface="Calibri" pitchFamily="34" charset="-120"/>
              </a:rPr>
              <a:t>ENCODER</a:t>
            </a:r>
            <a:endParaRPr lang="en-US" sz="1000" dirty="0"/>
          </a:p>
        </p:txBody>
      </p:sp>
      <p:sp>
        <p:nvSpPr>
          <p:cNvPr id="26" name="Text 24"/>
          <p:cNvSpPr/>
          <p:nvPr/>
        </p:nvSpPr>
        <p:spPr>
          <a:xfrm>
            <a:off x="4041648" y="1051560"/>
            <a:ext cx="1289304" cy="274320"/>
          </a:xfrm>
          <a:prstGeom prst="rect">
            <a:avLst/>
          </a:prstGeom>
          <a:noFill/>
          <a:ln/>
        </p:spPr>
        <p:txBody>
          <a:bodyPr wrap="square" lIns="0" tIns="0" rIns="0" bIns="0" rtlCol="0" anchor="ctr"/>
          <a:lstStyle/>
          <a:p>
            <a:pPr marL="0" indent="0" algn="ctr">
              <a:buNone/>
            </a:pPr>
            <a:r>
              <a:rPr lang="en-US" sz="1000" b="1" kern="0" spc="300" dirty="0">
                <a:solidFill>
                  <a:srgbClr val="0D9488"/>
                </a:solidFill>
                <a:latin typeface="Calibri" pitchFamily="34" charset="0"/>
                <a:ea typeface="Calibri" pitchFamily="34" charset="-122"/>
                <a:cs typeface="Calibri" pitchFamily="34" charset="-120"/>
              </a:rPr>
              <a:t>TRANSFORMER</a:t>
            </a:r>
            <a:endParaRPr lang="en-US" sz="1000" dirty="0"/>
          </a:p>
        </p:txBody>
      </p:sp>
      <p:sp>
        <p:nvSpPr>
          <p:cNvPr id="27" name="Text 25"/>
          <p:cNvSpPr/>
          <p:nvPr/>
        </p:nvSpPr>
        <p:spPr>
          <a:xfrm>
            <a:off x="5440680" y="1097280"/>
            <a:ext cx="3657600" cy="274320"/>
          </a:xfrm>
          <a:prstGeom prst="rect">
            <a:avLst/>
          </a:prstGeom>
          <a:noFill/>
          <a:ln/>
        </p:spPr>
        <p:txBody>
          <a:bodyPr wrap="square" lIns="0" tIns="0" rIns="0" bIns="0" rtlCol="0" anchor="ctr"/>
          <a:lstStyle/>
          <a:p>
            <a:pPr marL="0" indent="0" algn="ctr">
              <a:buNone/>
            </a:pPr>
            <a:r>
              <a:rPr lang="en-US" sz="1000" b="1" kern="0" spc="300" dirty="0">
                <a:solidFill>
                  <a:srgbClr val="3B82F6"/>
                </a:solidFill>
                <a:latin typeface="Calibri" pitchFamily="34" charset="0"/>
                <a:ea typeface="Calibri" pitchFamily="34" charset="-122"/>
                <a:cs typeface="Calibri" pitchFamily="34" charset="-120"/>
              </a:rPr>
              <a:t>DECODER</a:t>
            </a:r>
            <a:endParaRPr lang="en-US" sz="1000" dirty="0"/>
          </a:p>
        </p:txBody>
      </p:sp>
      <p:sp>
        <p:nvSpPr>
          <p:cNvPr id="28" name="Shape 26"/>
          <p:cNvSpPr/>
          <p:nvPr/>
        </p:nvSpPr>
        <p:spPr>
          <a:xfrm>
            <a:off x="365760" y="2560320"/>
            <a:ext cx="2697480" cy="1691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29" name="Shape 27"/>
          <p:cNvSpPr/>
          <p:nvPr/>
        </p:nvSpPr>
        <p:spPr>
          <a:xfrm>
            <a:off x="365760" y="2560320"/>
            <a:ext cx="2697480" cy="45720"/>
          </a:xfrm>
          <a:prstGeom prst="rect">
            <a:avLst/>
          </a:prstGeom>
          <a:solidFill>
            <a:srgbClr val="3B82F6"/>
          </a:solidFill>
          <a:ln/>
        </p:spPr>
        <p:txBody>
          <a:bodyPr/>
          <a:lstStyle/>
          <a:p>
            <a:endParaRPr lang="fr-CH"/>
          </a:p>
        </p:txBody>
      </p:sp>
      <p:sp>
        <p:nvSpPr>
          <p:cNvPr id="30" name="Text 28"/>
          <p:cNvSpPr/>
          <p:nvPr/>
        </p:nvSpPr>
        <p:spPr>
          <a:xfrm>
            <a:off x="502920" y="2697480"/>
            <a:ext cx="2423160" cy="27432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Encoder (Convolutions)</a:t>
            </a:r>
            <a:endParaRPr lang="en-US" sz="1300" dirty="0"/>
          </a:p>
        </p:txBody>
      </p:sp>
      <p:sp>
        <p:nvSpPr>
          <p:cNvPr id="31" name="Text 29"/>
          <p:cNvSpPr/>
          <p:nvPr/>
        </p:nvSpPr>
        <p:spPr>
          <a:xfrm>
            <a:off x="502920" y="3017520"/>
            <a:ext cx="2423160" cy="10972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Scans the DNA in small windows, detecting local patterns like transcription factor binding motifs. Compresses the sequence down to a smaller representation — like summarising a book chapter by chapter.</a:t>
            </a:r>
            <a:endParaRPr lang="en-US" sz="1100" dirty="0"/>
          </a:p>
        </p:txBody>
      </p:sp>
      <p:sp>
        <p:nvSpPr>
          <p:cNvPr id="32" name="Shape 30"/>
          <p:cNvSpPr/>
          <p:nvPr/>
        </p:nvSpPr>
        <p:spPr>
          <a:xfrm>
            <a:off x="3246120" y="2560320"/>
            <a:ext cx="2697480" cy="1691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33" name="Shape 31"/>
          <p:cNvSpPr/>
          <p:nvPr/>
        </p:nvSpPr>
        <p:spPr>
          <a:xfrm>
            <a:off x="3246120" y="2560320"/>
            <a:ext cx="2697480" cy="45720"/>
          </a:xfrm>
          <a:prstGeom prst="rect">
            <a:avLst/>
          </a:prstGeom>
          <a:solidFill>
            <a:srgbClr val="0D9488"/>
          </a:solidFill>
          <a:ln/>
        </p:spPr>
        <p:txBody>
          <a:bodyPr/>
          <a:lstStyle/>
          <a:p>
            <a:endParaRPr lang="fr-CH"/>
          </a:p>
        </p:txBody>
      </p:sp>
      <p:sp>
        <p:nvSpPr>
          <p:cNvPr id="34" name="Text 32"/>
          <p:cNvSpPr/>
          <p:nvPr/>
        </p:nvSpPr>
        <p:spPr>
          <a:xfrm>
            <a:off x="3383280" y="2697480"/>
            <a:ext cx="2423160" cy="27432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Transformer (Attention)</a:t>
            </a:r>
            <a:endParaRPr lang="en-US" sz="1300" dirty="0"/>
          </a:p>
        </p:txBody>
      </p:sp>
      <p:sp>
        <p:nvSpPr>
          <p:cNvPr id="35" name="Text 33"/>
          <p:cNvSpPr/>
          <p:nvPr/>
        </p:nvSpPr>
        <p:spPr>
          <a:xfrm>
            <a:off x="3383280" y="3017520"/>
            <a:ext cx="2423160" cy="10972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Works on the compressed representation. Lets every part of the sequence "look at" every other part and learn which distant regions influence each other. This is where long-range regulatory logic is captured.</a:t>
            </a:r>
            <a:endParaRPr lang="en-US" sz="1100" dirty="0"/>
          </a:p>
        </p:txBody>
      </p:sp>
      <p:sp>
        <p:nvSpPr>
          <p:cNvPr id="36" name="Shape 34"/>
          <p:cNvSpPr/>
          <p:nvPr/>
        </p:nvSpPr>
        <p:spPr>
          <a:xfrm>
            <a:off x="6126480" y="2560320"/>
            <a:ext cx="2697480" cy="1691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37" name="Shape 35"/>
          <p:cNvSpPr/>
          <p:nvPr/>
        </p:nvSpPr>
        <p:spPr>
          <a:xfrm>
            <a:off x="6126480" y="2560320"/>
            <a:ext cx="2697480" cy="45720"/>
          </a:xfrm>
          <a:prstGeom prst="rect">
            <a:avLst/>
          </a:prstGeom>
          <a:solidFill>
            <a:srgbClr val="3B82F6"/>
          </a:solidFill>
          <a:ln/>
        </p:spPr>
        <p:txBody>
          <a:bodyPr/>
          <a:lstStyle/>
          <a:p>
            <a:endParaRPr lang="fr-CH"/>
          </a:p>
        </p:txBody>
      </p:sp>
      <p:sp>
        <p:nvSpPr>
          <p:cNvPr id="38" name="Text 36"/>
          <p:cNvSpPr/>
          <p:nvPr/>
        </p:nvSpPr>
        <p:spPr>
          <a:xfrm>
            <a:off x="6263640" y="2697480"/>
            <a:ext cx="2423160" cy="27432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Decoder (Convolutions)</a:t>
            </a:r>
            <a:endParaRPr lang="en-US" sz="1300" dirty="0"/>
          </a:p>
        </p:txBody>
      </p:sp>
      <p:sp>
        <p:nvSpPr>
          <p:cNvPr id="39" name="Text 37"/>
          <p:cNvSpPr/>
          <p:nvPr/>
        </p:nvSpPr>
        <p:spPr>
          <a:xfrm>
            <a:off x="6263640" y="3017520"/>
            <a:ext cx="2423160" cy="10972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Expands the representation back to full resolution (up to 1 base pair) and produces the final predictions — one track value per position per assay type and tissue.</a:t>
            </a:r>
            <a:endParaRPr lang="en-US" sz="1100" dirty="0"/>
          </a:p>
        </p:txBody>
      </p:sp>
      <p:sp>
        <p:nvSpPr>
          <p:cNvPr id="40" name="Shape 38"/>
          <p:cNvSpPr/>
          <p:nvPr/>
        </p:nvSpPr>
        <p:spPr>
          <a:xfrm>
            <a:off x="365760" y="4389120"/>
            <a:ext cx="8412480" cy="411480"/>
          </a:xfrm>
          <a:prstGeom prst="rect">
            <a:avLst/>
          </a:prstGeom>
          <a:solidFill>
            <a:srgbClr val="ECFDF5"/>
          </a:solidFill>
          <a:ln/>
        </p:spPr>
        <p:txBody>
          <a:bodyPr/>
          <a:lstStyle/>
          <a:p>
            <a:endParaRPr lang="fr-CH"/>
          </a:p>
        </p:txBody>
      </p:sp>
      <p:sp>
        <p:nvSpPr>
          <p:cNvPr id="41" name="Shape 39"/>
          <p:cNvSpPr/>
          <p:nvPr/>
        </p:nvSpPr>
        <p:spPr>
          <a:xfrm>
            <a:off x="365760" y="4389120"/>
            <a:ext cx="54864" cy="411480"/>
          </a:xfrm>
          <a:prstGeom prst="rect">
            <a:avLst/>
          </a:prstGeom>
          <a:solidFill>
            <a:srgbClr val="0D9488"/>
          </a:solidFill>
          <a:ln/>
        </p:spPr>
        <p:txBody>
          <a:bodyPr/>
          <a:lstStyle/>
          <a:p>
            <a:endParaRPr lang="fr-CH"/>
          </a:p>
        </p:txBody>
      </p:sp>
      <p:sp>
        <p:nvSpPr>
          <p:cNvPr id="42" name="Text 40"/>
          <p:cNvSpPr/>
          <p:nvPr/>
        </p:nvSpPr>
        <p:spPr>
          <a:xfrm>
            <a:off x="594360" y="4407408"/>
            <a:ext cx="8001000" cy="36576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The Transformer sits in the middle of the network, working on a compressed view of the full 1 Mb sequence. This is where the model learns which distant parts of the genome influence each other.</a:t>
            </a:r>
            <a:endParaRPr lang="en-US" sz="1100" dirty="0"/>
          </a:p>
        </p:txBody>
      </p:sp>
      <p:sp>
        <p:nvSpPr>
          <p:cNvPr id="43" name="Text 41"/>
          <p:cNvSpPr/>
          <p:nvPr/>
        </p:nvSpPr>
        <p:spPr>
          <a:xfrm>
            <a:off x="457200" y="4754880"/>
            <a:ext cx="8229600" cy="27432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28600"/>
            <a:ext cx="8046720" cy="50292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How Does Attention Work?</a:t>
            </a:r>
            <a:endParaRPr lang="en-US" sz="2800" dirty="0"/>
          </a:p>
        </p:txBody>
      </p:sp>
      <p:sp>
        <p:nvSpPr>
          <p:cNvPr id="3" name="Text 1"/>
          <p:cNvSpPr/>
          <p:nvPr/>
        </p:nvSpPr>
        <p:spPr>
          <a:xfrm>
            <a:off x="548640" y="713232"/>
            <a:ext cx="8046720" cy="27432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Each node in the Transformer can connect its output to nodes covering any other part of the sequence</a:t>
            </a:r>
            <a:endParaRPr lang="en-US" sz="1200" dirty="0"/>
          </a:p>
        </p:txBody>
      </p:sp>
      <p:sp>
        <p:nvSpPr>
          <p:cNvPr id="4" name="Shape 2"/>
          <p:cNvSpPr/>
          <p:nvPr/>
        </p:nvSpPr>
        <p:spPr>
          <a:xfrm>
            <a:off x="365760" y="1188720"/>
            <a:ext cx="3977640" cy="3063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5" name="Shape 3"/>
          <p:cNvSpPr/>
          <p:nvPr/>
        </p:nvSpPr>
        <p:spPr>
          <a:xfrm>
            <a:off x="365760" y="1188720"/>
            <a:ext cx="3977640" cy="384048"/>
          </a:xfrm>
          <a:prstGeom prst="rect">
            <a:avLst/>
          </a:prstGeom>
          <a:solidFill>
            <a:srgbClr val="EF4444"/>
          </a:solidFill>
          <a:ln/>
        </p:spPr>
        <p:txBody>
          <a:bodyPr/>
          <a:lstStyle/>
          <a:p>
            <a:endParaRPr lang="fr-CH"/>
          </a:p>
        </p:txBody>
      </p:sp>
      <p:sp>
        <p:nvSpPr>
          <p:cNvPr id="6" name="Text 4"/>
          <p:cNvSpPr/>
          <p:nvPr/>
        </p:nvSpPr>
        <p:spPr>
          <a:xfrm>
            <a:off x="502920" y="1216152"/>
            <a:ext cx="3703320" cy="320040"/>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Without Attention — Local Connections Only</a:t>
            </a:r>
            <a:endParaRPr lang="en-US" sz="1200" dirty="0"/>
          </a:p>
        </p:txBody>
      </p:sp>
      <p:sp>
        <p:nvSpPr>
          <p:cNvPr id="7" name="Shape 5"/>
          <p:cNvSpPr/>
          <p:nvPr/>
        </p:nvSpPr>
        <p:spPr>
          <a:xfrm>
            <a:off x="493776" y="3374136"/>
            <a:ext cx="292608" cy="292608"/>
          </a:xfrm>
          <a:prstGeom prst="ellipse">
            <a:avLst/>
          </a:prstGeom>
          <a:solidFill>
            <a:srgbClr val="EA580C"/>
          </a:solidFill>
          <a:ln/>
        </p:spPr>
        <p:txBody>
          <a:bodyPr/>
          <a:lstStyle/>
          <a:p>
            <a:endParaRPr lang="fr-CH"/>
          </a:p>
        </p:txBody>
      </p:sp>
      <p:sp>
        <p:nvSpPr>
          <p:cNvPr id="8" name="Text 6"/>
          <p:cNvSpPr/>
          <p:nvPr/>
        </p:nvSpPr>
        <p:spPr>
          <a:xfrm>
            <a:off x="36576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1</a:t>
            </a:r>
            <a:endParaRPr lang="en-US" sz="750" dirty="0"/>
          </a:p>
        </p:txBody>
      </p:sp>
      <p:sp>
        <p:nvSpPr>
          <p:cNvPr id="9" name="Shape 7"/>
          <p:cNvSpPr/>
          <p:nvPr/>
        </p:nvSpPr>
        <p:spPr>
          <a:xfrm>
            <a:off x="996696" y="3374136"/>
            <a:ext cx="292608" cy="292608"/>
          </a:xfrm>
          <a:prstGeom prst="ellipse">
            <a:avLst/>
          </a:prstGeom>
          <a:solidFill>
            <a:srgbClr val="EA580C"/>
          </a:solidFill>
          <a:ln/>
        </p:spPr>
        <p:txBody>
          <a:bodyPr/>
          <a:lstStyle/>
          <a:p>
            <a:endParaRPr lang="fr-CH"/>
          </a:p>
        </p:txBody>
      </p:sp>
      <p:sp>
        <p:nvSpPr>
          <p:cNvPr id="10" name="Text 8"/>
          <p:cNvSpPr/>
          <p:nvPr/>
        </p:nvSpPr>
        <p:spPr>
          <a:xfrm>
            <a:off x="86868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2</a:t>
            </a:r>
            <a:endParaRPr lang="en-US" sz="750" dirty="0"/>
          </a:p>
        </p:txBody>
      </p:sp>
      <p:sp>
        <p:nvSpPr>
          <p:cNvPr id="11" name="Shape 9"/>
          <p:cNvSpPr/>
          <p:nvPr/>
        </p:nvSpPr>
        <p:spPr>
          <a:xfrm>
            <a:off x="1499616" y="3374136"/>
            <a:ext cx="292608" cy="292608"/>
          </a:xfrm>
          <a:prstGeom prst="ellipse">
            <a:avLst/>
          </a:prstGeom>
          <a:solidFill>
            <a:srgbClr val="EA580C"/>
          </a:solidFill>
          <a:ln/>
        </p:spPr>
        <p:txBody>
          <a:bodyPr/>
          <a:lstStyle/>
          <a:p>
            <a:endParaRPr lang="fr-CH"/>
          </a:p>
        </p:txBody>
      </p:sp>
      <p:sp>
        <p:nvSpPr>
          <p:cNvPr id="12" name="Text 10"/>
          <p:cNvSpPr/>
          <p:nvPr/>
        </p:nvSpPr>
        <p:spPr>
          <a:xfrm>
            <a:off x="137160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3</a:t>
            </a:r>
            <a:endParaRPr lang="en-US" sz="750" dirty="0"/>
          </a:p>
        </p:txBody>
      </p:sp>
      <p:sp>
        <p:nvSpPr>
          <p:cNvPr id="13" name="Shape 11"/>
          <p:cNvSpPr/>
          <p:nvPr/>
        </p:nvSpPr>
        <p:spPr>
          <a:xfrm>
            <a:off x="2002536" y="3374136"/>
            <a:ext cx="292608" cy="292608"/>
          </a:xfrm>
          <a:prstGeom prst="ellipse">
            <a:avLst/>
          </a:prstGeom>
          <a:solidFill>
            <a:srgbClr val="EA580C"/>
          </a:solidFill>
          <a:ln/>
        </p:spPr>
        <p:txBody>
          <a:bodyPr/>
          <a:lstStyle/>
          <a:p>
            <a:endParaRPr lang="fr-CH"/>
          </a:p>
        </p:txBody>
      </p:sp>
      <p:sp>
        <p:nvSpPr>
          <p:cNvPr id="14" name="Text 12"/>
          <p:cNvSpPr/>
          <p:nvPr/>
        </p:nvSpPr>
        <p:spPr>
          <a:xfrm>
            <a:off x="187452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4</a:t>
            </a:r>
            <a:endParaRPr lang="en-US" sz="750" dirty="0"/>
          </a:p>
        </p:txBody>
      </p:sp>
      <p:sp>
        <p:nvSpPr>
          <p:cNvPr id="15" name="Shape 13"/>
          <p:cNvSpPr/>
          <p:nvPr/>
        </p:nvSpPr>
        <p:spPr>
          <a:xfrm>
            <a:off x="2505456" y="3374136"/>
            <a:ext cx="292608" cy="292608"/>
          </a:xfrm>
          <a:prstGeom prst="ellipse">
            <a:avLst/>
          </a:prstGeom>
          <a:solidFill>
            <a:srgbClr val="EA580C"/>
          </a:solidFill>
          <a:ln/>
        </p:spPr>
        <p:txBody>
          <a:bodyPr/>
          <a:lstStyle/>
          <a:p>
            <a:endParaRPr lang="fr-CH"/>
          </a:p>
        </p:txBody>
      </p:sp>
      <p:sp>
        <p:nvSpPr>
          <p:cNvPr id="16" name="Text 14"/>
          <p:cNvSpPr/>
          <p:nvPr/>
        </p:nvSpPr>
        <p:spPr>
          <a:xfrm>
            <a:off x="237744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5</a:t>
            </a:r>
            <a:endParaRPr lang="en-US" sz="750" dirty="0"/>
          </a:p>
        </p:txBody>
      </p:sp>
      <p:sp>
        <p:nvSpPr>
          <p:cNvPr id="17" name="Shape 15"/>
          <p:cNvSpPr/>
          <p:nvPr/>
        </p:nvSpPr>
        <p:spPr>
          <a:xfrm>
            <a:off x="3008376" y="3374136"/>
            <a:ext cx="292608" cy="292608"/>
          </a:xfrm>
          <a:prstGeom prst="ellipse">
            <a:avLst/>
          </a:prstGeom>
          <a:solidFill>
            <a:srgbClr val="EA580C"/>
          </a:solidFill>
          <a:ln/>
        </p:spPr>
        <p:txBody>
          <a:bodyPr/>
          <a:lstStyle/>
          <a:p>
            <a:endParaRPr lang="fr-CH"/>
          </a:p>
        </p:txBody>
      </p:sp>
      <p:sp>
        <p:nvSpPr>
          <p:cNvPr id="18" name="Text 16"/>
          <p:cNvSpPr/>
          <p:nvPr/>
        </p:nvSpPr>
        <p:spPr>
          <a:xfrm>
            <a:off x="288036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6</a:t>
            </a:r>
            <a:endParaRPr lang="en-US" sz="750" dirty="0"/>
          </a:p>
        </p:txBody>
      </p:sp>
      <p:sp>
        <p:nvSpPr>
          <p:cNvPr id="19" name="Shape 17"/>
          <p:cNvSpPr/>
          <p:nvPr/>
        </p:nvSpPr>
        <p:spPr>
          <a:xfrm>
            <a:off x="3511296" y="3374136"/>
            <a:ext cx="292608" cy="292608"/>
          </a:xfrm>
          <a:prstGeom prst="ellipse">
            <a:avLst/>
          </a:prstGeom>
          <a:solidFill>
            <a:srgbClr val="EA580C"/>
          </a:solidFill>
          <a:ln/>
        </p:spPr>
        <p:txBody>
          <a:bodyPr/>
          <a:lstStyle/>
          <a:p>
            <a:endParaRPr lang="fr-CH"/>
          </a:p>
        </p:txBody>
      </p:sp>
      <p:sp>
        <p:nvSpPr>
          <p:cNvPr id="20" name="Text 18"/>
          <p:cNvSpPr/>
          <p:nvPr/>
        </p:nvSpPr>
        <p:spPr>
          <a:xfrm>
            <a:off x="338328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7</a:t>
            </a:r>
            <a:endParaRPr lang="en-US" sz="750" dirty="0"/>
          </a:p>
        </p:txBody>
      </p:sp>
      <p:sp>
        <p:nvSpPr>
          <p:cNvPr id="21" name="Shape 19"/>
          <p:cNvSpPr/>
          <p:nvPr/>
        </p:nvSpPr>
        <p:spPr>
          <a:xfrm>
            <a:off x="493776" y="1819656"/>
            <a:ext cx="292608" cy="292608"/>
          </a:xfrm>
          <a:prstGeom prst="ellipse">
            <a:avLst/>
          </a:prstGeom>
          <a:solidFill>
            <a:srgbClr val="334155"/>
          </a:solidFill>
          <a:ln/>
        </p:spPr>
        <p:txBody>
          <a:bodyPr/>
          <a:lstStyle/>
          <a:p>
            <a:endParaRPr lang="fr-CH"/>
          </a:p>
        </p:txBody>
      </p:sp>
      <p:sp>
        <p:nvSpPr>
          <p:cNvPr id="22" name="Shape 20"/>
          <p:cNvSpPr/>
          <p:nvPr/>
        </p:nvSpPr>
        <p:spPr>
          <a:xfrm>
            <a:off x="996696" y="1819656"/>
            <a:ext cx="292608" cy="292608"/>
          </a:xfrm>
          <a:prstGeom prst="ellipse">
            <a:avLst/>
          </a:prstGeom>
          <a:solidFill>
            <a:srgbClr val="334155"/>
          </a:solidFill>
          <a:ln/>
        </p:spPr>
        <p:txBody>
          <a:bodyPr/>
          <a:lstStyle/>
          <a:p>
            <a:endParaRPr lang="fr-CH"/>
          </a:p>
        </p:txBody>
      </p:sp>
      <p:sp>
        <p:nvSpPr>
          <p:cNvPr id="23" name="Shape 21"/>
          <p:cNvSpPr/>
          <p:nvPr/>
        </p:nvSpPr>
        <p:spPr>
          <a:xfrm>
            <a:off x="1499616" y="1819656"/>
            <a:ext cx="292608" cy="292608"/>
          </a:xfrm>
          <a:prstGeom prst="ellipse">
            <a:avLst/>
          </a:prstGeom>
          <a:solidFill>
            <a:srgbClr val="334155"/>
          </a:solidFill>
          <a:ln/>
        </p:spPr>
        <p:txBody>
          <a:bodyPr/>
          <a:lstStyle/>
          <a:p>
            <a:endParaRPr lang="fr-CH"/>
          </a:p>
        </p:txBody>
      </p:sp>
      <p:sp>
        <p:nvSpPr>
          <p:cNvPr id="24" name="Shape 22"/>
          <p:cNvSpPr/>
          <p:nvPr/>
        </p:nvSpPr>
        <p:spPr>
          <a:xfrm>
            <a:off x="2002536" y="1819656"/>
            <a:ext cx="292608" cy="292608"/>
          </a:xfrm>
          <a:prstGeom prst="ellipse">
            <a:avLst/>
          </a:prstGeom>
          <a:solidFill>
            <a:srgbClr val="334155"/>
          </a:solidFill>
          <a:ln/>
        </p:spPr>
        <p:txBody>
          <a:bodyPr/>
          <a:lstStyle/>
          <a:p>
            <a:endParaRPr lang="fr-CH"/>
          </a:p>
        </p:txBody>
      </p:sp>
      <p:sp>
        <p:nvSpPr>
          <p:cNvPr id="25" name="Shape 23"/>
          <p:cNvSpPr/>
          <p:nvPr/>
        </p:nvSpPr>
        <p:spPr>
          <a:xfrm>
            <a:off x="2505456" y="1819656"/>
            <a:ext cx="292608" cy="292608"/>
          </a:xfrm>
          <a:prstGeom prst="ellipse">
            <a:avLst/>
          </a:prstGeom>
          <a:solidFill>
            <a:srgbClr val="334155"/>
          </a:solidFill>
          <a:ln/>
        </p:spPr>
        <p:txBody>
          <a:bodyPr/>
          <a:lstStyle/>
          <a:p>
            <a:endParaRPr lang="fr-CH"/>
          </a:p>
        </p:txBody>
      </p:sp>
      <p:sp>
        <p:nvSpPr>
          <p:cNvPr id="26" name="Shape 24"/>
          <p:cNvSpPr/>
          <p:nvPr/>
        </p:nvSpPr>
        <p:spPr>
          <a:xfrm>
            <a:off x="3008376" y="1819656"/>
            <a:ext cx="292608" cy="292608"/>
          </a:xfrm>
          <a:prstGeom prst="ellipse">
            <a:avLst/>
          </a:prstGeom>
          <a:solidFill>
            <a:srgbClr val="334155"/>
          </a:solidFill>
          <a:ln/>
        </p:spPr>
        <p:txBody>
          <a:bodyPr/>
          <a:lstStyle/>
          <a:p>
            <a:endParaRPr lang="fr-CH"/>
          </a:p>
        </p:txBody>
      </p:sp>
      <p:sp>
        <p:nvSpPr>
          <p:cNvPr id="27" name="Shape 25"/>
          <p:cNvSpPr/>
          <p:nvPr/>
        </p:nvSpPr>
        <p:spPr>
          <a:xfrm>
            <a:off x="3511296" y="1819656"/>
            <a:ext cx="292608" cy="292608"/>
          </a:xfrm>
          <a:prstGeom prst="ellipse">
            <a:avLst/>
          </a:prstGeom>
          <a:solidFill>
            <a:srgbClr val="334155"/>
          </a:solidFill>
          <a:ln/>
        </p:spPr>
        <p:txBody>
          <a:bodyPr/>
          <a:lstStyle/>
          <a:p>
            <a:endParaRPr lang="fr-CH"/>
          </a:p>
        </p:txBody>
      </p:sp>
      <p:sp>
        <p:nvSpPr>
          <p:cNvPr id="28" name="Shape 26"/>
          <p:cNvSpPr/>
          <p:nvPr/>
        </p:nvSpPr>
        <p:spPr>
          <a:xfrm>
            <a:off x="640080" y="2112264"/>
            <a:ext cx="914" cy="1261872"/>
          </a:xfrm>
          <a:prstGeom prst="line">
            <a:avLst/>
          </a:prstGeom>
          <a:noFill/>
          <a:ln w="12700">
            <a:solidFill>
              <a:srgbClr val="E2E8F0"/>
            </a:solidFill>
            <a:prstDash val="solid"/>
          </a:ln>
        </p:spPr>
        <p:txBody>
          <a:bodyPr/>
          <a:lstStyle/>
          <a:p>
            <a:endParaRPr lang="fr-CH"/>
          </a:p>
        </p:txBody>
      </p:sp>
      <p:sp>
        <p:nvSpPr>
          <p:cNvPr id="29" name="Shape 27"/>
          <p:cNvSpPr/>
          <p:nvPr/>
        </p:nvSpPr>
        <p:spPr>
          <a:xfrm>
            <a:off x="640080" y="2112264"/>
            <a:ext cx="502920" cy="1261872"/>
          </a:xfrm>
          <a:prstGeom prst="line">
            <a:avLst/>
          </a:prstGeom>
          <a:noFill/>
          <a:ln w="12700">
            <a:solidFill>
              <a:srgbClr val="E2E8F0"/>
            </a:solidFill>
            <a:prstDash val="solid"/>
          </a:ln>
        </p:spPr>
        <p:txBody>
          <a:bodyPr/>
          <a:lstStyle/>
          <a:p>
            <a:endParaRPr lang="fr-CH"/>
          </a:p>
        </p:txBody>
      </p:sp>
      <p:sp>
        <p:nvSpPr>
          <p:cNvPr id="30" name="Shape 28"/>
          <p:cNvSpPr/>
          <p:nvPr/>
        </p:nvSpPr>
        <p:spPr>
          <a:xfrm flipH="1">
            <a:off x="640080" y="2112264"/>
            <a:ext cx="502920" cy="1261872"/>
          </a:xfrm>
          <a:prstGeom prst="line">
            <a:avLst/>
          </a:prstGeom>
          <a:noFill/>
          <a:ln w="12700">
            <a:solidFill>
              <a:srgbClr val="E2E8F0"/>
            </a:solidFill>
            <a:prstDash val="solid"/>
          </a:ln>
        </p:spPr>
        <p:txBody>
          <a:bodyPr/>
          <a:lstStyle/>
          <a:p>
            <a:endParaRPr lang="fr-CH"/>
          </a:p>
        </p:txBody>
      </p:sp>
      <p:sp>
        <p:nvSpPr>
          <p:cNvPr id="31" name="Shape 29"/>
          <p:cNvSpPr/>
          <p:nvPr/>
        </p:nvSpPr>
        <p:spPr>
          <a:xfrm>
            <a:off x="1143000" y="2112264"/>
            <a:ext cx="914" cy="1261872"/>
          </a:xfrm>
          <a:prstGeom prst="line">
            <a:avLst/>
          </a:prstGeom>
          <a:noFill/>
          <a:ln w="12700">
            <a:solidFill>
              <a:srgbClr val="E2E8F0"/>
            </a:solidFill>
            <a:prstDash val="solid"/>
          </a:ln>
        </p:spPr>
        <p:txBody>
          <a:bodyPr/>
          <a:lstStyle/>
          <a:p>
            <a:endParaRPr lang="fr-CH"/>
          </a:p>
        </p:txBody>
      </p:sp>
      <p:sp>
        <p:nvSpPr>
          <p:cNvPr id="32" name="Shape 30"/>
          <p:cNvSpPr/>
          <p:nvPr/>
        </p:nvSpPr>
        <p:spPr>
          <a:xfrm>
            <a:off x="1143000" y="2112264"/>
            <a:ext cx="502920" cy="1261872"/>
          </a:xfrm>
          <a:prstGeom prst="line">
            <a:avLst/>
          </a:prstGeom>
          <a:noFill/>
          <a:ln w="12700">
            <a:solidFill>
              <a:srgbClr val="E2E8F0"/>
            </a:solidFill>
            <a:prstDash val="solid"/>
          </a:ln>
        </p:spPr>
        <p:txBody>
          <a:bodyPr/>
          <a:lstStyle/>
          <a:p>
            <a:endParaRPr lang="fr-CH"/>
          </a:p>
        </p:txBody>
      </p:sp>
      <p:sp>
        <p:nvSpPr>
          <p:cNvPr id="33" name="Shape 31"/>
          <p:cNvSpPr/>
          <p:nvPr/>
        </p:nvSpPr>
        <p:spPr>
          <a:xfrm flipH="1">
            <a:off x="1143000" y="2112264"/>
            <a:ext cx="502920" cy="1261872"/>
          </a:xfrm>
          <a:prstGeom prst="line">
            <a:avLst/>
          </a:prstGeom>
          <a:noFill/>
          <a:ln w="12700">
            <a:solidFill>
              <a:srgbClr val="E2E8F0"/>
            </a:solidFill>
            <a:prstDash val="solid"/>
          </a:ln>
        </p:spPr>
        <p:txBody>
          <a:bodyPr/>
          <a:lstStyle/>
          <a:p>
            <a:endParaRPr lang="fr-CH"/>
          </a:p>
        </p:txBody>
      </p:sp>
      <p:sp>
        <p:nvSpPr>
          <p:cNvPr id="34" name="Shape 32"/>
          <p:cNvSpPr/>
          <p:nvPr/>
        </p:nvSpPr>
        <p:spPr>
          <a:xfrm>
            <a:off x="1645920" y="2112264"/>
            <a:ext cx="914" cy="1261872"/>
          </a:xfrm>
          <a:prstGeom prst="line">
            <a:avLst/>
          </a:prstGeom>
          <a:noFill/>
          <a:ln w="12700">
            <a:solidFill>
              <a:srgbClr val="E2E8F0"/>
            </a:solidFill>
            <a:prstDash val="solid"/>
          </a:ln>
        </p:spPr>
        <p:txBody>
          <a:bodyPr/>
          <a:lstStyle/>
          <a:p>
            <a:endParaRPr lang="fr-CH"/>
          </a:p>
        </p:txBody>
      </p:sp>
      <p:sp>
        <p:nvSpPr>
          <p:cNvPr id="35" name="Shape 33"/>
          <p:cNvSpPr/>
          <p:nvPr/>
        </p:nvSpPr>
        <p:spPr>
          <a:xfrm>
            <a:off x="1645920" y="2112264"/>
            <a:ext cx="502920" cy="1261872"/>
          </a:xfrm>
          <a:prstGeom prst="line">
            <a:avLst/>
          </a:prstGeom>
          <a:noFill/>
          <a:ln w="12700">
            <a:solidFill>
              <a:srgbClr val="E2E8F0"/>
            </a:solidFill>
            <a:prstDash val="solid"/>
          </a:ln>
        </p:spPr>
        <p:txBody>
          <a:bodyPr/>
          <a:lstStyle/>
          <a:p>
            <a:endParaRPr lang="fr-CH"/>
          </a:p>
        </p:txBody>
      </p:sp>
      <p:sp>
        <p:nvSpPr>
          <p:cNvPr id="36" name="Shape 34"/>
          <p:cNvSpPr/>
          <p:nvPr/>
        </p:nvSpPr>
        <p:spPr>
          <a:xfrm flipH="1">
            <a:off x="1645920" y="2112264"/>
            <a:ext cx="502920" cy="1261872"/>
          </a:xfrm>
          <a:prstGeom prst="line">
            <a:avLst/>
          </a:prstGeom>
          <a:noFill/>
          <a:ln w="12700">
            <a:solidFill>
              <a:srgbClr val="E2E8F0"/>
            </a:solidFill>
            <a:prstDash val="solid"/>
          </a:ln>
        </p:spPr>
        <p:txBody>
          <a:bodyPr/>
          <a:lstStyle/>
          <a:p>
            <a:endParaRPr lang="fr-CH"/>
          </a:p>
        </p:txBody>
      </p:sp>
      <p:sp>
        <p:nvSpPr>
          <p:cNvPr id="37" name="Shape 35"/>
          <p:cNvSpPr/>
          <p:nvPr/>
        </p:nvSpPr>
        <p:spPr>
          <a:xfrm>
            <a:off x="2148840" y="2112264"/>
            <a:ext cx="914" cy="1261872"/>
          </a:xfrm>
          <a:prstGeom prst="line">
            <a:avLst/>
          </a:prstGeom>
          <a:noFill/>
          <a:ln w="12700">
            <a:solidFill>
              <a:srgbClr val="E2E8F0"/>
            </a:solidFill>
            <a:prstDash val="solid"/>
          </a:ln>
        </p:spPr>
        <p:txBody>
          <a:bodyPr/>
          <a:lstStyle/>
          <a:p>
            <a:endParaRPr lang="fr-CH"/>
          </a:p>
        </p:txBody>
      </p:sp>
      <p:sp>
        <p:nvSpPr>
          <p:cNvPr id="38" name="Shape 36"/>
          <p:cNvSpPr/>
          <p:nvPr/>
        </p:nvSpPr>
        <p:spPr>
          <a:xfrm>
            <a:off x="2148840" y="2112264"/>
            <a:ext cx="502920" cy="1261872"/>
          </a:xfrm>
          <a:prstGeom prst="line">
            <a:avLst/>
          </a:prstGeom>
          <a:noFill/>
          <a:ln w="12700">
            <a:solidFill>
              <a:srgbClr val="E2E8F0"/>
            </a:solidFill>
            <a:prstDash val="solid"/>
          </a:ln>
        </p:spPr>
        <p:txBody>
          <a:bodyPr/>
          <a:lstStyle/>
          <a:p>
            <a:endParaRPr lang="fr-CH"/>
          </a:p>
        </p:txBody>
      </p:sp>
      <p:sp>
        <p:nvSpPr>
          <p:cNvPr id="39" name="Shape 37"/>
          <p:cNvSpPr/>
          <p:nvPr/>
        </p:nvSpPr>
        <p:spPr>
          <a:xfrm flipH="1">
            <a:off x="2148840" y="2112264"/>
            <a:ext cx="502920" cy="1261872"/>
          </a:xfrm>
          <a:prstGeom prst="line">
            <a:avLst/>
          </a:prstGeom>
          <a:noFill/>
          <a:ln w="12700">
            <a:solidFill>
              <a:srgbClr val="E2E8F0"/>
            </a:solidFill>
            <a:prstDash val="solid"/>
          </a:ln>
        </p:spPr>
        <p:txBody>
          <a:bodyPr/>
          <a:lstStyle/>
          <a:p>
            <a:endParaRPr lang="fr-CH"/>
          </a:p>
        </p:txBody>
      </p:sp>
      <p:sp>
        <p:nvSpPr>
          <p:cNvPr id="40" name="Shape 38"/>
          <p:cNvSpPr/>
          <p:nvPr/>
        </p:nvSpPr>
        <p:spPr>
          <a:xfrm>
            <a:off x="2651760" y="2112264"/>
            <a:ext cx="914" cy="1261872"/>
          </a:xfrm>
          <a:prstGeom prst="line">
            <a:avLst/>
          </a:prstGeom>
          <a:noFill/>
          <a:ln w="12700">
            <a:solidFill>
              <a:srgbClr val="E2E8F0"/>
            </a:solidFill>
            <a:prstDash val="solid"/>
          </a:ln>
        </p:spPr>
        <p:txBody>
          <a:bodyPr/>
          <a:lstStyle/>
          <a:p>
            <a:endParaRPr lang="fr-CH"/>
          </a:p>
        </p:txBody>
      </p:sp>
      <p:sp>
        <p:nvSpPr>
          <p:cNvPr id="41" name="Shape 39"/>
          <p:cNvSpPr/>
          <p:nvPr/>
        </p:nvSpPr>
        <p:spPr>
          <a:xfrm>
            <a:off x="2651760" y="2112264"/>
            <a:ext cx="502920" cy="1261872"/>
          </a:xfrm>
          <a:prstGeom prst="line">
            <a:avLst/>
          </a:prstGeom>
          <a:noFill/>
          <a:ln w="12700">
            <a:solidFill>
              <a:srgbClr val="E2E8F0"/>
            </a:solidFill>
            <a:prstDash val="solid"/>
          </a:ln>
        </p:spPr>
        <p:txBody>
          <a:bodyPr/>
          <a:lstStyle/>
          <a:p>
            <a:endParaRPr lang="fr-CH"/>
          </a:p>
        </p:txBody>
      </p:sp>
      <p:sp>
        <p:nvSpPr>
          <p:cNvPr id="42" name="Shape 40"/>
          <p:cNvSpPr/>
          <p:nvPr/>
        </p:nvSpPr>
        <p:spPr>
          <a:xfrm flipH="1">
            <a:off x="2651760" y="2112264"/>
            <a:ext cx="502920" cy="1261872"/>
          </a:xfrm>
          <a:prstGeom prst="line">
            <a:avLst/>
          </a:prstGeom>
          <a:noFill/>
          <a:ln w="12700">
            <a:solidFill>
              <a:srgbClr val="E2E8F0"/>
            </a:solidFill>
            <a:prstDash val="solid"/>
          </a:ln>
        </p:spPr>
        <p:txBody>
          <a:bodyPr/>
          <a:lstStyle/>
          <a:p>
            <a:endParaRPr lang="fr-CH"/>
          </a:p>
        </p:txBody>
      </p:sp>
      <p:sp>
        <p:nvSpPr>
          <p:cNvPr id="43" name="Shape 41"/>
          <p:cNvSpPr/>
          <p:nvPr/>
        </p:nvSpPr>
        <p:spPr>
          <a:xfrm>
            <a:off x="3154680" y="2112264"/>
            <a:ext cx="914" cy="1261872"/>
          </a:xfrm>
          <a:prstGeom prst="line">
            <a:avLst/>
          </a:prstGeom>
          <a:noFill/>
          <a:ln w="12700">
            <a:solidFill>
              <a:srgbClr val="E2E8F0"/>
            </a:solidFill>
            <a:prstDash val="solid"/>
          </a:ln>
        </p:spPr>
        <p:txBody>
          <a:bodyPr/>
          <a:lstStyle/>
          <a:p>
            <a:endParaRPr lang="fr-CH"/>
          </a:p>
        </p:txBody>
      </p:sp>
      <p:sp>
        <p:nvSpPr>
          <p:cNvPr id="44" name="Shape 42"/>
          <p:cNvSpPr/>
          <p:nvPr/>
        </p:nvSpPr>
        <p:spPr>
          <a:xfrm>
            <a:off x="3154680" y="2112264"/>
            <a:ext cx="502920" cy="1261872"/>
          </a:xfrm>
          <a:prstGeom prst="line">
            <a:avLst/>
          </a:prstGeom>
          <a:noFill/>
          <a:ln w="12700">
            <a:solidFill>
              <a:srgbClr val="E2E8F0"/>
            </a:solidFill>
            <a:prstDash val="solid"/>
          </a:ln>
        </p:spPr>
        <p:txBody>
          <a:bodyPr/>
          <a:lstStyle/>
          <a:p>
            <a:endParaRPr lang="fr-CH"/>
          </a:p>
        </p:txBody>
      </p:sp>
      <p:sp>
        <p:nvSpPr>
          <p:cNvPr id="45" name="Shape 43"/>
          <p:cNvSpPr/>
          <p:nvPr/>
        </p:nvSpPr>
        <p:spPr>
          <a:xfrm flipH="1">
            <a:off x="3154680" y="2112264"/>
            <a:ext cx="502920" cy="1261872"/>
          </a:xfrm>
          <a:prstGeom prst="line">
            <a:avLst/>
          </a:prstGeom>
          <a:noFill/>
          <a:ln w="12700">
            <a:solidFill>
              <a:srgbClr val="E2E8F0"/>
            </a:solidFill>
            <a:prstDash val="solid"/>
          </a:ln>
        </p:spPr>
        <p:txBody>
          <a:bodyPr/>
          <a:lstStyle/>
          <a:p>
            <a:endParaRPr lang="fr-CH"/>
          </a:p>
        </p:txBody>
      </p:sp>
      <p:sp>
        <p:nvSpPr>
          <p:cNvPr id="46" name="Shape 44"/>
          <p:cNvSpPr/>
          <p:nvPr/>
        </p:nvSpPr>
        <p:spPr>
          <a:xfrm>
            <a:off x="3657600" y="2112264"/>
            <a:ext cx="914" cy="1261872"/>
          </a:xfrm>
          <a:prstGeom prst="line">
            <a:avLst/>
          </a:prstGeom>
          <a:noFill/>
          <a:ln w="12700">
            <a:solidFill>
              <a:srgbClr val="E2E8F0"/>
            </a:solidFill>
            <a:prstDash val="solid"/>
          </a:ln>
        </p:spPr>
        <p:txBody>
          <a:bodyPr/>
          <a:lstStyle/>
          <a:p>
            <a:endParaRPr lang="fr-CH"/>
          </a:p>
        </p:txBody>
      </p:sp>
      <p:sp>
        <p:nvSpPr>
          <p:cNvPr id="47" name="Text 45"/>
          <p:cNvSpPr/>
          <p:nvPr/>
        </p:nvSpPr>
        <p:spPr>
          <a:xfrm>
            <a:off x="3611880" y="3337560"/>
            <a:ext cx="640080" cy="36576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Input</a:t>
            </a:r>
            <a:endParaRPr lang="en-US" sz="800" dirty="0"/>
          </a:p>
          <a:p>
            <a:pPr marL="0" indent="0">
              <a:buNone/>
            </a:pPr>
            <a:r>
              <a:rPr lang="en-US" sz="800" dirty="0">
                <a:solidFill>
                  <a:srgbClr val="64748B"/>
                </a:solidFill>
                <a:latin typeface="Calibri" pitchFamily="34" charset="0"/>
                <a:ea typeface="Calibri" pitchFamily="34" charset="-122"/>
                <a:cs typeface="Calibri" pitchFamily="34" charset="-120"/>
              </a:rPr>
              <a:t>positions</a:t>
            </a:r>
            <a:endParaRPr lang="en-US" sz="800" dirty="0"/>
          </a:p>
        </p:txBody>
      </p:sp>
      <p:sp>
        <p:nvSpPr>
          <p:cNvPr id="48" name="Text 46"/>
          <p:cNvSpPr/>
          <p:nvPr/>
        </p:nvSpPr>
        <p:spPr>
          <a:xfrm>
            <a:off x="3611880" y="1783080"/>
            <a:ext cx="640080" cy="36576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Output</a:t>
            </a:r>
            <a:endParaRPr lang="en-US" sz="800" dirty="0"/>
          </a:p>
          <a:p>
            <a:pPr marL="0" indent="0">
              <a:buNone/>
            </a:pPr>
            <a:r>
              <a:rPr lang="en-US" sz="800" dirty="0">
                <a:solidFill>
                  <a:srgbClr val="64748B"/>
                </a:solidFill>
                <a:latin typeface="Calibri" pitchFamily="34" charset="0"/>
                <a:ea typeface="Calibri" pitchFamily="34" charset="-122"/>
                <a:cs typeface="Calibri" pitchFamily="34" charset="-120"/>
              </a:rPr>
              <a:t>nodes</a:t>
            </a:r>
            <a:endParaRPr lang="en-US" sz="800" dirty="0"/>
          </a:p>
        </p:txBody>
      </p:sp>
      <p:sp>
        <p:nvSpPr>
          <p:cNvPr id="49" name="Shape 47"/>
          <p:cNvSpPr/>
          <p:nvPr/>
        </p:nvSpPr>
        <p:spPr>
          <a:xfrm>
            <a:off x="484632" y="2286000"/>
            <a:ext cx="1783080" cy="777240"/>
          </a:xfrm>
          <a:prstGeom prst="rect">
            <a:avLst/>
          </a:prstGeom>
          <a:solidFill>
            <a:srgbClr val="FFFFFF">
              <a:alpha val="85000"/>
            </a:srgbClr>
          </a:solidFill>
          <a:ln/>
        </p:spPr>
        <p:txBody>
          <a:bodyPr/>
          <a:lstStyle/>
          <a:p>
            <a:endParaRPr lang="fr-CH"/>
          </a:p>
        </p:txBody>
      </p:sp>
      <p:sp>
        <p:nvSpPr>
          <p:cNvPr id="50" name="Text 48"/>
          <p:cNvSpPr/>
          <p:nvPr/>
        </p:nvSpPr>
        <p:spPr>
          <a:xfrm>
            <a:off x="548640" y="2331720"/>
            <a:ext cx="1691640" cy="73152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Each node only sees its close</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neighbours. A node at position 1</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cannot directly influence the</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output at position 7.</a:t>
            </a:r>
            <a:endParaRPr lang="en-US" sz="1000" dirty="0"/>
          </a:p>
        </p:txBody>
      </p:sp>
      <p:sp>
        <p:nvSpPr>
          <p:cNvPr id="51" name="Shape 49"/>
          <p:cNvSpPr/>
          <p:nvPr/>
        </p:nvSpPr>
        <p:spPr>
          <a:xfrm>
            <a:off x="4800600" y="1188720"/>
            <a:ext cx="3977640" cy="3063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52" name="Shape 50"/>
          <p:cNvSpPr/>
          <p:nvPr/>
        </p:nvSpPr>
        <p:spPr>
          <a:xfrm>
            <a:off x="4800600" y="1188720"/>
            <a:ext cx="3977640" cy="384048"/>
          </a:xfrm>
          <a:prstGeom prst="rect">
            <a:avLst/>
          </a:prstGeom>
          <a:solidFill>
            <a:srgbClr val="0D9488"/>
          </a:solidFill>
          <a:ln/>
        </p:spPr>
        <p:txBody>
          <a:bodyPr/>
          <a:lstStyle/>
          <a:p>
            <a:endParaRPr lang="fr-CH"/>
          </a:p>
        </p:txBody>
      </p:sp>
      <p:sp>
        <p:nvSpPr>
          <p:cNvPr id="53" name="Text 51"/>
          <p:cNvSpPr/>
          <p:nvPr/>
        </p:nvSpPr>
        <p:spPr>
          <a:xfrm>
            <a:off x="4937760" y="1216152"/>
            <a:ext cx="3703320" cy="320040"/>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With Attention — Every Node Connects to All</a:t>
            </a:r>
            <a:endParaRPr lang="en-US" sz="1200" dirty="0"/>
          </a:p>
        </p:txBody>
      </p:sp>
      <p:sp>
        <p:nvSpPr>
          <p:cNvPr id="54" name="Shape 52"/>
          <p:cNvSpPr/>
          <p:nvPr/>
        </p:nvSpPr>
        <p:spPr>
          <a:xfrm>
            <a:off x="4928616" y="3374136"/>
            <a:ext cx="292608" cy="292608"/>
          </a:xfrm>
          <a:prstGeom prst="ellipse">
            <a:avLst/>
          </a:prstGeom>
          <a:solidFill>
            <a:srgbClr val="EA580C"/>
          </a:solidFill>
          <a:ln/>
        </p:spPr>
        <p:txBody>
          <a:bodyPr/>
          <a:lstStyle/>
          <a:p>
            <a:endParaRPr lang="fr-CH"/>
          </a:p>
        </p:txBody>
      </p:sp>
      <p:sp>
        <p:nvSpPr>
          <p:cNvPr id="55" name="Text 53"/>
          <p:cNvSpPr/>
          <p:nvPr/>
        </p:nvSpPr>
        <p:spPr>
          <a:xfrm>
            <a:off x="480060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1</a:t>
            </a:r>
            <a:endParaRPr lang="en-US" sz="750" dirty="0"/>
          </a:p>
        </p:txBody>
      </p:sp>
      <p:sp>
        <p:nvSpPr>
          <p:cNvPr id="56" name="Shape 54"/>
          <p:cNvSpPr/>
          <p:nvPr/>
        </p:nvSpPr>
        <p:spPr>
          <a:xfrm>
            <a:off x="5431536" y="3374136"/>
            <a:ext cx="292608" cy="292608"/>
          </a:xfrm>
          <a:prstGeom prst="ellipse">
            <a:avLst/>
          </a:prstGeom>
          <a:solidFill>
            <a:srgbClr val="EA580C"/>
          </a:solidFill>
          <a:ln/>
        </p:spPr>
        <p:txBody>
          <a:bodyPr/>
          <a:lstStyle/>
          <a:p>
            <a:endParaRPr lang="fr-CH"/>
          </a:p>
        </p:txBody>
      </p:sp>
      <p:sp>
        <p:nvSpPr>
          <p:cNvPr id="57" name="Text 55"/>
          <p:cNvSpPr/>
          <p:nvPr/>
        </p:nvSpPr>
        <p:spPr>
          <a:xfrm>
            <a:off x="530352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2</a:t>
            </a:r>
            <a:endParaRPr lang="en-US" sz="750" dirty="0"/>
          </a:p>
        </p:txBody>
      </p:sp>
      <p:sp>
        <p:nvSpPr>
          <p:cNvPr id="58" name="Shape 56"/>
          <p:cNvSpPr/>
          <p:nvPr/>
        </p:nvSpPr>
        <p:spPr>
          <a:xfrm>
            <a:off x="5934456" y="3374136"/>
            <a:ext cx="292608" cy="292608"/>
          </a:xfrm>
          <a:prstGeom prst="ellipse">
            <a:avLst/>
          </a:prstGeom>
          <a:solidFill>
            <a:srgbClr val="EA580C"/>
          </a:solidFill>
          <a:ln/>
        </p:spPr>
        <p:txBody>
          <a:bodyPr/>
          <a:lstStyle/>
          <a:p>
            <a:endParaRPr lang="fr-CH"/>
          </a:p>
        </p:txBody>
      </p:sp>
      <p:sp>
        <p:nvSpPr>
          <p:cNvPr id="59" name="Text 57"/>
          <p:cNvSpPr/>
          <p:nvPr/>
        </p:nvSpPr>
        <p:spPr>
          <a:xfrm>
            <a:off x="580644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3</a:t>
            </a:r>
            <a:endParaRPr lang="en-US" sz="750" dirty="0"/>
          </a:p>
        </p:txBody>
      </p:sp>
      <p:sp>
        <p:nvSpPr>
          <p:cNvPr id="60" name="Shape 58"/>
          <p:cNvSpPr/>
          <p:nvPr/>
        </p:nvSpPr>
        <p:spPr>
          <a:xfrm>
            <a:off x="6437376" y="3374136"/>
            <a:ext cx="292608" cy="292608"/>
          </a:xfrm>
          <a:prstGeom prst="ellipse">
            <a:avLst/>
          </a:prstGeom>
          <a:solidFill>
            <a:srgbClr val="EA580C"/>
          </a:solidFill>
          <a:ln/>
        </p:spPr>
        <p:txBody>
          <a:bodyPr/>
          <a:lstStyle/>
          <a:p>
            <a:endParaRPr lang="fr-CH"/>
          </a:p>
        </p:txBody>
      </p:sp>
      <p:sp>
        <p:nvSpPr>
          <p:cNvPr id="61" name="Text 59"/>
          <p:cNvSpPr/>
          <p:nvPr/>
        </p:nvSpPr>
        <p:spPr>
          <a:xfrm>
            <a:off x="630936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4</a:t>
            </a:r>
            <a:endParaRPr lang="en-US" sz="750" dirty="0"/>
          </a:p>
        </p:txBody>
      </p:sp>
      <p:sp>
        <p:nvSpPr>
          <p:cNvPr id="62" name="Shape 60"/>
          <p:cNvSpPr/>
          <p:nvPr/>
        </p:nvSpPr>
        <p:spPr>
          <a:xfrm>
            <a:off x="6940296" y="3374136"/>
            <a:ext cx="292608" cy="292608"/>
          </a:xfrm>
          <a:prstGeom prst="ellipse">
            <a:avLst/>
          </a:prstGeom>
          <a:solidFill>
            <a:srgbClr val="EA580C"/>
          </a:solidFill>
          <a:ln/>
        </p:spPr>
        <p:txBody>
          <a:bodyPr/>
          <a:lstStyle/>
          <a:p>
            <a:endParaRPr lang="fr-CH"/>
          </a:p>
        </p:txBody>
      </p:sp>
      <p:sp>
        <p:nvSpPr>
          <p:cNvPr id="63" name="Text 61"/>
          <p:cNvSpPr/>
          <p:nvPr/>
        </p:nvSpPr>
        <p:spPr>
          <a:xfrm>
            <a:off x="681228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5</a:t>
            </a:r>
            <a:endParaRPr lang="en-US" sz="750" dirty="0"/>
          </a:p>
        </p:txBody>
      </p:sp>
      <p:sp>
        <p:nvSpPr>
          <p:cNvPr id="64" name="Shape 62"/>
          <p:cNvSpPr/>
          <p:nvPr/>
        </p:nvSpPr>
        <p:spPr>
          <a:xfrm>
            <a:off x="7443216" y="3374136"/>
            <a:ext cx="292608" cy="292608"/>
          </a:xfrm>
          <a:prstGeom prst="ellipse">
            <a:avLst/>
          </a:prstGeom>
          <a:solidFill>
            <a:srgbClr val="EA580C"/>
          </a:solidFill>
          <a:ln/>
        </p:spPr>
        <p:txBody>
          <a:bodyPr/>
          <a:lstStyle/>
          <a:p>
            <a:endParaRPr lang="fr-CH"/>
          </a:p>
        </p:txBody>
      </p:sp>
      <p:sp>
        <p:nvSpPr>
          <p:cNvPr id="65" name="Text 63"/>
          <p:cNvSpPr/>
          <p:nvPr/>
        </p:nvSpPr>
        <p:spPr>
          <a:xfrm>
            <a:off x="731520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6</a:t>
            </a:r>
            <a:endParaRPr lang="en-US" sz="750" dirty="0"/>
          </a:p>
        </p:txBody>
      </p:sp>
      <p:sp>
        <p:nvSpPr>
          <p:cNvPr id="66" name="Shape 64"/>
          <p:cNvSpPr/>
          <p:nvPr/>
        </p:nvSpPr>
        <p:spPr>
          <a:xfrm>
            <a:off x="7946136" y="3374136"/>
            <a:ext cx="292608" cy="292608"/>
          </a:xfrm>
          <a:prstGeom prst="ellipse">
            <a:avLst/>
          </a:prstGeom>
          <a:solidFill>
            <a:srgbClr val="EA580C"/>
          </a:solidFill>
          <a:ln/>
        </p:spPr>
        <p:txBody>
          <a:bodyPr/>
          <a:lstStyle/>
          <a:p>
            <a:endParaRPr lang="fr-CH"/>
          </a:p>
        </p:txBody>
      </p:sp>
      <p:sp>
        <p:nvSpPr>
          <p:cNvPr id="67" name="Text 65"/>
          <p:cNvSpPr/>
          <p:nvPr/>
        </p:nvSpPr>
        <p:spPr>
          <a:xfrm>
            <a:off x="7818120" y="3685032"/>
            <a:ext cx="548640" cy="201168"/>
          </a:xfrm>
          <a:prstGeom prst="rect">
            <a:avLst/>
          </a:prstGeom>
          <a:noFill/>
          <a:ln/>
        </p:spPr>
        <p:txBody>
          <a:bodyPr wrap="square" lIns="0" tIns="0" rIns="0" bIns="0" rtlCol="0" anchor="ctr"/>
          <a:lstStyle/>
          <a:p>
            <a:pPr marL="0" indent="0" algn="ctr">
              <a:buNone/>
            </a:pPr>
            <a:r>
              <a:rPr lang="en-US" sz="750" dirty="0">
                <a:solidFill>
                  <a:srgbClr val="EA580C"/>
                </a:solidFill>
                <a:latin typeface="Calibri" pitchFamily="34" charset="0"/>
                <a:ea typeface="Calibri" pitchFamily="34" charset="-122"/>
                <a:cs typeface="Calibri" pitchFamily="34" charset="-120"/>
              </a:rPr>
              <a:t>pos 7</a:t>
            </a:r>
            <a:endParaRPr lang="en-US" sz="750" dirty="0"/>
          </a:p>
        </p:txBody>
      </p:sp>
      <p:sp>
        <p:nvSpPr>
          <p:cNvPr id="68" name="Shape 66"/>
          <p:cNvSpPr/>
          <p:nvPr/>
        </p:nvSpPr>
        <p:spPr>
          <a:xfrm>
            <a:off x="4928616" y="1819656"/>
            <a:ext cx="292608" cy="292608"/>
          </a:xfrm>
          <a:prstGeom prst="ellipse">
            <a:avLst/>
          </a:prstGeom>
          <a:solidFill>
            <a:srgbClr val="334155"/>
          </a:solidFill>
          <a:ln/>
        </p:spPr>
        <p:txBody>
          <a:bodyPr/>
          <a:lstStyle/>
          <a:p>
            <a:endParaRPr lang="fr-CH"/>
          </a:p>
        </p:txBody>
      </p:sp>
      <p:sp>
        <p:nvSpPr>
          <p:cNvPr id="69" name="Shape 67"/>
          <p:cNvSpPr/>
          <p:nvPr/>
        </p:nvSpPr>
        <p:spPr>
          <a:xfrm>
            <a:off x="5431536" y="1819656"/>
            <a:ext cx="292608" cy="292608"/>
          </a:xfrm>
          <a:prstGeom prst="ellipse">
            <a:avLst/>
          </a:prstGeom>
          <a:solidFill>
            <a:srgbClr val="334155"/>
          </a:solidFill>
          <a:ln/>
        </p:spPr>
        <p:txBody>
          <a:bodyPr/>
          <a:lstStyle/>
          <a:p>
            <a:endParaRPr lang="fr-CH"/>
          </a:p>
        </p:txBody>
      </p:sp>
      <p:sp>
        <p:nvSpPr>
          <p:cNvPr id="70" name="Shape 68"/>
          <p:cNvSpPr/>
          <p:nvPr/>
        </p:nvSpPr>
        <p:spPr>
          <a:xfrm>
            <a:off x="5934456" y="1819656"/>
            <a:ext cx="292608" cy="292608"/>
          </a:xfrm>
          <a:prstGeom prst="ellipse">
            <a:avLst/>
          </a:prstGeom>
          <a:solidFill>
            <a:srgbClr val="334155"/>
          </a:solidFill>
          <a:ln/>
        </p:spPr>
        <p:txBody>
          <a:bodyPr/>
          <a:lstStyle/>
          <a:p>
            <a:endParaRPr lang="fr-CH"/>
          </a:p>
        </p:txBody>
      </p:sp>
      <p:sp>
        <p:nvSpPr>
          <p:cNvPr id="71" name="Shape 69"/>
          <p:cNvSpPr/>
          <p:nvPr/>
        </p:nvSpPr>
        <p:spPr>
          <a:xfrm>
            <a:off x="6437376" y="1819656"/>
            <a:ext cx="292608" cy="292608"/>
          </a:xfrm>
          <a:prstGeom prst="ellipse">
            <a:avLst/>
          </a:prstGeom>
          <a:solidFill>
            <a:srgbClr val="334155"/>
          </a:solidFill>
          <a:ln/>
        </p:spPr>
        <p:txBody>
          <a:bodyPr/>
          <a:lstStyle/>
          <a:p>
            <a:endParaRPr lang="fr-CH"/>
          </a:p>
        </p:txBody>
      </p:sp>
      <p:sp>
        <p:nvSpPr>
          <p:cNvPr id="72" name="Shape 70"/>
          <p:cNvSpPr/>
          <p:nvPr/>
        </p:nvSpPr>
        <p:spPr>
          <a:xfrm>
            <a:off x="6940296" y="1819656"/>
            <a:ext cx="292608" cy="292608"/>
          </a:xfrm>
          <a:prstGeom prst="ellipse">
            <a:avLst/>
          </a:prstGeom>
          <a:solidFill>
            <a:srgbClr val="334155"/>
          </a:solidFill>
          <a:ln/>
        </p:spPr>
        <p:txBody>
          <a:bodyPr/>
          <a:lstStyle/>
          <a:p>
            <a:endParaRPr lang="fr-CH"/>
          </a:p>
        </p:txBody>
      </p:sp>
      <p:sp>
        <p:nvSpPr>
          <p:cNvPr id="73" name="Shape 71"/>
          <p:cNvSpPr/>
          <p:nvPr/>
        </p:nvSpPr>
        <p:spPr>
          <a:xfrm>
            <a:off x="7443216" y="1819656"/>
            <a:ext cx="292608" cy="292608"/>
          </a:xfrm>
          <a:prstGeom prst="ellipse">
            <a:avLst/>
          </a:prstGeom>
          <a:solidFill>
            <a:srgbClr val="334155"/>
          </a:solidFill>
          <a:ln/>
        </p:spPr>
        <p:txBody>
          <a:bodyPr/>
          <a:lstStyle/>
          <a:p>
            <a:endParaRPr lang="fr-CH"/>
          </a:p>
        </p:txBody>
      </p:sp>
      <p:sp>
        <p:nvSpPr>
          <p:cNvPr id="74" name="Shape 72"/>
          <p:cNvSpPr/>
          <p:nvPr/>
        </p:nvSpPr>
        <p:spPr>
          <a:xfrm>
            <a:off x="7946136" y="1819656"/>
            <a:ext cx="292608" cy="292608"/>
          </a:xfrm>
          <a:prstGeom prst="ellipse">
            <a:avLst/>
          </a:prstGeom>
          <a:solidFill>
            <a:srgbClr val="334155"/>
          </a:solidFill>
          <a:ln/>
        </p:spPr>
        <p:txBody>
          <a:bodyPr/>
          <a:lstStyle/>
          <a:p>
            <a:endParaRPr lang="fr-CH"/>
          </a:p>
        </p:txBody>
      </p:sp>
      <p:sp>
        <p:nvSpPr>
          <p:cNvPr id="75" name="Shape 73"/>
          <p:cNvSpPr/>
          <p:nvPr/>
        </p:nvSpPr>
        <p:spPr>
          <a:xfrm>
            <a:off x="5074920" y="2112264"/>
            <a:ext cx="914" cy="1261872"/>
          </a:xfrm>
          <a:prstGeom prst="line">
            <a:avLst/>
          </a:prstGeom>
          <a:noFill/>
          <a:ln w="6350">
            <a:solidFill>
              <a:srgbClr val="E2E8F0"/>
            </a:solidFill>
            <a:prstDash val="solid"/>
          </a:ln>
        </p:spPr>
        <p:txBody>
          <a:bodyPr/>
          <a:lstStyle/>
          <a:p>
            <a:endParaRPr lang="fr-CH"/>
          </a:p>
        </p:txBody>
      </p:sp>
      <p:sp>
        <p:nvSpPr>
          <p:cNvPr id="76" name="Shape 74"/>
          <p:cNvSpPr/>
          <p:nvPr/>
        </p:nvSpPr>
        <p:spPr>
          <a:xfrm>
            <a:off x="5074920" y="2112264"/>
            <a:ext cx="502920" cy="1261872"/>
          </a:xfrm>
          <a:prstGeom prst="line">
            <a:avLst/>
          </a:prstGeom>
          <a:noFill/>
          <a:ln w="6350">
            <a:solidFill>
              <a:srgbClr val="E2E8F0"/>
            </a:solidFill>
            <a:prstDash val="solid"/>
          </a:ln>
        </p:spPr>
        <p:txBody>
          <a:bodyPr/>
          <a:lstStyle/>
          <a:p>
            <a:endParaRPr lang="fr-CH"/>
          </a:p>
        </p:txBody>
      </p:sp>
      <p:sp>
        <p:nvSpPr>
          <p:cNvPr id="77" name="Shape 75"/>
          <p:cNvSpPr/>
          <p:nvPr/>
        </p:nvSpPr>
        <p:spPr>
          <a:xfrm>
            <a:off x="5074920" y="2112264"/>
            <a:ext cx="1005840" cy="1261872"/>
          </a:xfrm>
          <a:prstGeom prst="line">
            <a:avLst/>
          </a:prstGeom>
          <a:noFill/>
          <a:ln w="6350">
            <a:solidFill>
              <a:srgbClr val="E2E8F0"/>
            </a:solidFill>
            <a:prstDash val="solid"/>
          </a:ln>
        </p:spPr>
        <p:txBody>
          <a:bodyPr/>
          <a:lstStyle/>
          <a:p>
            <a:endParaRPr lang="fr-CH"/>
          </a:p>
        </p:txBody>
      </p:sp>
      <p:sp>
        <p:nvSpPr>
          <p:cNvPr id="78" name="Shape 76"/>
          <p:cNvSpPr/>
          <p:nvPr/>
        </p:nvSpPr>
        <p:spPr>
          <a:xfrm>
            <a:off x="5074920" y="2112264"/>
            <a:ext cx="1508760" cy="1261872"/>
          </a:xfrm>
          <a:prstGeom prst="line">
            <a:avLst/>
          </a:prstGeom>
          <a:noFill/>
          <a:ln w="6350">
            <a:solidFill>
              <a:srgbClr val="E2E8F0"/>
            </a:solidFill>
            <a:prstDash val="solid"/>
          </a:ln>
        </p:spPr>
        <p:txBody>
          <a:bodyPr/>
          <a:lstStyle/>
          <a:p>
            <a:endParaRPr lang="fr-CH"/>
          </a:p>
        </p:txBody>
      </p:sp>
      <p:sp>
        <p:nvSpPr>
          <p:cNvPr id="79" name="Shape 77"/>
          <p:cNvSpPr/>
          <p:nvPr/>
        </p:nvSpPr>
        <p:spPr>
          <a:xfrm>
            <a:off x="5074920" y="2112264"/>
            <a:ext cx="2011680" cy="1261872"/>
          </a:xfrm>
          <a:prstGeom prst="line">
            <a:avLst/>
          </a:prstGeom>
          <a:noFill/>
          <a:ln w="6350">
            <a:solidFill>
              <a:srgbClr val="E2E8F0"/>
            </a:solidFill>
            <a:prstDash val="solid"/>
          </a:ln>
        </p:spPr>
        <p:txBody>
          <a:bodyPr/>
          <a:lstStyle/>
          <a:p>
            <a:endParaRPr lang="fr-CH"/>
          </a:p>
        </p:txBody>
      </p:sp>
      <p:sp>
        <p:nvSpPr>
          <p:cNvPr id="80" name="Shape 78"/>
          <p:cNvSpPr/>
          <p:nvPr/>
        </p:nvSpPr>
        <p:spPr>
          <a:xfrm>
            <a:off x="5074920" y="2112264"/>
            <a:ext cx="2514600" cy="1261872"/>
          </a:xfrm>
          <a:prstGeom prst="line">
            <a:avLst/>
          </a:prstGeom>
          <a:noFill/>
          <a:ln w="6350">
            <a:solidFill>
              <a:srgbClr val="E2E8F0"/>
            </a:solidFill>
            <a:prstDash val="solid"/>
          </a:ln>
        </p:spPr>
        <p:txBody>
          <a:bodyPr/>
          <a:lstStyle/>
          <a:p>
            <a:endParaRPr lang="fr-CH"/>
          </a:p>
        </p:txBody>
      </p:sp>
      <p:sp>
        <p:nvSpPr>
          <p:cNvPr id="81" name="Shape 79"/>
          <p:cNvSpPr/>
          <p:nvPr/>
        </p:nvSpPr>
        <p:spPr>
          <a:xfrm>
            <a:off x="5074920" y="2112264"/>
            <a:ext cx="3017520" cy="1261872"/>
          </a:xfrm>
          <a:prstGeom prst="line">
            <a:avLst/>
          </a:prstGeom>
          <a:noFill/>
          <a:ln w="25400">
            <a:solidFill>
              <a:srgbClr val="0D9488"/>
            </a:solidFill>
            <a:prstDash val="solid"/>
          </a:ln>
        </p:spPr>
        <p:txBody>
          <a:bodyPr/>
          <a:lstStyle/>
          <a:p>
            <a:endParaRPr lang="fr-CH"/>
          </a:p>
        </p:txBody>
      </p:sp>
      <p:sp>
        <p:nvSpPr>
          <p:cNvPr id="82" name="Shape 80"/>
          <p:cNvSpPr/>
          <p:nvPr/>
        </p:nvSpPr>
        <p:spPr>
          <a:xfrm flipH="1">
            <a:off x="5074920" y="2112264"/>
            <a:ext cx="502920" cy="1261872"/>
          </a:xfrm>
          <a:prstGeom prst="line">
            <a:avLst/>
          </a:prstGeom>
          <a:noFill/>
          <a:ln w="6350">
            <a:solidFill>
              <a:srgbClr val="E2E8F0"/>
            </a:solidFill>
            <a:prstDash val="solid"/>
          </a:ln>
        </p:spPr>
        <p:txBody>
          <a:bodyPr/>
          <a:lstStyle/>
          <a:p>
            <a:endParaRPr lang="fr-CH"/>
          </a:p>
        </p:txBody>
      </p:sp>
      <p:sp>
        <p:nvSpPr>
          <p:cNvPr id="83" name="Shape 81"/>
          <p:cNvSpPr/>
          <p:nvPr/>
        </p:nvSpPr>
        <p:spPr>
          <a:xfrm>
            <a:off x="5577840" y="2112264"/>
            <a:ext cx="914" cy="1261872"/>
          </a:xfrm>
          <a:prstGeom prst="line">
            <a:avLst/>
          </a:prstGeom>
          <a:noFill/>
          <a:ln w="6350">
            <a:solidFill>
              <a:srgbClr val="E2E8F0"/>
            </a:solidFill>
            <a:prstDash val="solid"/>
          </a:ln>
        </p:spPr>
        <p:txBody>
          <a:bodyPr/>
          <a:lstStyle/>
          <a:p>
            <a:endParaRPr lang="fr-CH"/>
          </a:p>
        </p:txBody>
      </p:sp>
      <p:sp>
        <p:nvSpPr>
          <p:cNvPr id="84" name="Shape 82"/>
          <p:cNvSpPr/>
          <p:nvPr/>
        </p:nvSpPr>
        <p:spPr>
          <a:xfrm>
            <a:off x="5577840" y="2112264"/>
            <a:ext cx="502920" cy="1261872"/>
          </a:xfrm>
          <a:prstGeom prst="line">
            <a:avLst/>
          </a:prstGeom>
          <a:noFill/>
          <a:ln w="6350">
            <a:solidFill>
              <a:srgbClr val="E2E8F0"/>
            </a:solidFill>
            <a:prstDash val="solid"/>
          </a:ln>
        </p:spPr>
        <p:txBody>
          <a:bodyPr/>
          <a:lstStyle/>
          <a:p>
            <a:endParaRPr lang="fr-CH"/>
          </a:p>
        </p:txBody>
      </p:sp>
      <p:sp>
        <p:nvSpPr>
          <p:cNvPr id="85" name="Shape 83"/>
          <p:cNvSpPr/>
          <p:nvPr/>
        </p:nvSpPr>
        <p:spPr>
          <a:xfrm>
            <a:off x="5577840" y="2112264"/>
            <a:ext cx="1005840" cy="1261872"/>
          </a:xfrm>
          <a:prstGeom prst="line">
            <a:avLst/>
          </a:prstGeom>
          <a:noFill/>
          <a:ln w="6350">
            <a:solidFill>
              <a:srgbClr val="E2E8F0"/>
            </a:solidFill>
            <a:prstDash val="solid"/>
          </a:ln>
        </p:spPr>
        <p:txBody>
          <a:bodyPr/>
          <a:lstStyle/>
          <a:p>
            <a:endParaRPr lang="fr-CH"/>
          </a:p>
        </p:txBody>
      </p:sp>
      <p:sp>
        <p:nvSpPr>
          <p:cNvPr id="86" name="Shape 84"/>
          <p:cNvSpPr/>
          <p:nvPr/>
        </p:nvSpPr>
        <p:spPr>
          <a:xfrm>
            <a:off x="5577840" y="2112264"/>
            <a:ext cx="1508760" cy="1261872"/>
          </a:xfrm>
          <a:prstGeom prst="line">
            <a:avLst/>
          </a:prstGeom>
          <a:noFill/>
          <a:ln w="6350">
            <a:solidFill>
              <a:srgbClr val="E2E8F0"/>
            </a:solidFill>
            <a:prstDash val="solid"/>
          </a:ln>
        </p:spPr>
        <p:txBody>
          <a:bodyPr/>
          <a:lstStyle/>
          <a:p>
            <a:endParaRPr lang="fr-CH"/>
          </a:p>
        </p:txBody>
      </p:sp>
      <p:sp>
        <p:nvSpPr>
          <p:cNvPr id="87" name="Shape 85"/>
          <p:cNvSpPr/>
          <p:nvPr/>
        </p:nvSpPr>
        <p:spPr>
          <a:xfrm>
            <a:off x="5577840" y="2112264"/>
            <a:ext cx="2011680" cy="1261872"/>
          </a:xfrm>
          <a:prstGeom prst="line">
            <a:avLst/>
          </a:prstGeom>
          <a:noFill/>
          <a:ln w="6350">
            <a:solidFill>
              <a:srgbClr val="E2E8F0"/>
            </a:solidFill>
            <a:prstDash val="solid"/>
          </a:ln>
        </p:spPr>
        <p:txBody>
          <a:bodyPr/>
          <a:lstStyle/>
          <a:p>
            <a:endParaRPr lang="fr-CH"/>
          </a:p>
        </p:txBody>
      </p:sp>
      <p:sp>
        <p:nvSpPr>
          <p:cNvPr id="88" name="Shape 86"/>
          <p:cNvSpPr/>
          <p:nvPr/>
        </p:nvSpPr>
        <p:spPr>
          <a:xfrm>
            <a:off x="5577840" y="2112264"/>
            <a:ext cx="2514600" cy="1261872"/>
          </a:xfrm>
          <a:prstGeom prst="line">
            <a:avLst/>
          </a:prstGeom>
          <a:noFill/>
          <a:ln w="6350">
            <a:solidFill>
              <a:srgbClr val="E2E8F0"/>
            </a:solidFill>
            <a:prstDash val="solid"/>
          </a:ln>
        </p:spPr>
        <p:txBody>
          <a:bodyPr/>
          <a:lstStyle/>
          <a:p>
            <a:endParaRPr lang="fr-CH"/>
          </a:p>
        </p:txBody>
      </p:sp>
      <p:sp>
        <p:nvSpPr>
          <p:cNvPr id="89" name="Shape 87"/>
          <p:cNvSpPr/>
          <p:nvPr/>
        </p:nvSpPr>
        <p:spPr>
          <a:xfrm flipH="1">
            <a:off x="5074920" y="2112264"/>
            <a:ext cx="1005840" cy="1261872"/>
          </a:xfrm>
          <a:prstGeom prst="line">
            <a:avLst/>
          </a:prstGeom>
          <a:noFill/>
          <a:ln w="6350">
            <a:solidFill>
              <a:srgbClr val="E2E8F0"/>
            </a:solidFill>
            <a:prstDash val="solid"/>
          </a:ln>
        </p:spPr>
        <p:txBody>
          <a:bodyPr/>
          <a:lstStyle/>
          <a:p>
            <a:endParaRPr lang="fr-CH"/>
          </a:p>
        </p:txBody>
      </p:sp>
      <p:sp>
        <p:nvSpPr>
          <p:cNvPr id="90" name="Shape 88"/>
          <p:cNvSpPr/>
          <p:nvPr/>
        </p:nvSpPr>
        <p:spPr>
          <a:xfrm flipH="1">
            <a:off x="5577840" y="2112264"/>
            <a:ext cx="502920" cy="1261872"/>
          </a:xfrm>
          <a:prstGeom prst="line">
            <a:avLst/>
          </a:prstGeom>
          <a:noFill/>
          <a:ln w="6350">
            <a:solidFill>
              <a:srgbClr val="E2E8F0"/>
            </a:solidFill>
            <a:prstDash val="solid"/>
          </a:ln>
        </p:spPr>
        <p:txBody>
          <a:bodyPr/>
          <a:lstStyle/>
          <a:p>
            <a:endParaRPr lang="fr-CH"/>
          </a:p>
        </p:txBody>
      </p:sp>
      <p:sp>
        <p:nvSpPr>
          <p:cNvPr id="91" name="Shape 89"/>
          <p:cNvSpPr/>
          <p:nvPr/>
        </p:nvSpPr>
        <p:spPr>
          <a:xfrm>
            <a:off x="6080760" y="2112264"/>
            <a:ext cx="914" cy="1261872"/>
          </a:xfrm>
          <a:prstGeom prst="line">
            <a:avLst/>
          </a:prstGeom>
          <a:noFill/>
          <a:ln w="6350">
            <a:solidFill>
              <a:srgbClr val="E2E8F0"/>
            </a:solidFill>
            <a:prstDash val="solid"/>
          </a:ln>
        </p:spPr>
        <p:txBody>
          <a:bodyPr/>
          <a:lstStyle/>
          <a:p>
            <a:endParaRPr lang="fr-CH"/>
          </a:p>
        </p:txBody>
      </p:sp>
      <p:sp>
        <p:nvSpPr>
          <p:cNvPr id="92" name="Shape 90"/>
          <p:cNvSpPr/>
          <p:nvPr/>
        </p:nvSpPr>
        <p:spPr>
          <a:xfrm>
            <a:off x="6080760" y="2112264"/>
            <a:ext cx="502920" cy="1261872"/>
          </a:xfrm>
          <a:prstGeom prst="line">
            <a:avLst/>
          </a:prstGeom>
          <a:noFill/>
          <a:ln w="6350">
            <a:solidFill>
              <a:srgbClr val="E2E8F0"/>
            </a:solidFill>
            <a:prstDash val="solid"/>
          </a:ln>
        </p:spPr>
        <p:txBody>
          <a:bodyPr/>
          <a:lstStyle/>
          <a:p>
            <a:endParaRPr lang="fr-CH"/>
          </a:p>
        </p:txBody>
      </p:sp>
      <p:sp>
        <p:nvSpPr>
          <p:cNvPr id="93" name="Shape 91"/>
          <p:cNvSpPr/>
          <p:nvPr/>
        </p:nvSpPr>
        <p:spPr>
          <a:xfrm>
            <a:off x="6080760" y="2112264"/>
            <a:ext cx="1005840" cy="1261872"/>
          </a:xfrm>
          <a:prstGeom prst="line">
            <a:avLst/>
          </a:prstGeom>
          <a:noFill/>
          <a:ln w="6350">
            <a:solidFill>
              <a:srgbClr val="E2E8F0"/>
            </a:solidFill>
            <a:prstDash val="solid"/>
          </a:ln>
        </p:spPr>
        <p:txBody>
          <a:bodyPr/>
          <a:lstStyle/>
          <a:p>
            <a:endParaRPr lang="fr-CH"/>
          </a:p>
        </p:txBody>
      </p:sp>
      <p:sp>
        <p:nvSpPr>
          <p:cNvPr id="94" name="Shape 92"/>
          <p:cNvSpPr/>
          <p:nvPr/>
        </p:nvSpPr>
        <p:spPr>
          <a:xfrm>
            <a:off x="6080760" y="2112264"/>
            <a:ext cx="1508760" cy="1261872"/>
          </a:xfrm>
          <a:prstGeom prst="line">
            <a:avLst/>
          </a:prstGeom>
          <a:noFill/>
          <a:ln w="6350">
            <a:solidFill>
              <a:srgbClr val="E2E8F0"/>
            </a:solidFill>
            <a:prstDash val="solid"/>
          </a:ln>
        </p:spPr>
        <p:txBody>
          <a:bodyPr/>
          <a:lstStyle/>
          <a:p>
            <a:endParaRPr lang="fr-CH"/>
          </a:p>
        </p:txBody>
      </p:sp>
      <p:sp>
        <p:nvSpPr>
          <p:cNvPr id="95" name="Shape 93"/>
          <p:cNvSpPr/>
          <p:nvPr/>
        </p:nvSpPr>
        <p:spPr>
          <a:xfrm>
            <a:off x="6080760" y="2112264"/>
            <a:ext cx="2011680" cy="1261872"/>
          </a:xfrm>
          <a:prstGeom prst="line">
            <a:avLst/>
          </a:prstGeom>
          <a:noFill/>
          <a:ln w="6350">
            <a:solidFill>
              <a:srgbClr val="E2E8F0"/>
            </a:solidFill>
            <a:prstDash val="solid"/>
          </a:ln>
        </p:spPr>
        <p:txBody>
          <a:bodyPr/>
          <a:lstStyle/>
          <a:p>
            <a:endParaRPr lang="fr-CH"/>
          </a:p>
        </p:txBody>
      </p:sp>
      <p:sp>
        <p:nvSpPr>
          <p:cNvPr id="96" name="Shape 94"/>
          <p:cNvSpPr/>
          <p:nvPr/>
        </p:nvSpPr>
        <p:spPr>
          <a:xfrm flipH="1">
            <a:off x="5074920" y="2112264"/>
            <a:ext cx="1508760" cy="1261872"/>
          </a:xfrm>
          <a:prstGeom prst="line">
            <a:avLst/>
          </a:prstGeom>
          <a:noFill/>
          <a:ln w="6350">
            <a:solidFill>
              <a:srgbClr val="E2E8F0"/>
            </a:solidFill>
            <a:prstDash val="solid"/>
          </a:ln>
        </p:spPr>
        <p:txBody>
          <a:bodyPr/>
          <a:lstStyle/>
          <a:p>
            <a:endParaRPr lang="fr-CH"/>
          </a:p>
        </p:txBody>
      </p:sp>
      <p:sp>
        <p:nvSpPr>
          <p:cNvPr id="97" name="Shape 95"/>
          <p:cNvSpPr/>
          <p:nvPr/>
        </p:nvSpPr>
        <p:spPr>
          <a:xfrm flipH="1">
            <a:off x="5577840" y="2112264"/>
            <a:ext cx="1005840" cy="1261872"/>
          </a:xfrm>
          <a:prstGeom prst="line">
            <a:avLst/>
          </a:prstGeom>
          <a:noFill/>
          <a:ln w="6350">
            <a:solidFill>
              <a:srgbClr val="E2E8F0"/>
            </a:solidFill>
            <a:prstDash val="solid"/>
          </a:ln>
        </p:spPr>
        <p:txBody>
          <a:bodyPr/>
          <a:lstStyle/>
          <a:p>
            <a:endParaRPr lang="fr-CH"/>
          </a:p>
        </p:txBody>
      </p:sp>
      <p:sp>
        <p:nvSpPr>
          <p:cNvPr id="98" name="Shape 96"/>
          <p:cNvSpPr/>
          <p:nvPr/>
        </p:nvSpPr>
        <p:spPr>
          <a:xfrm flipH="1">
            <a:off x="6080760" y="2112264"/>
            <a:ext cx="502920" cy="1261872"/>
          </a:xfrm>
          <a:prstGeom prst="line">
            <a:avLst/>
          </a:prstGeom>
          <a:noFill/>
          <a:ln w="6350">
            <a:solidFill>
              <a:srgbClr val="E2E8F0"/>
            </a:solidFill>
            <a:prstDash val="solid"/>
          </a:ln>
        </p:spPr>
        <p:txBody>
          <a:bodyPr/>
          <a:lstStyle/>
          <a:p>
            <a:endParaRPr lang="fr-CH"/>
          </a:p>
        </p:txBody>
      </p:sp>
      <p:sp>
        <p:nvSpPr>
          <p:cNvPr id="99" name="Shape 97"/>
          <p:cNvSpPr/>
          <p:nvPr/>
        </p:nvSpPr>
        <p:spPr>
          <a:xfrm>
            <a:off x="6583680" y="2112264"/>
            <a:ext cx="914" cy="1261872"/>
          </a:xfrm>
          <a:prstGeom prst="line">
            <a:avLst/>
          </a:prstGeom>
          <a:noFill/>
          <a:ln w="6350">
            <a:solidFill>
              <a:srgbClr val="E2E8F0"/>
            </a:solidFill>
            <a:prstDash val="solid"/>
          </a:ln>
        </p:spPr>
        <p:txBody>
          <a:bodyPr/>
          <a:lstStyle/>
          <a:p>
            <a:endParaRPr lang="fr-CH"/>
          </a:p>
        </p:txBody>
      </p:sp>
      <p:sp>
        <p:nvSpPr>
          <p:cNvPr id="100" name="Shape 98"/>
          <p:cNvSpPr/>
          <p:nvPr/>
        </p:nvSpPr>
        <p:spPr>
          <a:xfrm>
            <a:off x="6583680" y="2112264"/>
            <a:ext cx="502920" cy="1261872"/>
          </a:xfrm>
          <a:prstGeom prst="line">
            <a:avLst/>
          </a:prstGeom>
          <a:noFill/>
          <a:ln w="6350">
            <a:solidFill>
              <a:srgbClr val="E2E8F0"/>
            </a:solidFill>
            <a:prstDash val="solid"/>
          </a:ln>
        </p:spPr>
        <p:txBody>
          <a:bodyPr/>
          <a:lstStyle/>
          <a:p>
            <a:endParaRPr lang="fr-CH"/>
          </a:p>
        </p:txBody>
      </p:sp>
      <p:sp>
        <p:nvSpPr>
          <p:cNvPr id="101" name="Shape 99"/>
          <p:cNvSpPr/>
          <p:nvPr/>
        </p:nvSpPr>
        <p:spPr>
          <a:xfrm>
            <a:off x="6583680" y="2112264"/>
            <a:ext cx="1005840" cy="1261872"/>
          </a:xfrm>
          <a:prstGeom prst="line">
            <a:avLst/>
          </a:prstGeom>
          <a:noFill/>
          <a:ln w="6350">
            <a:solidFill>
              <a:srgbClr val="E2E8F0"/>
            </a:solidFill>
            <a:prstDash val="solid"/>
          </a:ln>
        </p:spPr>
        <p:txBody>
          <a:bodyPr/>
          <a:lstStyle/>
          <a:p>
            <a:endParaRPr lang="fr-CH"/>
          </a:p>
        </p:txBody>
      </p:sp>
      <p:sp>
        <p:nvSpPr>
          <p:cNvPr id="102" name="Shape 100"/>
          <p:cNvSpPr/>
          <p:nvPr/>
        </p:nvSpPr>
        <p:spPr>
          <a:xfrm>
            <a:off x="6583680" y="2112264"/>
            <a:ext cx="1508760" cy="1261872"/>
          </a:xfrm>
          <a:prstGeom prst="line">
            <a:avLst/>
          </a:prstGeom>
          <a:noFill/>
          <a:ln w="6350">
            <a:solidFill>
              <a:srgbClr val="E2E8F0"/>
            </a:solidFill>
            <a:prstDash val="solid"/>
          </a:ln>
        </p:spPr>
        <p:txBody>
          <a:bodyPr/>
          <a:lstStyle/>
          <a:p>
            <a:endParaRPr lang="fr-CH"/>
          </a:p>
        </p:txBody>
      </p:sp>
      <p:sp>
        <p:nvSpPr>
          <p:cNvPr id="103" name="Shape 101"/>
          <p:cNvSpPr/>
          <p:nvPr/>
        </p:nvSpPr>
        <p:spPr>
          <a:xfrm flipH="1">
            <a:off x="5074920" y="2112264"/>
            <a:ext cx="2011680" cy="1261872"/>
          </a:xfrm>
          <a:prstGeom prst="line">
            <a:avLst/>
          </a:prstGeom>
          <a:noFill/>
          <a:ln w="6350">
            <a:solidFill>
              <a:srgbClr val="E2E8F0"/>
            </a:solidFill>
            <a:prstDash val="solid"/>
          </a:ln>
        </p:spPr>
        <p:txBody>
          <a:bodyPr/>
          <a:lstStyle/>
          <a:p>
            <a:endParaRPr lang="fr-CH"/>
          </a:p>
        </p:txBody>
      </p:sp>
      <p:sp>
        <p:nvSpPr>
          <p:cNvPr id="104" name="Shape 102"/>
          <p:cNvSpPr/>
          <p:nvPr/>
        </p:nvSpPr>
        <p:spPr>
          <a:xfrm flipH="1">
            <a:off x="5577840" y="2112264"/>
            <a:ext cx="1508760" cy="1261872"/>
          </a:xfrm>
          <a:prstGeom prst="line">
            <a:avLst/>
          </a:prstGeom>
          <a:noFill/>
          <a:ln w="6350">
            <a:solidFill>
              <a:srgbClr val="E2E8F0"/>
            </a:solidFill>
            <a:prstDash val="solid"/>
          </a:ln>
        </p:spPr>
        <p:txBody>
          <a:bodyPr/>
          <a:lstStyle/>
          <a:p>
            <a:endParaRPr lang="fr-CH"/>
          </a:p>
        </p:txBody>
      </p:sp>
      <p:sp>
        <p:nvSpPr>
          <p:cNvPr id="105" name="Shape 103"/>
          <p:cNvSpPr/>
          <p:nvPr/>
        </p:nvSpPr>
        <p:spPr>
          <a:xfrm flipH="1">
            <a:off x="6080760" y="2112264"/>
            <a:ext cx="1005840" cy="1261872"/>
          </a:xfrm>
          <a:prstGeom prst="line">
            <a:avLst/>
          </a:prstGeom>
          <a:noFill/>
          <a:ln w="6350">
            <a:solidFill>
              <a:srgbClr val="E2E8F0"/>
            </a:solidFill>
            <a:prstDash val="solid"/>
          </a:ln>
        </p:spPr>
        <p:txBody>
          <a:bodyPr/>
          <a:lstStyle/>
          <a:p>
            <a:endParaRPr lang="fr-CH"/>
          </a:p>
        </p:txBody>
      </p:sp>
      <p:sp>
        <p:nvSpPr>
          <p:cNvPr id="106" name="Shape 104"/>
          <p:cNvSpPr/>
          <p:nvPr/>
        </p:nvSpPr>
        <p:spPr>
          <a:xfrm flipH="1">
            <a:off x="6583680" y="2112264"/>
            <a:ext cx="502920" cy="1261872"/>
          </a:xfrm>
          <a:prstGeom prst="line">
            <a:avLst/>
          </a:prstGeom>
          <a:noFill/>
          <a:ln w="6350">
            <a:solidFill>
              <a:srgbClr val="E2E8F0"/>
            </a:solidFill>
            <a:prstDash val="solid"/>
          </a:ln>
        </p:spPr>
        <p:txBody>
          <a:bodyPr/>
          <a:lstStyle/>
          <a:p>
            <a:endParaRPr lang="fr-CH"/>
          </a:p>
        </p:txBody>
      </p:sp>
      <p:sp>
        <p:nvSpPr>
          <p:cNvPr id="107" name="Shape 105"/>
          <p:cNvSpPr/>
          <p:nvPr/>
        </p:nvSpPr>
        <p:spPr>
          <a:xfrm>
            <a:off x="7086600" y="2112264"/>
            <a:ext cx="914" cy="1261872"/>
          </a:xfrm>
          <a:prstGeom prst="line">
            <a:avLst/>
          </a:prstGeom>
          <a:noFill/>
          <a:ln w="6350">
            <a:solidFill>
              <a:srgbClr val="E2E8F0"/>
            </a:solidFill>
            <a:prstDash val="solid"/>
          </a:ln>
        </p:spPr>
        <p:txBody>
          <a:bodyPr/>
          <a:lstStyle/>
          <a:p>
            <a:endParaRPr lang="fr-CH"/>
          </a:p>
        </p:txBody>
      </p:sp>
      <p:sp>
        <p:nvSpPr>
          <p:cNvPr id="108" name="Shape 106"/>
          <p:cNvSpPr/>
          <p:nvPr/>
        </p:nvSpPr>
        <p:spPr>
          <a:xfrm>
            <a:off x="7086600" y="2112264"/>
            <a:ext cx="502920" cy="1261872"/>
          </a:xfrm>
          <a:prstGeom prst="line">
            <a:avLst/>
          </a:prstGeom>
          <a:noFill/>
          <a:ln w="6350">
            <a:solidFill>
              <a:srgbClr val="E2E8F0"/>
            </a:solidFill>
            <a:prstDash val="solid"/>
          </a:ln>
        </p:spPr>
        <p:txBody>
          <a:bodyPr/>
          <a:lstStyle/>
          <a:p>
            <a:endParaRPr lang="fr-CH"/>
          </a:p>
        </p:txBody>
      </p:sp>
      <p:sp>
        <p:nvSpPr>
          <p:cNvPr id="109" name="Shape 107"/>
          <p:cNvSpPr/>
          <p:nvPr/>
        </p:nvSpPr>
        <p:spPr>
          <a:xfrm>
            <a:off x="7086600" y="2112264"/>
            <a:ext cx="1005840" cy="1261872"/>
          </a:xfrm>
          <a:prstGeom prst="line">
            <a:avLst/>
          </a:prstGeom>
          <a:noFill/>
          <a:ln w="6350">
            <a:solidFill>
              <a:srgbClr val="E2E8F0"/>
            </a:solidFill>
            <a:prstDash val="solid"/>
          </a:ln>
        </p:spPr>
        <p:txBody>
          <a:bodyPr/>
          <a:lstStyle/>
          <a:p>
            <a:endParaRPr lang="fr-CH"/>
          </a:p>
        </p:txBody>
      </p:sp>
      <p:sp>
        <p:nvSpPr>
          <p:cNvPr id="110" name="Shape 108"/>
          <p:cNvSpPr/>
          <p:nvPr/>
        </p:nvSpPr>
        <p:spPr>
          <a:xfrm flipH="1">
            <a:off x="5074920" y="2112264"/>
            <a:ext cx="2514600" cy="1261872"/>
          </a:xfrm>
          <a:prstGeom prst="line">
            <a:avLst/>
          </a:prstGeom>
          <a:noFill/>
          <a:ln w="6350">
            <a:solidFill>
              <a:srgbClr val="E2E8F0"/>
            </a:solidFill>
            <a:prstDash val="solid"/>
          </a:ln>
        </p:spPr>
        <p:txBody>
          <a:bodyPr/>
          <a:lstStyle/>
          <a:p>
            <a:endParaRPr lang="fr-CH"/>
          </a:p>
        </p:txBody>
      </p:sp>
      <p:sp>
        <p:nvSpPr>
          <p:cNvPr id="111" name="Shape 109"/>
          <p:cNvSpPr/>
          <p:nvPr/>
        </p:nvSpPr>
        <p:spPr>
          <a:xfrm flipH="1">
            <a:off x="5577840" y="2112264"/>
            <a:ext cx="2011680" cy="1261872"/>
          </a:xfrm>
          <a:prstGeom prst="line">
            <a:avLst/>
          </a:prstGeom>
          <a:noFill/>
          <a:ln w="6350">
            <a:solidFill>
              <a:srgbClr val="E2E8F0"/>
            </a:solidFill>
            <a:prstDash val="solid"/>
          </a:ln>
        </p:spPr>
        <p:txBody>
          <a:bodyPr/>
          <a:lstStyle/>
          <a:p>
            <a:endParaRPr lang="fr-CH"/>
          </a:p>
        </p:txBody>
      </p:sp>
      <p:sp>
        <p:nvSpPr>
          <p:cNvPr id="112" name="Shape 110"/>
          <p:cNvSpPr/>
          <p:nvPr/>
        </p:nvSpPr>
        <p:spPr>
          <a:xfrm flipH="1">
            <a:off x="6080760" y="2112264"/>
            <a:ext cx="1508760" cy="1261872"/>
          </a:xfrm>
          <a:prstGeom prst="line">
            <a:avLst/>
          </a:prstGeom>
          <a:noFill/>
          <a:ln w="6350">
            <a:solidFill>
              <a:srgbClr val="E2E8F0"/>
            </a:solidFill>
            <a:prstDash val="solid"/>
          </a:ln>
        </p:spPr>
        <p:txBody>
          <a:bodyPr/>
          <a:lstStyle/>
          <a:p>
            <a:endParaRPr lang="fr-CH"/>
          </a:p>
        </p:txBody>
      </p:sp>
      <p:sp>
        <p:nvSpPr>
          <p:cNvPr id="113" name="Shape 111"/>
          <p:cNvSpPr/>
          <p:nvPr/>
        </p:nvSpPr>
        <p:spPr>
          <a:xfrm flipH="1">
            <a:off x="6583680" y="2112264"/>
            <a:ext cx="1005840" cy="1261872"/>
          </a:xfrm>
          <a:prstGeom prst="line">
            <a:avLst/>
          </a:prstGeom>
          <a:noFill/>
          <a:ln w="6350">
            <a:solidFill>
              <a:srgbClr val="E2E8F0"/>
            </a:solidFill>
            <a:prstDash val="solid"/>
          </a:ln>
        </p:spPr>
        <p:txBody>
          <a:bodyPr/>
          <a:lstStyle/>
          <a:p>
            <a:endParaRPr lang="fr-CH"/>
          </a:p>
        </p:txBody>
      </p:sp>
      <p:sp>
        <p:nvSpPr>
          <p:cNvPr id="114" name="Shape 112"/>
          <p:cNvSpPr/>
          <p:nvPr/>
        </p:nvSpPr>
        <p:spPr>
          <a:xfrm flipH="1">
            <a:off x="7086600" y="2112264"/>
            <a:ext cx="502920" cy="1261872"/>
          </a:xfrm>
          <a:prstGeom prst="line">
            <a:avLst/>
          </a:prstGeom>
          <a:noFill/>
          <a:ln w="6350">
            <a:solidFill>
              <a:srgbClr val="E2E8F0"/>
            </a:solidFill>
            <a:prstDash val="solid"/>
          </a:ln>
        </p:spPr>
        <p:txBody>
          <a:bodyPr/>
          <a:lstStyle/>
          <a:p>
            <a:endParaRPr lang="fr-CH"/>
          </a:p>
        </p:txBody>
      </p:sp>
      <p:sp>
        <p:nvSpPr>
          <p:cNvPr id="115" name="Shape 113"/>
          <p:cNvSpPr/>
          <p:nvPr/>
        </p:nvSpPr>
        <p:spPr>
          <a:xfrm>
            <a:off x="7589520" y="2112264"/>
            <a:ext cx="914" cy="1261872"/>
          </a:xfrm>
          <a:prstGeom prst="line">
            <a:avLst/>
          </a:prstGeom>
          <a:noFill/>
          <a:ln w="6350">
            <a:solidFill>
              <a:srgbClr val="E2E8F0"/>
            </a:solidFill>
            <a:prstDash val="solid"/>
          </a:ln>
        </p:spPr>
        <p:txBody>
          <a:bodyPr/>
          <a:lstStyle/>
          <a:p>
            <a:endParaRPr lang="fr-CH"/>
          </a:p>
        </p:txBody>
      </p:sp>
      <p:sp>
        <p:nvSpPr>
          <p:cNvPr id="116" name="Shape 114"/>
          <p:cNvSpPr/>
          <p:nvPr/>
        </p:nvSpPr>
        <p:spPr>
          <a:xfrm>
            <a:off x="7589520" y="2112264"/>
            <a:ext cx="502920" cy="1261872"/>
          </a:xfrm>
          <a:prstGeom prst="line">
            <a:avLst/>
          </a:prstGeom>
          <a:noFill/>
          <a:ln w="6350">
            <a:solidFill>
              <a:srgbClr val="E2E8F0"/>
            </a:solidFill>
            <a:prstDash val="solid"/>
          </a:ln>
        </p:spPr>
        <p:txBody>
          <a:bodyPr/>
          <a:lstStyle/>
          <a:p>
            <a:endParaRPr lang="fr-CH"/>
          </a:p>
        </p:txBody>
      </p:sp>
      <p:sp>
        <p:nvSpPr>
          <p:cNvPr id="117" name="Shape 115"/>
          <p:cNvSpPr/>
          <p:nvPr/>
        </p:nvSpPr>
        <p:spPr>
          <a:xfrm flipH="1">
            <a:off x="5074920" y="2112264"/>
            <a:ext cx="3017520" cy="1261872"/>
          </a:xfrm>
          <a:prstGeom prst="line">
            <a:avLst/>
          </a:prstGeom>
          <a:noFill/>
          <a:ln w="25400">
            <a:solidFill>
              <a:srgbClr val="0D9488"/>
            </a:solidFill>
            <a:prstDash val="solid"/>
          </a:ln>
        </p:spPr>
        <p:txBody>
          <a:bodyPr/>
          <a:lstStyle/>
          <a:p>
            <a:endParaRPr lang="fr-CH"/>
          </a:p>
        </p:txBody>
      </p:sp>
      <p:sp>
        <p:nvSpPr>
          <p:cNvPr id="118" name="Shape 116"/>
          <p:cNvSpPr/>
          <p:nvPr/>
        </p:nvSpPr>
        <p:spPr>
          <a:xfrm flipH="1">
            <a:off x="5577840" y="2112264"/>
            <a:ext cx="2514600" cy="1261872"/>
          </a:xfrm>
          <a:prstGeom prst="line">
            <a:avLst/>
          </a:prstGeom>
          <a:noFill/>
          <a:ln w="6350">
            <a:solidFill>
              <a:srgbClr val="E2E8F0"/>
            </a:solidFill>
            <a:prstDash val="solid"/>
          </a:ln>
        </p:spPr>
        <p:txBody>
          <a:bodyPr/>
          <a:lstStyle/>
          <a:p>
            <a:endParaRPr lang="fr-CH"/>
          </a:p>
        </p:txBody>
      </p:sp>
      <p:sp>
        <p:nvSpPr>
          <p:cNvPr id="119" name="Shape 117"/>
          <p:cNvSpPr/>
          <p:nvPr/>
        </p:nvSpPr>
        <p:spPr>
          <a:xfrm flipH="1">
            <a:off x="6080760" y="2112264"/>
            <a:ext cx="2011680" cy="1261872"/>
          </a:xfrm>
          <a:prstGeom prst="line">
            <a:avLst/>
          </a:prstGeom>
          <a:noFill/>
          <a:ln w="6350">
            <a:solidFill>
              <a:srgbClr val="E2E8F0"/>
            </a:solidFill>
            <a:prstDash val="solid"/>
          </a:ln>
        </p:spPr>
        <p:txBody>
          <a:bodyPr/>
          <a:lstStyle/>
          <a:p>
            <a:endParaRPr lang="fr-CH"/>
          </a:p>
        </p:txBody>
      </p:sp>
      <p:sp>
        <p:nvSpPr>
          <p:cNvPr id="120" name="Shape 118"/>
          <p:cNvSpPr/>
          <p:nvPr/>
        </p:nvSpPr>
        <p:spPr>
          <a:xfrm flipH="1">
            <a:off x="6583680" y="2112264"/>
            <a:ext cx="1508760" cy="1261872"/>
          </a:xfrm>
          <a:prstGeom prst="line">
            <a:avLst/>
          </a:prstGeom>
          <a:noFill/>
          <a:ln w="6350">
            <a:solidFill>
              <a:srgbClr val="E2E8F0"/>
            </a:solidFill>
            <a:prstDash val="solid"/>
          </a:ln>
        </p:spPr>
        <p:txBody>
          <a:bodyPr/>
          <a:lstStyle/>
          <a:p>
            <a:endParaRPr lang="fr-CH"/>
          </a:p>
        </p:txBody>
      </p:sp>
      <p:sp>
        <p:nvSpPr>
          <p:cNvPr id="121" name="Shape 119"/>
          <p:cNvSpPr/>
          <p:nvPr/>
        </p:nvSpPr>
        <p:spPr>
          <a:xfrm flipH="1">
            <a:off x="7086600" y="2112264"/>
            <a:ext cx="1005840" cy="1261872"/>
          </a:xfrm>
          <a:prstGeom prst="line">
            <a:avLst/>
          </a:prstGeom>
          <a:noFill/>
          <a:ln w="6350">
            <a:solidFill>
              <a:srgbClr val="E2E8F0"/>
            </a:solidFill>
            <a:prstDash val="solid"/>
          </a:ln>
        </p:spPr>
        <p:txBody>
          <a:bodyPr/>
          <a:lstStyle/>
          <a:p>
            <a:endParaRPr lang="fr-CH"/>
          </a:p>
        </p:txBody>
      </p:sp>
      <p:sp>
        <p:nvSpPr>
          <p:cNvPr id="122" name="Shape 120"/>
          <p:cNvSpPr/>
          <p:nvPr/>
        </p:nvSpPr>
        <p:spPr>
          <a:xfrm flipH="1">
            <a:off x="7589520" y="2112264"/>
            <a:ext cx="502920" cy="1261872"/>
          </a:xfrm>
          <a:prstGeom prst="line">
            <a:avLst/>
          </a:prstGeom>
          <a:noFill/>
          <a:ln w="6350">
            <a:solidFill>
              <a:srgbClr val="E2E8F0"/>
            </a:solidFill>
            <a:prstDash val="solid"/>
          </a:ln>
        </p:spPr>
        <p:txBody>
          <a:bodyPr/>
          <a:lstStyle/>
          <a:p>
            <a:endParaRPr lang="fr-CH"/>
          </a:p>
        </p:txBody>
      </p:sp>
      <p:sp>
        <p:nvSpPr>
          <p:cNvPr id="123" name="Shape 121"/>
          <p:cNvSpPr/>
          <p:nvPr/>
        </p:nvSpPr>
        <p:spPr>
          <a:xfrm>
            <a:off x="8092440" y="2112264"/>
            <a:ext cx="914" cy="1261872"/>
          </a:xfrm>
          <a:prstGeom prst="line">
            <a:avLst/>
          </a:prstGeom>
          <a:noFill/>
          <a:ln w="6350">
            <a:solidFill>
              <a:srgbClr val="E2E8F0"/>
            </a:solidFill>
            <a:prstDash val="solid"/>
          </a:ln>
        </p:spPr>
        <p:txBody>
          <a:bodyPr/>
          <a:lstStyle/>
          <a:p>
            <a:endParaRPr lang="fr-CH"/>
          </a:p>
        </p:txBody>
      </p:sp>
      <p:sp>
        <p:nvSpPr>
          <p:cNvPr id="124" name="Text 122"/>
          <p:cNvSpPr/>
          <p:nvPr/>
        </p:nvSpPr>
        <p:spPr>
          <a:xfrm>
            <a:off x="8046720" y="3337560"/>
            <a:ext cx="640080" cy="36576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Input</a:t>
            </a:r>
            <a:endParaRPr lang="en-US" sz="800" dirty="0"/>
          </a:p>
          <a:p>
            <a:pPr marL="0" indent="0">
              <a:buNone/>
            </a:pPr>
            <a:r>
              <a:rPr lang="en-US" sz="800" dirty="0">
                <a:solidFill>
                  <a:srgbClr val="64748B"/>
                </a:solidFill>
                <a:latin typeface="Calibri" pitchFamily="34" charset="0"/>
                <a:ea typeface="Calibri" pitchFamily="34" charset="-122"/>
                <a:cs typeface="Calibri" pitchFamily="34" charset="-120"/>
              </a:rPr>
              <a:t>positions</a:t>
            </a:r>
            <a:endParaRPr lang="en-US" sz="800" dirty="0"/>
          </a:p>
        </p:txBody>
      </p:sp>
      <p:sp>
        <p:nvSpPr>
          <p:cNvPr id="125" name="Text 123"/>
          <p:cNvSpPr/>
          <p:nvPr/>
        </p:nvSpPr>
        <p:spPr>
          <a:xfrm>
            <a:off x="8046720" y="1783080"/>
            <a:ext cx="640080" cy="365760"/>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Output</a:t>
            </a:r>
            <a:endParaRPr lang="en-US" sz="800" dirty="0"/>
          </a:p>
          <a:p>
            <a:pPr marL="0" indent="0">
              <a:buNone/>
            </a:pPr>
            <a:r>
              <a:rPr lang="en-US" sz="800" dirty="0">
                <a:solidFill>
                  <a:srgbClr val="64748B"/>
                </a:solidFill>
                <a:latin typeface="Calibri" pitchFamily="34" charset="0"/>
                <a:ea typeface="Calibri" pitchFamily="34" charset="-122"/>
                <a:cs typeface="Calibri" pitchFamily="34" charset="-120"/>
              </a:rPr>
              <a:t>nodes</a:t>
            </a:r>
            <a:endParaRPr lang="en-US" sz="800" dirty="0"/>
          </a:p>
        </p:txBody>
      </p:sp>
      <p:sp>
        <p:nvSpPr>
          <p:cNvPr id="126" name="Shape 124"/>
          <p:cNvSpPr/>
          <p:nvPr/>
        </p:nvSpPr>
        <p:spPr>
          <a:xfrm>
            <a:off x="4919472" y="2194560"/>
            <a:ext cx="1783080" cy="777240"/>
          </a:xfrm>
          <a:prstGeom prst="rect">
            <a:avLst/>
          </a:prstGeom>
          <a:solidFill>
            <a:srgbClr val="FFFFFF">
              <a:alpha val="85000"/>
            </a:srgbClr>
          </a:solidFill>
          <a:ln/>
        </p:spPr>
        <p:txBody>
          <a:bodyPr/>
          <a:lstStyle/>
          <a:p>
            <a:endParaRPr lang="fr-CH"/>
          </a:p>
        </p:txBody>
      </p:sp>
      <p:sp>
        <p:nvSpPr>
          <p:cNvPr id="127" name="Text 125"/>
          <p:cNvSpPr/>
          <p:nvPr/>
        </p:nvSpPr>
        <p:spPr>
          <a:xfrm>
            <a:off x="4983480" y="2240280"/>
            <a:ext cx="1691640" cy="73152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Every output node can draw</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on information from every</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input position. The model</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learns which connections</a:t>
            </a:r>
            <a:endParaRPr lang="en-US" sz="1000" dirty="0"/>
          </a:p>
          <a:p>
            <a:pPr marL="0" indent="0">
              <a:buNone/>
            </a:pPr>
            <a:r>
              <a:rPr lang="en-US" sz="1000" dirty="0">
                <a:solidFill>
                  <a:srgbClr val="334155"/>
                </a:solidFill>
                <a:latin typeface="Calibri" pitchFamily="34" charset="0"/>
                <a:ea typeface="Calibri" pitchFamily="34" charset="-122"/>
                <a:cs typeface="Calibri" pitchFamily="34" charset="-120"/>
              </a:rPr>
              <a:t>matter from the data.</a:t>
            </a:r>
            <a:endParaRPr lang="en-US" sz="1000" dirty="0"/>
          </a:p>
        </p:txBody>
      </p:sp>
      <p:sp>
        <p:nvSpPr>
          <p:cNvPr id="128" name="Shape 126"/>
          <p:cNvSpPr/>
          <p:nvPr/>
        </p:nvSpPr>
        <p:spPr>
          <a:xfrm>
            <a:off x="365760" y="4389120"/>
            <a:ext cx="8412480" cy="411480"/>
          </a:xfrm>
          <a:prstGeom prst="rect">
            <a:avLst/>
          </a:prstGeom>
          <a:solidFill>
            <a:srgbClr val="ECFDF5"/>
          </a:solidFill>
          <a:ln/>
        </p:spPr>
        <p:txBody>
          <a:bodyPr/>
          <a:lstStyle/>
          <a:p>
            <a:endParaRPr lang="fr-CH"/>
          </a:p>
        </p:txBody>
      </p:sp>
      <p:sp>
        <p:nvSpPr>
          <p:cNvPr id="129" name="Shape 127"/>
          <p:cNvSpPr/>
          <p:nvPr/>
        </p:nvSpPr>
        <p:spPr>
          <a:xfrm>
            <a:off x="365760" y="4389120"/>
            <a:ext cx="54864" cy="411480"/>
          </a:xfrm>
          <a:prstGeom prst="rect">
            <a:avLst/>
          </a:prstGeom>
          <a:solidFill>
            <a:srgbClr val="0D9488"/>
          </a:solidFill>
          <a:ln/>
        </p:spPr>
        <p:txBody>
          <a:bodyPr/>
          <a:lstStyle/>
          <a:p>
            <a:endParaRPr lang="fr-CH"/>
          </a:p>
        </p:txBody>
      </p:sp>
      <p:sp>
        <p:nvSpPr>
          <p:cNvPr id="130" name="Text 128"/>
          <p:cNvSpPr/>
          <p:nvPr/>
        </p:nvSpPr>
        <p:spPr>
          <a:xfrm>
            <a:off x="594360" y="4407408"/>
            <a:ext cx="8001000" cy="36576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 AlphaGenome, the 1 Mb input is split into chunks. The Transformer's attention lets nodes covering one chunk connect to nodes covering a distant chunk — so a regulatory element far from a gene can still influence the prediction at that gene.</a:t>
            </a:r>
            <a:endParaRPr lang="en-US" sz="1100" dirty="0"/>
          </a:p>
        </p:txBody>
      </p:sp>
      <p:sp>
        <p:nvSpPr>
          <p:cNvPr id="131" name="Text 129"/>
          <p:cNvSpPr/>
          <p:nvPr/>
        </p:nvSpPr>
        <p:spPr>
          <a:xfrm>
            <a:off x="457200" y="4754880"/>
            <a:ext cx="8229600" cy="27432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7E709-A857-0725-27FF-2353097DF3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D28E6ED-D7AE-D0E5-5387-01C26877DBCE}"/>
              </a:ext>
            </a:extLst>
          </p:cNvPr>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Model Architecture</a:t>
            </a:r>
            <a:endParaRPr lang="en-US" sz="3000" dirty="0"/>
          </a:p>
        </p:txBody>
      </p:sp>
      <p:sp>
        <p:nvSpPr>
          <p:cNvPr id="3" name="Shape 1">
            <a:extLst>
              <a:ext uri="{FF2B5EF4-FFF2-40B4-BE49-F238E27FC236}">
                <a16:creationId xmlns:a16="http://schemas.microsoft.com/office/drawing/2014/main" id="{C33B74D8-04D0-6089-F072-A06ACB6FC317}"/>
              </a:ext>
            </a:extLst>
          </p:cNvPr>
          <p:cNvSpPr/>
          <p:nvPr/>
        </p:nvSpPr>
        <p:spPr>
          <a:xfrm>
            <a:off x="457200" y="1143000"/>
            <a:ext cx="1645920" cy="914400"/>
          </a:xfrm>
          <a:prstGeom prst="rect">
            <a:avLst/>
          </a:prstGeom>
          <a:solidFill>
            <a:srgbClr val="1A252F"/>
          </a:solidFill>
          <a:ln/>
          <a:effectLst>
            <a:outerShdw blurRad="50800" dist="25400" dir="8100000" algn="bl" rotWithShape="0">
              <a:srgbClr val="000000">
                <a:alpha val="10000"/>
              </a:srgbClr>
            </a:outerShdw>
          </a:effectLst>
        </p:spPr>
        <p:txBody>
          <a:bodyPr/>
          <a:lstStyle/>
          <a:p>
            <a:endParaRPr lang="fr-CH"/>
          </a:p>
        </p:txBody>
      </p:sp>
      <p:sp>
        <p:nvSpPr>
          <p:cNvPr id="4" name="Text 2">
            <a:extLst>
              <a:ext uri="{FF2B5EF4-FFF2-40B4-BE49-F238E27FC236}">
                <a16:creationId xmlns:a16="http://schemas.microsoft.com/office/drawing/2014/main" id="{CDA993AB-5176-0621-50BE-50CC9E7086EF}"/>
              </a:ext>
            </a:extLst>
          </p:cNvPr>
          <p:cNvSpPr/>
          <p:nvPr/>
        </p:nvSpPr>
        <p:spPr>
          <a:xfrm>
            <a:off x="457200" y="1188720"/>
            <a:ext cx="1645920" cy="228600"/>
          </a:xfrm>
          <a:prstGeom prst="rect">
            <a:avLst/>
          </a:prstGeom>
          <a:noFill/>
          <a:ln/>
        </p:spPr>
        <p:txBody>
          <a:bodyPr wrap="square" rtlCol="0" anchor="ctr"/>
          <a:lstStyle/>
          <a:p>
            <a:pPr marL="0" indent="0" algn="ctr">
              <a:buNone/>
            </a:pPr>
            <a:r>
              <a:rPr lang="en-US" sz="900" b="1" kern="0" spc="200" dirty="0">
                <a:solidFill>
                  <a:srgbClr val="14B8A6"/>
                </a:solidFill>
                <a:latin typeface="Calibri" pitchFamily="34" charset="0"/>
                <a:ea typeface="Calibri" pitchFamily="34" charset="-122"/>
                <a:cs typeface="Calibri" pitchFamily="34" charset="-120"/>
              </a:rPr>
              <a:t>INPUT</a:t>
            </a:r>
            <a:endParaRPr lang="en-US" sz="900" dirty="0"/>
          </a:p>
        </p:txBody>
      </p:sp>
      <p:sp>
        <p:nvSpPr>
          <p:cNvPr id="5" name="Text 3">
            <a:extLst>
              <a:ext uri="{FF2B5EF4-FFF2-40B4-BE49-F238E27FC236}">
                <a16:creationId xmlns:a16="http://schemas.microsoft.com/office/drawing/2014/main" id="{B8A9D958-C668-5120-6A4F-8D28C6A1160F}"/>
              </a:ext>
            </a:extLst>
          </p:cNvPr>
          <p:cNvSpPr/>
          <p:nvPr/>
        </p:nvSpPr>
        <p:spPr>
          <a:xfrm>
            <a:off x="457200" y="1417320"/>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 Mb DNA</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sequence</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 species ID</a:t>
            </a:r>
            <a:endParaRPr lang="en-US" sz="1200" dirty="0"/>
          </a:p>
        </p:txBody>
      </p:sp>
      <p:sp>
        <p:nvSpPr>
          <p:cNvPr id="6" name="Text 4">
            <a:extLst>
              <a:ext uri="{FF2B5EF4-FFF2-40B4-BE49-F238E27FC236}">
                <a16:creationId xmlns:a16="http://schemas.microsoft.com/office/drawing/2014/main" id="{8F7617CA-17F0-969B-5FB9-469690CD70CC}"/>
              </a:ext>
            </a:extLst>
          </p:cNvPr>
          <p:cNvSpPr/>
          <p:nvPr/>
        </p:nvSpPr>
        <p:spPr>
          <a:xfrm>
            <a:off x="2148840" y="1325880"/>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7" name="Shape 5">
            <a:extLst>
              <a:ext uri="{FF2B5EF4-FFF2-40B4-BE49-F238E27FC236}">
                <a16:creationId xmlns:a16="http://schemas.microsoft.com/office/drawing/2014/main" id="{054C79A5-A713-D5B5-31D6-BBE00D569754}"/>
              </a:ext>
            </a:extLst>
          </p:cNvPr>
          <p:cNvSpPr/>
          <p:nvPr/>
        </p:nvSpPr>
        <p:spPr>
          <a:xfrm>
            <a:off x="2560320" y="1143000"/>
            <a:ext cx="1645920" cy="914400"/>
          </a:xfrm>
          <a:prstGeom prst="rect">
            <a:avLst/>
          </a:prstGeom>
          <a:solidFill>
            <a:srgbClr val="0D9488"/>
          </a:solidFill>
          <a:ln/>
          <a:effectLst>
            <a:outerShdw blurRad="50800" dist="25400" dir="8100000" algn="bl" rotWithShape="0">
              <a:srgbClr val="000000">
                <a:alpha val="10000"/>
              </a:srgbClr>
            </a:outerShdw>
          </a:effectLst>
        </p:spPr>
        <p:txBody>
          <a:bodyPr/>
          <a:lstStyle/>
          <a:p>
            <a:endParaRPr lang="fr-CH"/>
          </a:p>
        </p:txBody>
      </p:sp>
      <p:sp>
        <p:nvSpPr>
          <p:cNvPr id="8" name="Text 6">
            <a:extLst>
              <a:ext uri="{FF2B5EF4-FFF2-40B4-BE49-F238E27FC236}">
                <a16:creationId xmlns:a16="http://schemas.microsoft.com/office/drawing/2014/main" id="{10ECF809-3A90-DE8E-DF76-3262DF51253F}"/>
              </a:ext>
            </a:extLst>
          </p:cNvPr>
          <p:cNvSpPr/>
          <p:nvPr/>
        </p:nvSpPr>
        <p:spPr>
          <a:xfrm>
            <a:off x="2560320" y="1188720"/>
            <a:ext cx="1645920" cy="228600"/>
          </a:xfrm>
          <a:prstGeom prst="rect">
            <a:avLst/>
          </a:prstGeom>
          <a:noFill/>
          <a:ln/>
        </p:spPr>
        <p:txBody>
          <a:bodyPr wrap="square" rtlCol="0" anchor="ctr"/>
          <a:lstStyle/>
          <a:p>
            <a:pPr marL="0" indent="0" algn="ctr">
              <a:buNone/>
            </a:pPr>
            <a:r>
              <a:rPr lang="en-US" sz="900" b="1" kern="0" spc="200" dirty="0">
                <a:solidFill>
                  <a:srgbClr val="FFFFFF"/>
                </a:solidFill>
                <a:latin typeface="Calibri" pitchFamily="34" charset="0"/>
                <a:ea typeface="Calibri" pitchFamily="34" charset="-122"/>
                <a:cs typeface="Calibri" pitchFamily="34" charset="-120"/>
              </a:rPr>
              <a:t>ENCODER</a:t>
            </a:r>
            <a:endParaRPr lang="en-US" sz="900" dirty="0"/>
          </a:p>
        </p:txBody>
      </p:sp>
      <p:sp>
        <p:nvSpPr>
          <p:cNvPr id="9" name="Text 7">
            <a:extLst>
              <a:ext uri="{FF2B5EF4-FFF2-40B4-BE49-F238E27FC236}">
                <a16:creationId xmlns:a16="http://schemas.microsoft.com/office/drawing/2014/main" id="{86C160AD-BD17-E08D-78A1-A4A74F4DC010}"/>
              </a:ext>
            </a:extLst>
          </p:cNvPr>
          <p:cNvSpPr/>
          <p:nvPr/>
        </p:nvSpPr>
        <p:spPr>
          <a:xfrm>
            <a:off x="2560320" y="1417320"/>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U-Net</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downsampling</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131 kb chunks</a:t>
            </a:r>
            <a:endParaRPr lang="en-US" sz="1200" dirty="0"/>
          </a:p>
        </p:txBody>
      </p:sp>
      <p:sp>
        <p:nvSpPr>
          <p:cNvPr id="10" name="Text 8">
            <a:extLst>
              <a:ext uri="{FF2B5EF4-FFF2-40B4-BE49-F238E27FC236}">
                <a16:creationId xmlns:a16="http://schemas.microsoft.com/office/drawing/2014/main" id="{48DD45CA-CC08-4BBB-BC88-F1C6B3702EAB}"/>
              </a:ext>
            </a:extLst>
          </p:cNvPr>
          <p:cNvSpPr/>
          <p:nvPr/>
        </p:nvSpPr>
        <p:spPr>
          <a:xfrm rot="5400000">
            <a:off x="3200400" y="1968878"/>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11" name="Shape 9">
            <a:extLst>
              <a:ext uri="{FF2B5EF4-FFF2-40B4-BE49-F238E27FC236}">
                <a16:creationId xmlns:a16="http://schemas.microsoft.com/office/drawing/2014/main" id="{2B83BA0E-9099-A80C-FA83-4EA8BDE398E9}"/>
              </a:ext>
            </a:extLst>
          </p:cNvPr>
          <p:cNvSpPr/>
          <p:nvPr/>
        </p:nvSpPr>
        <p:spPr>
          <a:xfrm>
            <a:off x="2560320" y="2418296"/>
            <a:ext cx="1645920" cy="914400"/>
          </a:xfrm>
          <a:prstGeom prst="rect">
            <a:avLst/>
          </a:prstGeom>
          <a:solidFill>
            <a:srgbClr val="334155"/>
          </a:solidFill>
          <a:ln/>
          <a:effectLst>
            <a:outerShdw blurRad="50800" dist="25400" dir="8100000" algn="bl" rotWithShape="0">
              <a:srgbClr val="000000">
                <a:alpha val="10000"/>
              </a:srgbClr>
            </a:outerShdw>
          </a:effectLst>
        </p:spPr>
        <p:txBody>
          <a:bodyPr/>
          <a:lstStyle/>
          <a:p>
            <a:endParaRPr lang="fr-CH"/>
          </a:p>
        </p:txBody>
      </p:sp>
      <p:sp>
        <p:nvSpPr>
          <p:cNvPr id="12" name="Text 10">
            <a:extLst>
              <a:ext uri="{FF2B5EF4-FFF2-40B4-BE49-F238E27FC236}">
                <a16:creationId xmlns:a16="http://schemas.microsoft.com/office/drawing/2014/main" id="{EE557363-0821-718C-9276-2DA9B355FE09}"/>
              </a:ext>
            </a:extLst>
          </p:cNvPr>
          <p:cNvSpPr/>
          <p:nvPr/>
        </p:nvSpPr>
        <p:spPr>
          <a:xfrm>
            <a:off x="2560320" y="2464016"/>
            <a:ext cx="1645920" cy="228600"/>
          </a:xfrm>
          <a:prstGeom prst="rect">
            <a:avLst/>
          </a:prstGeom>
          <a:noFill/>
          <a:ln/>
        </p:spPr>
        <p:txBody>
          <a:bodyPr wrap="square" rtlCol="0" anchor="ctr"/>
          <a:lstStyle/>
          <a:p>
            <a:pPr marL="0" indent="0" algn="ctr">
              <a:buNone/>
            </a:pPr>
            <a:r>
              <a:rPr lang="en-US" sz="900" b="1" kern="0" spc="200" dirty="0">
                <a:solidFill>
                  <a:srgbClr val="5EEAD4"/>
                </a:solidFill>
                <a:latin typeface="Calibri" pitchFamily="34" charset="0"/>
                <a:ea typeface="Calibri" pitchFamily="34" charset="-122"/>
                <a:cs typeface="Calibri" pitchFamily="34" charset="-120"/>
              </a:rPr>
              <a:t>TRANSFORMER</a:t>
            </a:r>
            <a:endParaRPr lang="en-US" sz="900" dirty="0"/>
          </a:p>
        </p:txBody>
      </p:sp>
      <p:sp>
        <p:nvSpPr>
          <p:cNvPr id="13" name="Text 11">
            <a:extLst>
              <a:ext uri="{FF2B5EF4-FFF2-40B4-BE49-F238E27FC236}">
                <a16:creationId xmlns:a16="http://schemas.microsoft.com/office/drawing/2014/main" id="{6DCFDCCB-49DF-ED73-6AAB-1806A64D9D0F}"/>
              </a:ext>
            </a:extLst>
          </p:cNvPr>
          <p:cNvSpPr/>
          <p:nvPr/>
        </p:nvSpPr>
        <p:spPr>
          <a:xfrm>
            <a:off x="2560320" y="2692616"/>
            <a:ext cx="164592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Cross-device</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attention</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(long-range)</a:t>
            </a:r>
            <a:endParaRPr lang="en-US" sz="1200" dirty="0"/>
          </a:p>
        </p:txBody>
      </p:sp>
      <p:sp>
        <p:nvSpPr>
          <p:cNvPr id="14" name="Text 12">
            <a:extLst>
              <a:ext uri="{FF2B5EF4-FFF2-40B4-BE49-F238E27FC236}">
                <a16:creationId xmlns:a16="http://schemas.microsoft.com/office/drawing/2014/main" id="{03BC88D4-2CAA-68A0-AC93-55935EAC737C}"/>
              </a:ext>
            </a:extLst>
          </p:cNvPr>
          <p:cNvSpPr/>
          <p:nvPr/>
        </p:nvSpPr>
        <p:spPr>
          <a:xfrm flipV="1">
            <a:off x="2148840" y="2557888"/>
            <a:ext cx="365760" cy="457200"/>
          </a:xfrm>
          <a:prstGeom prst="rect">
            <a:avLst/>
          </a:prstGeom>
          <a:noFill/>
          <a:ln/>
        </p:spPr>
        <p:txBody>
          <a:bodyPr wrap="square" rtlCol="0" anchor="ctr"/>
          <a:lstStyle/>
          <a:p>
            <a:pPr marL="0" indent="0" algn="ctr">
              <a:buNone/>
            </a:pPr>
            <a:r>
              <a:rPr lang="en-US" sz="2400" dirty="0">
                <a:solidFill>
                  <a:srgbClr val="0D9488"/>
                </a:solidFill>
              </a:rPr>
              <a:t>→</a:t>
            </a:r>
            <a:endParaRPr lang="en-US" sz="2400" dirty="0"/>
          </a:p>
        </p:txBody>
      </p:sp>
      <p:sp>
        <p:nvSpPr>
          <p:cNvPr id="15" name="Shape 13">
            <a:extLst>
              <a:ext uri="{FF2B5EF4-FFF2-40B4-BE49-F238E27FC236}">
                <a16:creationId xmlns:a16="http://schemas.microsoft.com/office/drawing/2014/main" id="{5D1CFF0B-A748-1D9D-97E4-36F8B7195E8B}"/>
              </a:ext>
            </a:extLst>
          </p:cNvPr>
          <p:cNvSpPr/>
          <p:nvPr/>
        </p:nvSpPr>
        <p:spPr>
          <a:xfrm>
            <a:off x="228600" y="2418296"/>
            <a:ext cx="1920240" cy="914400"/>
          </a:xfrm>
          <a:prstGeom prst="rect">
            <a:avLst/>
          </a:prstGeom>
          <a:solidFill>
            <a:srgbClr val="0D9488"/>
          </a:solidFill>
          <a:ln/>
          <a:effectLst>
            <a:outerShdw blurRad="50800" dist="25400" dir="8100000" algn="bl" rotWithShape="0">
              <a:srgbClr val="000000">
                <a:alpha val="10000"/>
              </a:srgbClr>
            </a:outerShdw>
          </a:effectLst>
        </p:spPr>
        <p:txBody>
          <a:bodyPr/>
          <a:lstStyle/>
          <a:p>
            <a:endParaRPr lang="fr-CH"/>
          </a:p>
        </p:txBody>
      </p:sp>
      <p:sp>
        <p:nvSpPr>
          <p:cNvPr id="16" name="Text 14">
            <a:extLst>
              <a:ext uri="{FF2B5EF4-FFF2-40B4-BE49-F238E27FC236}">
                <a16:creationId xmlns:a16="http://schemas.microsoft.com/office/drawing/2014/main" id="{F257A562-830A-7679-042C-1D9A3C3F185A}"/>
              </a:ext>
            </a:extLst>
          </p:cNvPr>
          <p:cNvSpPr/>
          <p:nvPr/>
        </p:nvSpPr>
        <p:spPr>
          <a:xfrm>
            <a:off x="228600" y="2464016"/>
            <a:ext cx="1920240" cy="228600"/>
          </a:xfrm>
          <a:prstGeom prst="rect">
            <a:avLst/>
          </a:prstGeom>
          <a:noFill/>
          <a:ln/>
        </p:spPr>
        <p:txBody>
          <a:bodyPr wrap="square" rtlCol="0" anchor="ctr"/>
          <a:lstStyle/>
          <a:p>
            <a:pPr marL="0" indent="0" algn="ctr">
              <a:buNone/>
            </a:pPr>
            <a:r>
              <a:rPr lang="en-US" sz="900" b="1" kern="0" spc="200" dirty="0">
                <a:solidFill>
                  <a:srgbClr val="FFFFFF"/>
                </a:solidFill>
                <a:latin typeface="Calibri" pitchFamily="34" charset="0"/>
                <a:ea typeface="Calibri" pitchFamily="34" charset="-122"/>
                <a:cs typeface="Calibri" pitchFamily="34" charset="-120"/>
              </a:rPr>
              <a:t>DECODER + HEADS</a:t>
            </a:r>
            <a:endParaRPr lang="en-US" sz="900" dirty="0"/>
          </a:p>
        </p:txBody>
      </p:sp>
      <p:sp>
        <p:nvSpPr>
          <p:cNvPr id="17" name="Text 15">
            <a:extLst>
              <a:ext uri="{FF2B5EF4-FFF2-40B4-BE49-F238E27FC236}">
                <a16:creationId xmlns:a16="http://schemas.microsoft.com/office/drawing/2014/main" id="{B7FFEF72-723A-E9F9-4A90-C17DB77444BE}"/>
              </a:ext>
            </a:extLst>
          </p:cNvPr>
          <p:cNvSpPr/>
          <p:nvPr/>
        </p:nvSpPr>
        <p:spPr>
          <a:xfrm>
            <a:off x="228600" y="2692616"/>
            <a:ext cx="1920240" cy="5943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U-Net upsampling</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 task-specific</a:t>
            </a:r>
            <a:endParaRPr lang="en-US" sz="1200" dirty="0"/>
          </a:p>
          <a:p>
            <a:pPr marL="0" indent="0" algn="ctr">
              <a:buNone/>
            </a:pPr>
            <a:r>
              <a:rPr lang="en-US" sz="1200" dirty="0">
                <a:solidFill>
                  <a:srgbClr val="FFFFFF"/>
                </a:solidFill>
                <a:latin typeface="Calibri" pitchFamily="34" charset="0"/>
                <a:ea typeface="Calibri" pitchFamily="34" charset="-122"/>
                <a:cs typeface="Calibri" pitchFamily="34" charset="-120"/>
              </a:rPr>
              <a:t>output heads</a:t>
            </a:r>
            <a:endParaRPr lang="en-US" sz="1200" dirty="0"/>
          </a:p>
        </p:txBody>
      </p:sp>
      <p:sp>
        <p:nvSpPr>
          <p:cNvPr id="18" name="Text 16">
            <a:extLst>
              <a:ext uri="{FF2B5EF4-FFF2-40B4-BE49-F238E27FC236}">
                <a16:creationId xmlns:a16="http://schemas.microsoft.com/office/drawing/2014/main" id="{427487E4-500E-2331-8B4B-CE7942F7860D}"/>
              </a:ext>
            </a:extLst>
          </p:cNvPr>
          <p:cNvSpPr/>
          <p:nvPr/>
        </p:nvSpPr>
        <p:spPr>
          <a:xfrm>
            <a:off x="457200" y="4434840"/>
            <a:ext cx="8046720" cy="32004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Predicted Output Types (5,930 human tracks / 1,128 mouse tracks)</a:t>
            </a:r>
            <a:endParaRPr lang="en-US" sz="1300" dirty="0"/>
          </a:p>
        </p:txBody>
      </p:sp>
      <p:sp>
        <p:nvSpPr>
          <p:cNvPr id="20" name="Text 17">
            <a:extLst>
              <a:ext uri="{FF2B5EF4-FFF2-40B4-BE49-F238E27FC236}">
                <a16:creationId xmlns:a16="http://schemas.microsoft.com/office/drawing/2014/main" id="{216F7EB9-183B-5886-4852-3F599253B4FF}"/>
              </a:ext>
            </a:extLst>
          </p:cNvPr>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pic>
        <p:nvPicPr>
          <p:cNvPr id="22" name="Picture 21">
            <a:extLst>
              <a:ext uri="{FF2B5EF4-FFF2-40B4-BE49-F238E27FC236}">
                <a16:creationId xmlns:a16="http://schemas.microsoft.com/office/drawing/2014/main" id="{1BE88B95-FE05-1A59-801E-C0F73278410F}"/>
              </a:ext>
            </a:extLst>
          </p:cNvPr>
          <p:cNvPicPr>
            <a:picLocks noChangeAspect="1"/>
          </p:cNvPicPr>
          <p:nvPr/>
        </p:nvPicPr>
        <p:blipFill>
          <a:blip r:embed="rId3"/>
          <a:stretch>
            <a:fillRect/>
          </a:stretch>
        </p:blipFill>
        <p:spPr>
          <a:xfrm>
            <a:off x="4572000" y="806401"/>
            <a:ext cx="3867349" cy="3054507"/>
          </a:xfrm>
          <a:prstGeom prst="rect">
            <a:avLst/>
          </a:prstGeom>
        </p:spPr>
      </p:pic>
    </p:spTree>
    <p:extLst>
      <p:ext uri="{BB962C8B-B14F-4D97-AF65-F5344CB8AC3E}">
        <p14:creationId xmlns:p14="http://schemas.microsoft.com/office/powerpoint/2010/main" val="321478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F9E39-2922-565C-CE23-DB0622BB72C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4E572A-CC15-0022-ABC0-AD20558B98DF}"/>
              </a:ext>
            </a:extLst>
          </p:cNvPr>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Model Architecture</a:t>
            </a:r>
            <a:endParaRPr lang="en-US" sz="3000" dirty="0"/>
          </a:p>
        </p:txBody>
      </p:sp>
      <p:sp>
        <p:nvSpPr>
          <p:cNvPr id="18" name="Text 16">
            <a:extLst>
              <a:ext uri="{FF2B5EF4-FFF2-40B4-BE49-F238E27FC236}">
                <a16:creationId xmlns:a16="http://schemas.microsoft.com/office/drawing/2014/main" id="{13002B0D-4EB4-AAC6-F45D-9F454D180ED2}"/>
              </a:ext>
            </a:extLst>
          </p:cNvPr>
          <p:cNvSpPr/>
          <p:nvPr/>
        </p:nvSpPr>
        <p:spPr>
          <a:xfrm>
            <a:off x="1463040" y="1501626"/>
            <a:ext cx="8046720" cy="32004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Predicted Output Types (5,930 human tracks / 1,128 mouse tracks)</a:t>
            </a:r>
            <a:endParaRPr lang="en-US" sz="1300" dirty="0"/>
          </a:p>
        </p:txBody>
      </p:sp>
      <p:graphicFrame>
        <p:nvGraphicFramePr>
          <p:cNvPr id="19" name="Table 0">
            <a:extLst>
              <a:ext uri="{FF2B5EF4-FFF2-40B4-BE49-F238E27FC236}">
                <a16:creationId xmlns:a16="http://schemas.microsoft.com/office/drawing/2014/main" id="{A9F4FD09-AC99-174C-4F66-6CF142C882FD}"/>
              </a:ext>
            </a:extLst>
          </p:cNvPr>
          <p:cNvGraphicFramePr>
            <a:graphicFrameLocks noGrp="1"/>
          </p:cNvGraphicFramePr>
          <p:nvPr>
            <p:extLst>
              <p:ext uri="{D42A27DB-BD31-4B8C-83A1-F6EECF244321}">
                <p14:modId xmlns:p14="http://schemas.microsoft.com/office/powerpoint/2010/main" val="1552354843"/>
              </p:ext>
            </p:extLst>
          </p:nvPr>
        </p:nvGraphicFramePr>
        <p:xfrm>
          <a:off x="1371600" y="1867386"/>
          <a:ext cx="6400800" cy="1859280"/>
        </p:xfrm>
        <a:graphic>
          <a:graphicData uri="http://schemas.openxmlformats.org/drawingml/2006/table">
            <a:tbl>
              <a:tblPr/>
              <a:tblGrid>
                <a:gridCol w="1280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9260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Output Type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Category</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Resolution</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Output Type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Category</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Resolution</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solidFill>
                      <a:srgbClr val="1A252F"/>
                    </a:solidFill>
                  </a:tcPr>
                </a:tc>
                <a:extLst>
                  <a:ext uri="{0D108BD9-81ED-4DB2-BD59-A6C34878D82A}">
                    <a16:rowId xmlns:a16="http://schemas.microsoft.com/office/drawing/2014/main" val="10000"/>
                  </a:ext>
                </a:extLst>
              </a:tr>
              <a:tr h="292608">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RNA-seq</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Gene expression</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ChIP-TF</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TF binding</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128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CAGE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Transcription start</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Splice sites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Splicing</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DNASE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Chromatin access.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Splice junctions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Splicing</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ATAC</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Chromatin access.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PRO-cap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TSS initiation</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292608">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ChIP-Histone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Epigenomics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128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Contact maps</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3D structure</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tc>
                  <a:txBody>
                    <a:bodyPr/>
                    <a:lstStyle/>
                    <a:p>
                      <a:pPr marL="0" indent="0">
                        <a:buNone/>
                      </a:pPr>
                      <a:r>
                        <a:rPr lang="en-US" sz="1000" b="1" dirty="0">
                          <a:solidFill>
                            <a:srgbClr val="047857"/>
                          </a:solidFill>
                          <a:latin typeface="Calibri" pitchFamily="34" charset="0"/>
                          <a:ea typeface="Calibri" pitchFamily="34" charset="-122"/>
                          <a:cs typeface="Calibri" pitchFamily="34" charset="-120"/>
                        </a:rPr>
                        <a:t>2048 bp</a:t>
                      </a:r>
                      <a:endParaRPr lang="en-US" sz="1000" dirty="0">
                        <a:latin typeface="Calibri" charset="0"/>
                        <a:ea typeface="Calibri" charset="0"/>
                        <a:cs typeface="Calibri" charset="0"/>
                      </a:endParaRPr>
                    </a:p>
                  </a:txBody>
                  <a:tcPr anchor="ctr">
                    <a:lnL w="3810" cap="flat" cmpd="sng" algn="ctr">
                      <a:solidFill>
                        <a:srgbClr val="E2E8F0"/>
                      </a:solidFill>
                      <a:prstDash val="solid"/>
                      <a:round/>
                      <a:headEnd type="none" w="med" len="med"/>
                      <a:tailEnd type="none" w="med" len="med"/>
                    </a:lnL>
                    <a:lnR w="3810" cap="flat" cmpd="sng" algn="ctr">
                      <a:solidFill>
                        <a:srgbClr val="E2E8F0"/>
                      </a:solidFill>
                      <a:prstDash val="solid"/>
                      <a:round/>
                      <a:headEnd type="none" w="med" len="med"/>
                      <a:tailEnd type="none" w="med" len="med"/>
                    </a:lnR>
                    <a:lnT w="3810" cap="flat" cmpd="sng" algn="ctr">
                      <a:solidFill>
                        <a:srgbClr val="E2E8F0"/>
                      </a:solidFill>
                      <a:prstDash val="solid"/>
                      <a:round/>
                      <a:headEnd type="none" w="med" len="med"/>
                      <a:tailEnd type="none" w="med" len="med"/>
                    </a:lnT>
                    <a:lnB w="381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0" name="Text 17">
            <a:extLst>
              <a:ext uri="{FF2B5EF4-FFF2-40B4-BE49-F238E27FC236}">
                <a16:creationId xmlns:a16="http://schemas.microsoft.com/office/drawing/2014/main" id="{77BC3370-4B94-85B1-738E-4507A8E371D7}"/>
              </a:ext>
            </a:extLst>
          </p:cNvPr>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extLst>
      <p:ext uri="{BB962C8B-B14F-4D97-AF65-F5344CB8AC3E}">
        <p14:creationId xmlns:p14="http://schemas.microsoft.com/office/powerpoint/2010/main" val="155452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3000" b="1" dirty="0">
                <a:solidFill>
                  <a:srgbClr val="0F172A"/>
                </a:solidFill>
                <a:latin typeface="Trebuchet MS" pitchFamily="34" charset="0"/>
                <a:ea typeface="Trebuchet MS" pitchFamily="34" charset="-122"/>
                <a:cs typeface="Trebuchet MS" pitchFamily="34" charset="-120"/>
              </a:rPr>
              <a:t>Benchmark Performance</a:t>
            </a:r>
            <a:endParaRPr lang="en-US" sz="3000" dirty="0"/>
          </a:p>
        </p:txBody>
      </p:sp>
      <p:sp>
        <p:nvSpPr>
          <p:cNvPr id="3" name="Shape 1"/>
          <p:cNvSpPr/>
          <p:nvPr/>
        </p:nvSpPr>
        <p:spPr>
          <a:xfrm>
            <a:off x="457200" y="1051560"/>
            <a:ext cx="393192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4" name="Text 2"/>
          <p:cNvSpPr/>
          <p:nvPr/>
        </p:nvSpPr>
        <p:spPr>
          <a:xfrm>
            <a:off x="457200" y="1143000"/>
            <a:ext cx="3931920" cy="777240"/>
          </a:xfrm>
          <a:prstGeom prst="rect">
            <a:avLst/>
          </a:prstGeom>
          <a:noFill/>
          <a:ln/>
        </p:spPr>
        <p:txBody>
          <a:bodyPr wrap="square" rtlCol="0" anchor="ctr"/>
          <a:lstStyle/>
          <a:p>
            <a:pPr marL="0" indent="0" algn="ctr">
              <a:buNone/>
            </a:pPr>
            <a:r>
              <a:rPr lang="en-US" sz="4800" b="1" dirty="0">
                <a:solidFill>
                  <a:srgbClr val="0D9488"/>
                </a:solidFill>
                <a:latin typeface="Trebuchet MS" pitchFamily="34" charset="0"/>
                <a:ea typeface="Trebuchet MS" pitchFamily="34" charset="-122"/>
                <a:cs typeface="Trebuchet MS" pitchFamily="34" charset="-120"/>
              </a:rPr>
              <a:t>25/26</a:t>
            </a:r>
            <a:endParaRPr lang="en-US" sz="4800" dirty="0"/>
          </a:p>
        </p:txBody>
      </p:sp>
      <p:sp>
        <p:nvSpPr>
          <p:cNvPr id="5" name="Text 3"/>
          <p:cNvSpPr/>
          <p:nvPr/>
        </p:nvSpPr>
        <p:spPr>
          <a:xfrm>
            <a:off x="457200" y="1874520"/>
            <a:ext cx="3931920" cy="502920"/>
          </a:xfrm>
          <a:prstGeom prst="rect">
            <a:avLst/>
          </a:prstGeom>
          <a:noFill/>
          <a:ln/>
        </p:spPr>
        <p:txBody>
          <a:bodyPr wrap="square"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variant effect</a:t>
            </a:r>
            <a:endParaRPr lang="en-US" sz="1400" dirty="0"/>
          </a:p>
          <a:p>
            <a:pPr marL="0" indent="0" algn="ctr">
              <a:buNone/>
            </a:pPr>
            <a:r>
              <a:rPr lang="en-US" sz="1400" b="1" dirty="0">
                <a:solidFill>
                  <a:srgbClr val="0F172A"/>
                </a:solidFill>
                <a:latin typeface="Calibri" pitchFamily="34" charset="0"/>
                <a:ea typeface="Calibri" pitchFamily="34" charset="-122"/>
                <a:cs typeface="Calibri" pitchFamily="34" charset="-120"/>
              </a:rPr>
              <a:t>prediction tasks</a:t>
            </a:r>
            <a:endParaRPr lang="en-US" sz="1400" dirty="0"/>
          </a:p>
        </p:txBody>
      </p:sp>
      <p:sp>
        <p:nvSpPr>
          <p:cNvPr id="6" name="Text 4"/>
          <p:cNvSpPr/>
          <p:nvPr/>
        </p:nvSpPr>
        <p:spPr>
          <a:xfrm>
            <a:off x="457200" y="2377440"/>
            <a:ext cx="3931920" cy="32004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Best or matching best available model</a:t>
            </a:r>
            <a:endParaRPr lang="en-US" sz="1100" dirty="0"/>
          </a:p>
        </p:txBody>
      </p:sp>
      <p:sp>
        <p:nvSpPr>
          <p:cNvPr id="7" name="Shape 5"/>
          <p:cNvSpPr/>
          <p:nvPr/>
        </p:nvSpPr>
        <p:spPr>
          <a:xfrm>
            <a:off x="4754880" y="1051560"/>
            <a:ext cx="393192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8" name="Text 6"/>
          <p:cNvSpPr/>
          <p:nvPr/>
        </p:nvSpPr>
        <p:spPr>
          <a:xfrm>
            <a:off x="4754880" y="1143000"/>
            <a:ext cx="3931920" cy="777240"/>
          </a:xfrm>
          <a:prstGeom prst="rect">
            <a:avLst/>
          </a:prstGeom>
          <a:noFill/>
          <a:ln/>
        </p:spPr>
        <p:txBody>
          <a:bodyPr wrap="square" rtlCol="0" anchor="ctr"/>
          <a:lstStyle/>
          <a:p>
            <a:pPr marL="0" indent="0" algn="ctr">
              <a:buNone/>
            </a:pPr>
            <a:r>
              <a:rPr lang="en-US" sz="4800" b="1" dirty="0">
                <a:solidFill>
                  <a:srgbClr val="0D9488"/>
                </a:solidFill>
                <a:latin typeface="Trebuchet MS" pitchFamily="34" charset="0"/>
                <a:ea typeface="Trebuchet MS" pitchFamily="34" charset="-122"/>
                <a:cs typeface="Trebuchet MS" pitchFamily="34" charset="-120"/>
              </a:rPr>
              <a:t>22/24</a:t>
            </a:r>
            <a:endParaRPr lang="en-US" sz="4800" dirty="0"/>
          </a:p>
        </p:txBody>
      </p:sp>
      <p:sp>
        <p:nvSpPr>
          <p:cNvPr id="9" name="Text 7"/>
          <p:cNvSpPr/>
          <p:nvPr/>
        </p:nvSpPr>
        <p:spPr>
          <a:xfrm>
            <a:off x="4754880" y="1874520"/>
            <a:ext cx="3931920" cy="502920"/>
          </a:xfrm>
          <a:prstGeom prst="rect">
            <a:avLst/>
          </a:prstGeom>
          <a:noFill/>
          <a:ln/>
        </p:spPr>
        <p:txBody>
          <a:bodyPr wrap="square"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genome track</a:t>
            </a:r>
            <a:endParaRPr lang="en-US" sz="1400" dirty="0"/>
          </a:p>
          <a:p>
            <a:pPr marL="0" indent="0" algn="ctr">
              <a:buNone/>
            </a:pPr>
            <a:r>
              <a:rPr lang="en-US" sz="1400" b="1" dirty="0">
                <a:solidFill>
                  <a:srgbClr val="0F172A"/>
                </a:solidFill>
                <a:latin typeface="Calibri" pitchFamily="34" charset="0"/>
                <a:ea typeface="Calibri" pitchFamily="34" charset="-122"/>
                <a:cs typeface="Calibri" pitchFamily="34" charset="-120"/>
              </a:rPr>
              <a:t>prediction tasks</a:t>
            </a:r>
            <a:endParaRPr lang="en-US" sz="1400" dirty="0"/>
          </a:p>
        </p:txBody>
      </p:sp>
      <p:sp>
        <p:nvSpPr>
          <p:cNvPr id="10" name="Text 8"/>
          <p:cNvSpPr/>
          <p:nvPr/>
        </p:nvSpPr>
        <p:spPr>
          <a:xfrm>
            <a:off x="4754880" y="2377440"/>
            <a:ext cx="3931920" cy="32004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State-of-the-art track accuracy</a:t>
            </a:r>
            <a:endParaRPr lang="en-US" sz="1100" dirty="0"/>
          </a:p>
        </p:txBody>
      </p:sp>
      <p:sp>
        <p:nvSpPr>
          <p:cNvPr id="11" name="Text 9"/>
          <p:cNvSpPr/>
          <p:nvPr/>
        </p:nvSpPr>
        <p:spPr>
          <a:xfrm>
            <a:off x="548640" y="3108960"/>
            <a:ext cx="804672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Highlights from the paper</a:t>
            </a:r>
            <a:endParaRPr lang="en-US" sz="1400" dirty="0"/>
          </a:p>
        </p:txBody>
      </p:sp>
      <p:pic>
        <p:nvPicPr>
          <p:cNvPr id="12" name="Image 0" descr="preencoded.png"/>
          <p:cNvPicPr>
            <a:picLocks noChangeAspect="1"/>
          </p:cNvPicPr>
          <p:nvPr/>
        </p:nvPicPr>
        <p:blipFill>
          <a:blip r:embed="rId3"/>
          <a:stretch>
            <a:fillRect/>
          </a:stretch>
        </p:blipFill>
        <p:spPr>
          <a:xfrm>
            <a:off x="640080" y="3566160"/>
            <a:ext cx="201168" cy="201168"/>
          </a:xfrm>
          <a:prstGeom prst="rect">
            <a:avLst/>
          </a:prstGeom>
        </p:spPr>
      </p:pic>
      <p:sp>
        <p:nvSpPr>
          <p:cNvPr id="13" name="Text 10"/>
          <p:cNvSpPr/>
          <p:nvPr/>
        </p:nvSpPr>
        <p:spPr>
          <a:xfrm>
            <a:off x="960120" y="3538728"/>
            <a:ext cx="7589520" cy="27432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Trained on human and mouse genomes simultaneously (GRCh38 + mm10)</a:t>
            </a:r>
            <a:endParaRPr lang="en-US" sz="1200" dirty="0"/>
          </a:p>
        </p:txBody>
      </p:sp>
      <p:pic>
        <p:nvPicPr>
          <p:cNvPr id="14" name="Image 1" descr="preencoded.png"/>
          <p:cNvPicPr>
            <a:picLocks noChangeAspect="1"/>
          </p:cNvPicPr>
          <p:nvPr/>
        </p:nvPicPr>
        <p:blipFill>
          <a:blip r:embed="rId3"/>
          <a:stretch>
            <a:fillRect/>
          </a:stretch>
        </p:blipFill>
        <p:spPr>
          <a:xfrm>
            <a:off x="640080" y="3913632"/>
            <a:ext cx="201168" cy="201168"/>
          </a:xfrm>
          <a:prstGeom prst="rect">
            <a:avLst/>
          </a:prstGeom>
        </p:spPr>
      </p:pic>
      <p:sp>
        <p:nvSpPr>
          <p:cNvPr id="15" name="Text 11"/>
          <p:cNvSpPr/>
          <p:nvPr/>
        </p:nvSpPr>
        <p:spPr>
          <a:xfrm>
            <a:off x="960120" y="3886200"/>
            <a:ext cx="7589520" cy="27432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Cross-modality analysis recapitulates known mechanisms at TAL1 oncogene locus</a:t>
            </a:r>
            <a:endParaRPr lang="en-US" sz="1200" dirty="0"/>
          </a:p>
        </p:txBody>
      </p:sp>
      <p:pic>
        <p:nvPicPr>
          <p:cNvPr id="16" name="Image 2" descr="preencoded.png"/>
          <p:cNvPicPr>
            <a:picLocks noChangeAspect="1"/>
          </p:cNvPicPr>
          <p:nvPr/>
        </p:nvPicPr>
        <p:blipFill>
          <a:blip r:embed="rId3"/>
          <a:stretch>
            <a:fillRect/>
          </a:stretch>
        </p:blipFill>
        <p:spPr>
          <a:xfrm>
            <a:off x="640080" y="4261104"/>
            <a:ext cx="201168" cy="201168"/>
          </a:xfrm>
          <a:prstGeom prst="rect">
            <a:avLst/>
          </a:prstGeom>
        </p:spPr>
      </p:pic>
      <p:sp>
        <p:nvSpPr>
          <p:cNvPr id="17" name="Text 12"/>
          <p:cNvSpPr/>
          <p:nvPr/>
        </p:nvSpPr>
        <p:spPr>
          <a:xfrm>
            <a:off x="960120" y="4233672"/>
            <a:ext cx="7589520" cy="27432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Quantile-calibrated scoring enables comparison across all assay types and tissues</a:t>
            </a:r>
            <a:endParaRPr lang="en-US" sz="1200" dirty="0"/>
          </a:p>
        </p:txBody>
      </p:sp>
      <p:sp>
        <p:nvSpPr>
          <p:cNvPr id="18" name="Text 13"/>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A252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fr-CH"/>
          </a:p>
        </p:txBody>
      </p:sp>
      <p:sp>
        <p:nvSpPr>
          <p:cNvPr id="3" name="Text 1"/>
          <p:cNvSpPr/>
          <p:nvPr/>
        </p:nvSpPr>
        <p:spPr>
          <a:xfrm>
            <a:off x="731520" y="1097280"/>
            <a:ext cx="7680960" cy="411480"/>
          </a:xfrm>
          <a:prstGeom prst="rect">
            <a:avLst/>
          </a:prstGeom>
          <a:noFill/>
          <a:ln/>
        </p:spPr>
        <p:txBody>
          <a:bodyPr wrap="square" rtlCol="0" anchor="ctr"/>
          <a:lstStyle/>
          <a:p>
            <a:pPr marL="0" indent="0">
              <a:buNone/>
            </a:pPr>
            <a:r>
              <a:rPr lang="en-US" sz="1400" b="1" kern="0" spc="400" dirty="0">
                <a:solidFill>
                  <a:srgbClr val="14B8A6"/>
                </a:solidFill>
                <a:latin typeface="Calibri" pitchFamily="34" charset="0"/>
                <a:ea typeface="Calibri" pitchFamily="34" charset="-122"/>
                <a:cs typeface="Calibri" pitchFamily="34" charset="-120"/>
              </a:rPr>
              <a:t>PART 2  ·  THE CODE</a:t>
            </a:r>
            <a:endParaRPr lang="en-US" sz="1400" dirty="0"/>
          </a:p>
        </p:txBody>
      </p:sp>
      <p:pic>
        <p:nvPicPr>
          <p:cNvPr id="4" name="Image 0" descr="preencoded.png"/>
          <p:cNvPicPr>
            <a:picLocks noChangeAspect="1"/>
          </p:cNvPicPr>
          <p:nvPr/>
        </p:nvPicPr>
        <p:blipFill>
          <a:blip r:embed="rId3"/>
          <a:stretch>
            <a:fillRect/>
          </a:stretch>
        </p:blipFill>
        <p:spPr>
          <a:xfrm>
            <a:off x="731520" y="1691640"/>
            <a:ext cx="502920" cy="502920"/>
          </a:xfrm>
          <a:prstGeom prst="rect">
            <a:avLst/>
          </a:prstGeom>
        </p:spPr>
      </p:pic>
      <p:sp>
        <p:nvSpPr>
          <p:cNvPr id="5" name="Text 2"/>
          <p:cNvSpPr/>
          <p:nvPr/>
        </p:nvSpPr>
        <p:spPr>
          <a:xfrm>
            <a:off x="1417320" y="1645920"/>
            <a:ext cx="6858000" cy="59436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Python Tutorial</a:t>
            </a:r>
            <a:endParaRPr lang="en-US" sz="3400" dirty="0"/>
          </a:p>
        </p:txBody>
      </p:sp>
      <p:sp>
        <p:nvSpPr>
          <p:cNvPr id="6" name="Text 3"/>
          <p:cNvSpPr/>
          <p:nvPr/>
        </p:nvSpPr>
        <p:spPr>
          <a:xfrm>
            <a:off x="731520" y="2468880"/>
            <a:ext cx="7680960" cy="640080"/>
          </a:xfrm>
          <a:prstGeom prst="rect">
            <a:avLst/>
          </a:prstGeom>
          <a:noFill/>
          <a:ln/>
        </p:spPr>
        <p:txBody>
          <a:bodyPr wrap="square" rtlCol="0" anchor="ctr"/>
          <a:lstStyle/>
          <a:p>
            <a:pPr marL="0" indent="0">
              <a:buNone/>
            </a:pPr>
            <a:r>
              <a:rPr lang="en-US" sz="1600" dirty="0">
                <a:solidFill>
                  <a:srgbClr val="E2E8F0"/>
                </a:solidFill>
                <a:latin typeface="Calibri" pitchFamily="34" charset="0"/>
                <a:ea typeface="Calibri" pitchFamily="34" charset="-122"/>
                <a:cs typeface="Calibri" pitchFamily="34" charset="-120"/>
              </a:rPr>
              <a:t>Walking through the AlphaGenome SDK — focus on variant analysis</a:t>
            </a:r>
            <a:endParaRPr lang="en-US" sz="1600" dirty="0"/>
          </a:p>
        </p:txBody>
      </p:sp>
      <p:sp>
        <p:nvSpPr>
          <p:cNvPr id="7" name="Shape 4"/>
          <p:cNvSpPr/>
          <p:nvPr/>
        </p:nvSpPr>
        <p:spPr>
          <a:xfrm>
            <a:off x="0" y="4960620"/>
            <a:ext cx="9144000" cy="182880"/>
          </a:xfrm>
          <a:prstGeom prst="rect">
            <a:avLst/>
          </a:prstGeom>
          <a:solidFill>
            <a:srgbClr val="0D9488"/>
          </a:solidFill>
          <a:ln/>
        </p:spPr>
        <p:txBody>
          <a:bodyPr/>
          <a:lstStyle/>
          <a:p>
            <a:endParaRPr lang="fr-CH"/>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28600"/>
            <a:ext cx="8046720" cy="50292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How Do We Talk to AlphaGenome?</a:t>
            </a:r>
            <a:endParaRPr lang="en-US" sz="2800" dirty="0"/>
          </a:p>
        </p:txBody>
      </p:sp>
      <p:sp>
        <p:nvSpPr>
          <p:cNvPr id="3" name="Text 1"/>
          <p:cNvSpPr/>
          <p:nvPr/>
        </p:nvSpPr>
        <p:spPr>
          <a:xfrm>
            <a:off x="548640" y="713232"/>
            <a:ext cx="8046720" cy="27432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The model runs on Google's servers — we send requests and get predictions back</a:t>
            </a:r>
            <a:endParaRPr lang="en-US" sz="1200" dirty="0"/>
          </a:p>
        </p:txBody>
      </p:sp>
      <p:sp>
        <p:nvSpPr>
          <p:cNvPr id="4" name="Shape 2"/>
          <p:cNvSpPr/>
          <p:nvPr/>
        </p:nvSpPr>
        <p:spPr>
          <a:xfrm>
            <a:off x="457200" y="1371600"/>
            <a:ext cx="2377440" cy="1645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5" name="Shape 3"/>
          <p:cNvSpPr/>
          <p:nvPr/>
        </p:nvSpPr>
        <p:spPr>
          <a:xfrm>
            <a:off x="457200" y="1371600"/>
            <a:ext cx="2377440" cy="411480"/>
          </a:xfrm>
          <a:prstGeom prst="rect">
            <a:avLst/>
          </a:prstGeom>
          <a:solidFill>
            <a:srgbClr val="0D9488"/>
          </a:solidFill>
          <a:ln/>
        </p:spPr>
        <p:txBody>
          <a:bodyPr/>
          <a:lstStyle/>
          <a:p>
            <a:endParaRPr lang="fr-CH"/>
          </a:p>
        </p:txBody>
      </p:sp>
      <p:pic>
        <p:nvPicPr>
          <p:cNvPr id="6" name="Image 0" descr="preencoded.png"/>
          <p:cNvPicPr>
            <a:picLocks noChangeAspect="1"/>
          </p:cNvPicPr>
          <p:nvPr/>
        </p:nvPicPr>
        <p:blipFill>
          <a:blip r:embed="rId3"/>
          <a:stretch>
            <a:fillRect/>
          </a:stretch>
        </p:blipFill>
        <p:spPr>
          <a:xfrm>
            <a:off x="594360" y="1417320"/>
            <a:ext cx="274320" cy="274320"/>
          </a:xfrm>
          <a:prstGeom prst="rect">
            <a:avLst/>
          </a:prstGeom>
        </p:spPr>
      </p:pic>
      <p:sp>
        <p:nvSpPr>
          <p:cNvPr id="7" name="Text 4"/>
          <p:cNvSpPr/>
          <p:nvPr/>
        </p:nvSpPr>
        <p:spPr>
          <a:xfrm>
            <a:off x="914400" y="1399032"/>
            <a:ext cx="1737360" cy="34747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Your Computer</a:t>
            </a:r>
            <a:endParaRPr lang="en-US" sz="1200" dirty="0"/>
          </a:p>
        </p:txBody>
      </p:sp>
      <p:sp>
        <p:nvSpPr>
          <p:cNvPr id="8" name="Text 5"/>
          <p:cNvSpPr/>
          <p:nvPr/>
        </p:nvSpPr>
        <p:spPr>
          <a:xfrm>
            <a:off x="594360" y="1874520"/>
            <a:ext cx="2103120" cy="105156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Python notebook</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running on your laptop</a:t>
            </a:r>
            <a:endParaRPr lang="en-US" sz="1050" dirty="0"/>
          </a:p>
          <a:p>
            <a:pPr marL="0" indent="0">
              <a:buNone/>
            </a:pP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Sends a request:</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"Predict RNA-seq for</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this variant in colon"</a:t>
            </a:r>
            <a:endParaRPr lang="en-US" sz="1050" dirty="0"/>
          </a:p>
        </p:txBody>
      </p:sp>
      <p:sp>
        <p:nvSpPr>
          <p:cNvPr id="9" name="Shape 6"/>
          <p:cNvSpPr/>
          <p:nvPr/>
        </p:nvSpPr>
        <p:spPr>
          <a:xfrm>
            <a:off x="2971800" y="1920240"/>
            <a:ext cx="1188720" cy="320040"/>
          </a:xfrm>
          <a:prstGeom prst="rect">
            <a:avLst/>
          </a:prstGeom>
          <a:solidFill>
            <a:srgbClr val="14B8A6"/>
          </a:solidFill>
          <a:ln/>
        </p:spPr>
        <p:txBody>
          <a:bodyPr/>
          <a:lstStyle/>
          <a:p>
            <a:endParaRPr lang="fr-CH"/>
          </a:p>
        </p:txBody>
      </p:sp>
      <p:sp>
        <p:nvSpPr>
          <p:cNvPr id="10" name="Text 7"/>
          <p:cNvSpPr/>
          <p:nvPr/>
        </p:nvSpPr>
        <p:spPr>
          <a:xfrm>
            <a:off x="2971800" y="1938528"/>
            <a:ext cx="11887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API request →</a:t>
            </a:r>
            <a:endParaRPr lang="en-US" sz="900" dirty="0"/>
          </a:p>
        </p:txBody>
      </p:sp>
      <p:sp>
        <p:nvSpPr>
          <p:cNvPr id="11" name="Shape 8"/>
          <p:cNvSpPr/>
          <p:nvPr/>
        </p:nvSpPr>
        <p:spPr>
          <a:xfrm>
            <a:off x="2971800" y="2377440"/>
            <a:ext cx="1188720" cy="320040"/>
          </a:xfrm>
          <a:prstGeom prst="rect">
            <a:avLst/>
          </a:prstGeom>
          <a:solidFill>
            <a:srgbClr val="1A252F"/>
          </a:solidFill>
          <a:ln/>
        </p:spPr>
        <p:txBody>
          <a:bodyPr/>
          <a:lstStyle/>
          <a:p>
            <a:endParaRPr lang="fr-CH"/>
          </a:p>
        </p:txBody>
      </p:sp>
      <p:sp>
        <p:nvSpPr>
          <p:cNvPr id="12" name="Text 9"/>
          <p:cNvSpPr/>
          <p:nvPr/>
        </p:nvSpPr>
        <p:spPr>
          <a:xfrm>
            <a:off x="2971800" y="2395728"/>
            <a:ext cx="11887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 predictions</a:t>
            </a:r>
            <a:endParaRPr lang="en-US" sz="900" dirty="0"/>
          </a:p>
        </p:txBody>
      </p:sp>
      <p:sp>
        <p:nvSpPr>
          <p:cNvPr id="13" name="Shape 10"/>
          <p:cNvSpPr/>
          <p:nvPr/>
        </p:nvSpPr>
        <p:spPr>
          <a:xfrm>
            <a:off x="4297680" y="1371600"/>
            <a:ext cx="2377440" cy="16459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14" name="Shape 11"/>
          <p:cNvSpPr/>
          <p:nvPr/>
        </p:nvSpPr>
        <p:spPr>
          <a:xfrm>
            <a:off x="4297680" y="1371600"/>
            <a:ext cx="2377440" cy="411480"/>
          </a:xfrm>
          <a:prstGeom prst="rect">
            <a:avLst/>
          </a:prstGeom>
          <a:solidFill>
            <a:srgbClr val="1A252F"/>
          </a:solidFill>
          <a:ln/>
        </p:spPr>
        <p:txBody>
          <a:bodyPr/>
          <a:lstStyle/>
          <a:p>
            <a:endParaRPr lang="fr-CH"/>
          </a:p>
        </p:txBody>
      </p:sp>
      <p:pic>
        <p:nvPicPr>
          <p:cNvPr id="15" name="Image 1" descr="preencoded.png"/>
          <p:cNvPicPr>
            <a:picLocks noChangeAspect="1"/>
          </p:cNvPicPr>
          <p:nvPr/>
        </p:nvPicPr>
        <p:blipFill>
          <a:blip r:embed="rId4"/>
          <a:stretch>
            <a:fillRect/>
          </a:stretch>
        </p:blipFill>
        <p:spPr>
          <a:xfrm>
            <a:off x="4434840" y="1417320"/>
            <a:ext cx="274320" cy="274320"/>
          </a:xfrm>
          <a:prstGeom prst="rect">
            <a:avLst/>
          </a:prstGeom>
        </p:spPr>
      </p:pic>
      <p:sp>
        <p:nvSpPr>
          <p:cNvPr id="16" name="Text 12"/>
          <p:cNvSpPr/>
          <p:nvPr/>
        </p:nvSpPr>
        <p:spPr>
          <a:xfrm>
            <a:off x="4754880" y="1399032"/>
            <a:ext cx="1737360" cy="34747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DeepMind Server</a:t>
            </a:r>
            <a:endParaRPr lang="en-US" sz="1200" dirty="0"/>
          </a:p>
        </p:txBody>
      </p:sp>
      <p:sp>
        <p:nvSpPr>
          <p:cNvPr id="17" name="Text 13"/>
          <p:cNvSpPr/>
          <p:nvPr/>
        </p:nvSpPr>
        <p:spPr>
          <a:xfrm>
            <a:off x="4434840" y="1874520"/>
            <a:ext cx="2103120" cy="105156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Runs the full</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AlphaGenome model</a:t>
            </a:r>
            <a:endParaRPr lang="en-US" sz="1050" dirty="0"/>
          </a:p>
          <a:p>
            <a:pPr marL="0" indent="0">
              <a:buNone/>
            </a:pP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Processes 1 Mb of DNA</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through the neural network</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and returns track predictions</a:t>
            </a:r>
            <a:endParaRPr lang="en-US" sz="1050" dirty="0"/>
          </a:p>
        </p:txBody>
      </p:sp>
      <p:sp>
        <p:nvSpPr>
          <p:cNvPr id="18" name="Shape 14"/>
          <p:cNvSpPr/>
          <p:nvPr/>
        </p:nvSpPr>
        <p:spPr>
          <a:xfrm>
            <a:off x="6949440" y="1371600"/>
            <a:ext cx="1828800" cy="1645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lang="fr-CH"/>
          </a:p>
        </p:txBody>
      </p:sp>
      <p:sp>
        <p:nvSpPr>
          <p:cNvPr id="19" name="Text 15"/>
          <p:cNvSpPr/>
          <p:nvPr/>
        </p:nvSpPr>
        <p:spPr>
          <a:xfrm>
            <a:off x="6949440" y="1417320"/>
            <a:ext cx="182880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Trebuchet MS" pitchFamily="34" charset="0"/>
                <a:ea typeface="Trebuchet MS" pitchFamily="34" charset="-122"/>
                <a:cs typeface="Trebuchet MS" pitchFamily="34" charset="-120"/>
              </a:rPr>
              <a:t>What you need</a:t>
            </a:r>
            <a:endParaRPr lang="en-US" sz="1100" dirty="0"/>
          </a:p>
        </p:txBody>
      </p:sp>
      <p:sp>
        <p:nvSpPr>
          <p:cNvPr id="20" name="Text 16"/>
          <p:cNvSpPr/>
          <p:nvPr/>
        </p:nvSpPr>
        <p:spPr>
          <a:xfrm>
            <a:off x="7086600" y="1737360"/>
            <a:ext cx="1554480" cy="118872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  Python installed</a:t>
            </a:r>
            <a:endParaRPr lang="en-US" sz="1050" dirty="0"/>
          </a:p>
          <a:p>
            <a:pPr marL="0" indent="0">
              <a:buNone/>
            </a:pP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  alphagenome</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     package</a:t>
            </a:r>
            <a:endParaRPr lang="en-US" sz="1050" dirty="0"/>
          </a:p>
          <a:p>
            <a:pPr marL="0" indent="0">
              <a:buNone/>
            </a:pP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  An API key</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     (like a password)</a:t>
            </a:r>
            <a:endParaRPr lang="en-US" sz="1050" dirty="0"/>
          </a:p>
        </p:txBody>
      </p:sp>
      <p:sp>
        <p:nvSpPr>
          <p:cNvPr id="21" name="Text 17"/>
          <p:cNvSpPr/>
          <p:nvPr/>
        </p:nvSpPr>
        <p:spPr>
          <a:xfrm>
            <a:off x="548640" y="3518819"/>
            <a:ext cx="8046720" cy="32004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What is an API?</a:t>
            </a:r>
            <a:endParaRPr lang="en-US" sz="1600" dirty="0"/>
          </a:p>
        </p:txBody>
      </p:sp>
      <p:sp>
        <p:nvSpPr>
          <p:cNvPr id="22" name="Shape 18"/>
          <p:cNvSpPr/>
          <p:nvPr/>
        </p:nvSpPr>
        <p:spPr>
          <a:xfrm>
            <a:off x="457200" y="3884579"/>
            <a:ext cx="8229600" cy="96012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23" name="Shape 19"/>
          <p:cNvSpPr/>
          <p:nvPr/>
        </p:nvSpPr>
        <p:spPr>
          <a:xfrm>
            <a:off x="457200" y="3884579"/>
            <a:ext cx="54864" cy="960120"/>
          </a:xfrm>
          <a:prstGeom prst="rect">
            <a:avLst/>
          </a:prstGeom>
          <a:solidFill>
            <a:srgbClr val="0D9488"/>
          </a:solidFill>
          <a:ln/>
        </p:spPr>
        <p:txBody>
          <a:bodyPr/>
          <a:lstStyle/>
          <a:p>
            <a:endParaRPr lang="fr-CH"/>
          </a:p>
        </p:txBody>
      </p:sp>
      <p:sp>
        <p:nvSpPr>
          <p:cNvPr id="24" name="Text 20"/>
          <p:cNvSpPr/>
          <p:nvPr/>
        </p:nvSpPr>
        <p:spPr>
          <a:xfrm>
            <a:off x="685800" y="3930299"/>
            <a:ext cx="7772400" cy="228600"/>
          </a:xfrm>
          <a:prstGeom prst="rect">
            <a:avLst/>
          </a:prstGeom>
          <a:noFill/>
          <a:ln/>
        </p:spPr>
        <p:txBody>
          <a:bodyPr wrap="square" lIns="0" tIns="0" rIns="0" bIns="0" rtlCol="0" anchor="ctr"/>
          <a:lstStyle/>
          <a:p>
            <a:pPr marL="0" indent="0">
              <a:buNone/>
            </a:pPr>
            <a:r>
              <a:rPr lang="en-US" sz="1200" b="1" dirty="0">
                <a:solidFill>
                  <a:srgbClr val="0F172A"/>
                </a:solidFill>
                <a:latin typeface="Calibri" pitchFamily="34" charset="0"/>
                <a:ea typeface="Calibri" pitchFamily="34" charset="-122"/>
                <a:cs typeface="Calibri" pitchFamily="34" charset="-120"/>
              </a:rPr>
              <a:t>API = Application Programming Interface. Think of it like ordering at a restaurant:</a:t>
            </a:r>
            <a:endParaRPr lang="en-US" sz="1200" dirty="0"/>
          </a:p>
        </p:txBody>
      </p:sp>
      <p:sp>
        <p:nvSpPr>
          <p:cNvPr id="25" name="Text 21"/>
          <p:cNvSpPr/>
          <p:nvPr/>
        </p:nvSpPr>
        <p:spPr>
          <a:xfrm>
            <a:off x="685800" y="4204619"/>
            <a:ext cx="7772400" cy="594360"/>
          </a:xfrm>
          <a:prstGeom prst="rect">
            <a:avLst/>
          </a:prstGeom>
          <a:noFill/>
          <a:ln/>
        </p:spPr>
        <p:txBody>
          <a:bodyPr wrap="square" lIns="0" tIns="0" rIns="0" bIns="0" rtlCol="0" anchor="ctr"/>
          <a:lstStyle/>
          <a:p>
            <a:pPr marL="0" indent="0">
              <a:buNone/>
            </a:pPr>
            <a:r>
              <a:rPr lang="en-US" sz="1100" b="1" dirty="0">
                <a:solidFill>
                  <a:srgbClr val="334155"/>
                </a:solidFill>
                <a:latin typeface="Calibri" pitchFamily="34" charset="0"/>
                <a:ea typeface="Calibri" pitchFamily="34" charset="-122"/>
                <a:cs typeface="Calibri" pitchFamily="34" charset="-120"/>
              </a:rPr>
              <a:t>You (the customer)</a:t>
            </a:r>
            <a:r>
              <a:rPr lang="en-US" sz="1100" dirty="0">
                <a:solidFill>
                  <a:srgbClr val="334155"/>
                </a:solidFill>
                <a:latin typeface="Calibri" pitchFamily="34" charset="0"/>
                <a:ea typeface="Calibri" pitchFamily="34" charset="-122"/>
                <a:cs typeface="Calibri" pitchFamily="34" charset="-120"/>
              </a:rPr>
              <a:t> write your order on the menu — "I'd like RNA-seq predictions for this variant in colon tissue"</a:t>
            </a:r>
            <a:endParaRPr lang="en-US" sz="1100" dirty="0"/>
          </a:p>
          <a:p>
            <a:pPr marL="0" indent="0">
              <a:buNone/>
            </a:pPr>
            <a:r>
              <a:rPr lang="en-US" sz="1100" b="1" dirty="0">
                <a:solidFill>
                  <a:srgbClr val="334155"/>
                </a:solidFill>
                <a:latin typeface="Calibri" pitchFamily="34" charset="0"/>
                <a:ea typeface="Calibri" pitchFamily="34" charset="-122"/>
                <a:cs typeface="Calibri" pitchFamily="34" charset="-120"/>
              </a:rPr>
              <a:t>The kitchen (DeepMind's server)</a:t>
            </a:r>
            <a:r>
              <a:rPr lang="en-US" sz="1100" dirty="0">
                <a:solidFill>
                  <a:srgbClr val="334155"/>
                </a:solidFill>
                <a:latin typeface="Calibri" pitchFamily="34" charset="0"/>
                <a:ea typeface="Calibri" pitchFamily="34" charset="-122"/>
                <a:cs typeface="Calibri" pitchFamily="34" charset="-120"/>
              </a:rPr>
              <a:t> does all the heavy computation — runs the neural network on massive hardware</a:t>
            </a:r>
            <a:endParaRPr lang="en-US" sz="1100" dirty="0"/>
          </a:p>
          <a:p>
            <a:pPr marL="0" indent="0">
              <a:buNone/>
            </a:pPr>
            <a:r>
              <a:rPr lang="en-US" sz="1100" b="1" dirty="0">
                <a:solidFill>
                  <a:srgbClr val="334155"/>
                </a:solidFill>
                <a:latin typeface="Calibri" pitchFamily="34" charset="0"/>
                <a:ea typeface="Calibri" pitchFamily="34" charset="-122"/>
                <a:cs typeface="Calibri" pitchFamily="34" charset="-120"/>
              </a:rPr>
              <a:t>The waiter (the API)</a:t>
            </a:r>
            <a:r>
              <a:rPr lang="en-US" sz="1100" dirty="0">
                <a:solidFill>
                  <a:srgbClr val="334155"/>
                </a:solidFill>
                <a:latin typeface="Calibri" pitchFamily="34" charset="0"/>
                <a:ea typeface="Calibri" pitchFamily="34" charset="-122"/>
                <a:cs typeface="Calibri" pitchFamily="34" charset="-120"/>
              </a:rPr>
              <a:t> carries your order to the kitchen and brings back the results — you never need to know how the kitchen works</a:t>
            </a:r>
            <a:endParaRPr lang="en-US" sz="1100" dirty="0"/>
          </a:p>
        </p:txBody>
      </p:sp>
      <p:sp>
        <p:nvSpPr>
          <p:cNvPr id="26" name="Text 22"/>
          <p:cNvSpPr/>
          <p:nvPr/>
        </p:nvSpPr>
        <p:spPr>
          <a:xfrm>
            <a:off x="457200" y="4754880"/>
            <a:ext cx="8229600" cy="27432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
        <p:nvSpPr>
          <p:cNvPr id="28" name="TextBox 27">
            <a:extLst>
              <a:ext uri="{FF2B5EF4-FFF2-40B4-BE49-F238E27FC236}">
                <a16:creationId xmlns:a16="http://schemas.microsoft.com/office/drawing/2014/main" id="{A5CB7D44-7176-21B4-329F-C09FEAB78DCA}"/>
              </a:ext>
            </a:extLst>
          </p:cNvPr>
          <p:cNvSpPr txBox="1"/>
          <p:nvPr/>
        </p:nvSpPr>
        <p:spPr>
          <a:xfrm>
            <a:off x="1855162" y="3112911"/>
            <a:ext cx="5799436" cy="369332"/>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r>
              <a:rPr lang="fr-CH" dirty="0"/>
              <a:t>https://deepmind.google.com/science/alphagenome/api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182880"/>
            <a:ext cx="8046720" cy="45720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Activity: Work Through the Notebook</a:t>
            </a:r>
            <a:endParaRPr lang="en-US" sz="2800" dirty="0"/>
          </a:p>
        </p:txBody>
      </p:sp>
      <p:pic>
        <p:nvPicPr>
          <p:cNvPr id="3" name="Image 0" descr="preencoded.png"/>
          <p:cNvPicPr>
            <a:picLocks noChangeAspect="1"/>
          </p:cNvPicPr>
          <p:nvPr/>
        </p:nvPicPr>
        <p:blipFill>
          <a:blip r:embed="rId3"/>
          <a:stretch>
            <a:fillRect/>
          </a:stretch>
        </p:blipFill>
        <p:spPr>
          <a:xfrm>
            <a:off x="8321040" y="228600"/>
            <a:ext cx="457200" cy="457200"/>
          </a:xfrm>
          <a:prstGeom prst="rect">
            <a:avLst/>
          </a:prstGeom>
        </p:spPr>
      </p:pic>
      <p:sp>
        <p:nvSpPr>
          <p:cNvPr id="4" name="Text 1"/>
          <p:cNvSpPr/>
          <p:nvPr/>
        </p:nvSpPr>
        <p:spPr>
          <a:xfrm>
            <a:off x="548640" y="640080"/>
            <a:ext cx="8046720" cy="27432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Open the notebook and run each cell one at a time — read the explanations as you go</a:t>
            </a:r>
            <a:endParaRPr lang="en-US" sz="1200" dirty="0"/>
          </a:p>
        </p:txBody>
      </p:sp>
      <p:sp>
        <p:nvSpPr>
          <p:cNvPr id="5" name="Shape 2"/>
          <p:cNvSpPr/>
          <p:nvPr/>
        </p:nvSpPr>
        <p:spPr>
          <a:xfrm>
            <a:off x="457200" y="1097280"/>
            <a:ext cx="8229600" cy="640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6" name="Shape 3"/>
          <p:cNvSpPr/>
          <p:nvPr/>
        </p:nvSpPr>
        <p:spPr>
          <a:xfrm>
            <a:off x="457200" y="1097280"/>
            <a:ext cx="54864" cy="640080"/>
          </a:xfrm>
          <a:prstGeom prst="rect">
            <a:avLst/>
          </a:prstGeom>
          <a:solidFill>
            <a:srgbClr val="64748B"/>
          </a:solidFill>
          <a:ln/>
        </p:spPr>
        <p:txBody>
          <a:bodyPr/>
          <a:lstStyle/>
          <a:p>
            <a:endParaRPr lang="fr-CH"/>
          </a:p>
        </p:txBody>
      </p:sp>
      <p:sp>
        <p:nvSpPr>
          <p:cNvPr id="7" name="Shape 4"/>
          <p:cNvSpPr/>
          <p:nvPr/>
        </p:nvSpPr>
        <p:spPr>
          <a:xfrm>
            <a:off x="658368" y="1188720"/>
            <a:ext cx="438912" cy="438912"/>
          </a:xfrm>
          <a:prstGeom prst="ellipse">
            <a:avLst/>
          </a:prstGeom>
          <a:solidFill>
            <a:srgbClr val="64748B"/>
          </a:solidFill>
          <a:ln/>
        </p:spPr>
        <p:txBody>
          <a:bodyPr/>
          <a:lstStyle/>
          <a:p>
            <a:endParaRPr lang="fr-CH"/>
          </a:p>
        </p:txBody>
      </p:sp>
      <p:sp>
        <p:nvSpPr>
          <p:cNvPr id="8" name="Text 5"/>
          <p:cNvSpPr/>
          <p:nvPr/>
        </p:nvSpPr>
        <p:spPr>
          <a:xfrm>
            <a:off x="658368" y="1207008"/>
            <a:ext cx="438912" cy="402336"/>
          </a:xfrm>
          <a:prstGeom prst="rect">
            <a:avLst/>
          </a:prstGeom>
          <a:noFill/>
          <a:ln/>
        </p:spPr>
        <p:txBody>
          <a:bodyPr wrap="square"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9" name="Text 6"/>
          <p:cNvSpPr/>
          <p:nvPr/>
        </p:nvSpPr>
        <p:spPr>
          <a:xfrm>
            <a:off x="1280160" y="1143000"/>
            <a:ext cx="5029200" cy="2286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Set up your environment</a:t>
            </a:r>
            <a:endParaRPr lang="en-US" sz="1400" dirty="0"/>
          </a:p>
        </p:txBody>
      </p:sp>
      <p:sp>
        <p:nvSpPr>
          <p:cNvPr id="10" name="Text 7"/>
          <p:cNvSpPr/>
          <p:nvPr/>
        </p:nvSpPr>
        <p:spPr>
          <a:xfrm>
            <a:off x="1280160" y="1389888"/>
            <a:ext cx="5943600" cy="301752"/>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Install Positron, VS Code, or another notebook IDE.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Then install Python if you don't have it already.</a:t>
            </a:r>
            <a:endParaRPr lang="en-US" sz="1050" dirty="0"/>
          </a:p>
        </p:txBody>
      </p:sp>
      <p:sp>
        <p:nvSpPr>
          <p:cNvPr id="11" name="Shape 8"/>
          <p:cNvSpPr/>
          <p:nvPr/>
        </p:nvSpPr>
        <p:spPr>
          <a:xfrm>
            <a:off x="7680960" y="1280160"/>
            <a:ext cx="822960" cy="274320"/>
          </a:xfrm>
          <a:prstGeom prst="rect">
            <a:avLst/>
          </a:prstGeom>
          <a:solidFill>
            <a:srgbClr val="ECFDF5"/>
          </a:solidFill>
          <a:ln/>
        </p:spPr>
        <p:txBody>
          <a:bodyPr/>
          <a:lstStyle/>
          <a:p>
            <a:endParaRPr lang="fr-CH"/>
          </a:p>
        </p:txBody>
      </p:sp>
      <p:sp>
        <p:nvSpPr>
          <p:cNvPr id="12" name="Text 9"/>
          <p:cNvSpPr/>
          <p:nvPr/>
        </p:nvSpPr>
        <p:spPr>
          <a:xfrm>
            <a:off x="7680960" y="1280160"/>
            <a:ext cx="822960" cy="274320"/>
          </a:xfrm>
          <a:prstGeom prst="rect">
            <a:avLst/>
          </a:prstGeom>
          <a:noFill/>
          <a:ln/>
        </p:spPr>
        <p:txBody>
          <a:bodyPr wrap="square" lIns="0" tIns="0" rIns="0" bIns="0" rtlCol="0" anchor="ctr"/>
          <a:lstStyle/>
          <a:p>
            <a:pPr marL="0" indent="0" algn="ctr">
              <a:buNone/>
            </a:pPr>
            <a:r>
              <a:rPr lang="en-US" sz="1000" b="1" dirty="0">
                <a:solidFill>
                  <a:srgbClr val="0D9488"/>
                </a:solidFill>
                <a:latin typeface="Calibri" pitchFamily="34" charset="0"/>
                <a:ea typeface="Calibri" pitchFamily="34" charset="-122"/>
                <a:cs typeface="Calibri" pitchFamily="34" charset="-120"/>
              </a:rPr>
              <a:t>~3 min</a:t>
            </a:r>
            <a:endParaRPr lang="en-US" sz="1000" dirty="0"/>
          </a:p>
        </p:txBody>
      </p:sp>
      <p:sp>
        <p:nvSpPr>
          <p:cNvPr id="13" name="Shape 10"/>
          <p:cNvSpPr/>
          <p:nvPr/>
        </p:nvSpPr>
        <p:spPr>
          <a:xfrm>
            <a:off x="457200" y="1847088"/>
            <a:ext cx="8229600" cy="640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4" name="Shape 11"/>
          <p:cNvSpPr/>
          <p:nvPr/>
        </p:nvSpPr>
        <p:spPr>
          <a:xfrm>
            <a:off x="457200" y="1847088"/>
            <a:ext cx="54864" cy="640080"/>
          </a:xfrm>
          <a:prstGeom prst="rect">
            <a:avLst/>
          </a:prstGeom>
          <a:solidFill>
            <a:srgbClr val="64748B"/>
          </a:solidFill>
          <a:ln/>
        </p:spPr>
        <p:txBody>
          <a:bodyPr/>
          <a:lstStyle/>
          <a:p>
            <a:endParaRPr lang="fr-CH"/>
          </a:p>
        </p:txBody>
      </p:sp>
      <p:sp>
        <p:nvSpPr>
          <p:cNvPr id="15" name="Shape 12"/>
          <p:cNvSpPr/>
          <p:nvPr/>
        </p:nvSpPr>
        <p:spPr>
          <a:xfrm>
            <a:off x="658368" y="1938528"/>
            <a:ext cx="438912" cy="438912"/>
          </a:xfrm>
          <a:prstGeom prst="ellipse">
            <a:avLst/>
          </a:prstGeom>
          <a:solidFill>
            <a:srgbClr val="64748B"/>
          </a:solidFill>
          <a:ln/>
        </p:spPr>
        <p:txBody>
          <a:bodyPr/>
          <a:lstStyle/>
          <a:p>
            <a:endParaRPr lang="fr-CH"/>
          </a:p>
        </p:txBody>
      </p:sp>
      <p:sp>
        <p:nvSpPr>
          <p:cNvPr id="16" name="Text 13"/>
          <p:cNvSpPr/>
          <p:nvPr/>
        </p:nvSpPr>
        <p:spPr>
          <a:xfrm>
            <a:off x="658368" y="1956816"/>
            <a:ext cx="438912" cy="402336"/>
          </a:xfrm>
          <a:prstGeom prst="rect">
            <a:avLst/>
          </a:prstGeom>
          <a:noFill/>
          <a:ln/>
        </p:spPr>
        <p:txBody>
          <a:bodyPr wrap="square"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7" name="Text 14"/>
          <p:cNvSpPr/>
          <p:nvPr/>
        </p:nvSpPr>
        <p:spPr>
          <a:xfrm>
            <a:off x="1280160" y="1892808"/>
            <a:ext cx="5029200" cy="2286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Open the notebook &amp; install the SDK</a:t>
            </a:r>
            <a:endParaRPr lang="en-US" sz="1400" dirty="0"/>
          </a:p>
        </p:txBody>
      </p:sp>
      <p:sp>
        <p:nvSpPr>
          <p:cNvPr id="18" name="Text 15"/>
          <p:cNvSpPr/>
          <p:nvPr/>
        </p:nvSpPr>
        <p:spPr>
          <a:xfrm>
            <a:off x="1280160" y="2139696"/>
            <a:ext cx="5943600" cy="301752"/>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Open  AlphaGenome_VariantAnalysis_Tutorial.ipynb</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Run the first cell to install the alphagenome package.</a:t>
            </a:r>
            <a:endParaRPr lang="en-US" sz="1050" dirty="0"/>
          </a:p>
        </p:txBody>
      </p:sp>
      <p:sp>
        <p:nvSpPr>
          <p:cNvPr id="19" name="Shape 16"/>
          <p:cNvSpPr/>
          <p:nvPr/>
        </p:nvSpPr>
        <p:spPr>
          <a:xfrm>
            <a:off x="7680960" y="2029968"/>
            <a:ext cx="822960" cy="274320"/>
          </a:xfrm>
          <a:prstGeom prst="rect">
            <a:avLst/>
          </a:prstGeom>
          <a:solidFill>
            <a:srgbClr val="ECFDF5"/>
          </a:solidFill>
          <a:ln/>
        </p:spPr>
        <p:txBody>
          <a:bodyPr/>
          <a:lstStyle/>
          <a:p>
            <a:endParaRPr lang="fr-CH"/>
          </a:p>
        </p:txBody>
      </p:sp>
      <p:sp>
        <p:nvSpPr>
          <p:cNvPr id="20" name="Text 17"/>
          <p:cNvSpPr/>
          <p:nvPr/>
        </p:nvSpPr>
        <p:spPr>
          <a:xfrm>
            <a:off x="7680960" y="2029968"/>
            <a:ext cx="822960" cy="274320"/>
          </a:xfrm>
          <a:prstGeom prst="rect">
            <a:avLst/>
          </a:prstGeom>
          <a:noFill/>
          <a:ln/>
        </p:spPr>
        <p:txBody>
          <a:bodyPr wrap="square" lIns="0" tIns="0" rIns="0" bIns="0" rtlCol="0" anchor="ctr"/>
          <a:lstStyle/>
          <a:p>
            <a:pPr marL="0" indent="0" algn="ctr">
              <a:buNone/>
            </a:pPr>
            <a:r>
              <a:rPr lang="en-US" sz="1000" b="1" dirty="0">
                <a:solidFill>
                  <a:srgbClr val="0D9488"/>
                </a:solidFill>
                <a:latin typeface="Calibri" pitchFamily="34" charset="0"/>
                <a:ea typeface="Calibri" pitchFamily="34" charset="-122"/>
                <a:cs typeface="Calibri" pitchFamily="34" charset="-120"/>
              </a:rPr>
              <a:t>~2 min</a:t>
            </a:r>
            <a:endParaRPr lang="en-US" sz="1000" dirty="0"/>
          </a:p>
        </p:txBody>
      </p:sp>
      <p:sp>
        <p:nvSpPr>
          <p:cNvPr id="21" name="Shape 18"/>
          <p:cNvSpPr/>
          <p:nvPr/>
        </p:nvSpPr>
        <p:spPr>
          <a:xfrm>
            <a:off x="457200" y="2596896"/>
            <a:ext cx="8229600" cy="640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22" name="Shape 19"/>
          <p:cNvSpPr/>
          <p:nvPr/>
        </p:nvSpPr>
        <p:spPr>
          <a:xfrm>
            <a:off x="457200" y="2596896"/>
            <a:ext cx="54864" cy="640080"/>
          </a:xfrm>
          <a:prstGeom prst="rect">
            <a:avLst/>
          </a:prstGeom>
          <a:solidFill>
            <a:srgbClr val="0D9488"/>
          </a:solidFill>
          <a:ln/>
        </p:spPr>
        <p:txBody>
          <a:bodyPr/>
          <a:lstStyle/>
          <a:p>
            <a:endParaRPr lang="fr-CH"/>
          </a:p>
        </p:txBody>
      </p:sp>
      <p:sp>
        <p:nvSpPr>
          <p:cNvPr id="23" name="Shape 20"/>
          <p:cNvSpPr/>
          <p:nvPr/>
        </p:nvSpPr>
        <p:spPr>
          <a:xfrm>
            <a:off x="658368" y="2688336"/>
            <a:ext cx="438912" cy="438912"/>
          </a:xfrm>
          <a:prstGeom prst="ellipse">
            <a:avLst/>
          </a:prstGeom>
          <a:solidFill>
            <a:srgbClr val="0D9488"/>
          </a:solidFill>
          <a:ln/>
        </p:spPr>
        <p:txBody>
          <a:bodyPr/>
          <a:lstStyle/>
          <a:p>
            <a:endParaRPr lang="fr-CH"/>
          </a:p>
        </p:txBody>
      </p:sp>
      <p:sp>
        <p:nvSpPr>
          <p:cNvPr id="24" name="Text 21"/>
          <p:cNvSpPr/>
          <p:nvPr/>
        </p:nvSpPr>
        <p:spPr>
          <a:xfrm>
            <a:off x="658368" y="2706624"/>
            <a:ext cx="438912" cy="402336"/>
          </a:xfrm>
          <a:prstGeom prst="rect">
            <a:avLst/>
          </a:prstGeom>
          <a:noFill/>
          <a:ln/>
        </p:spPr>
        <p:txBody>
          <a:bodyPr wrap="square"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25" name="Text 22"/>
          <p:cNvSpPr/>
          <p:nvPr/>
        </p:nvSpPr>
        <p:spPr>
          <a:xfrm>
            <a:off x="1280160" y="2642616"/>
            <a:ext cx="5029200" cy="2286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Run cells one by one</a:t>
            </a:r>
            <a:endParaRPr lang="en-US" sz="1400" dirty="0"/>
          </a:p>
        </p:txBody>
      </p:sp>
      <p:sp>
        <p:nvSpPr>
          <p:cNvPr id="26" name="Text 23"/>
          <p:cNvSpPr/>
          <p:nvPr/>
        </p:nvSpPr>
        <p:spPr>
          <a:xfrm>
            <a:off x="1280160" y="2889504"/>
            <a:ext cx="5943600" cy="301752"/>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Work through Steps 1–5 in the notebook, running each</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cell and reading the markdown explanations between them.</a:t>
            </a:r>
            <a:endParaRPr lang="en-US" sz="1050" dirty="0"/>
          </a:p>
        </p:txBody>
      </p:sp>
      <p:sp>
        <p:nvSpPr>
          <p:cNvPr id="27" name="Shape 24"/>
          <p:cNvSpPr/>
          <p:nvPr/>
        </p:nvSpPr>
        <p:spPr>
          <a:xfrm>
            <a:off x="7680960" y="2779776"/>
            <a:ext cx="822960" cy="274320"/>
          </a:xfrm>
          <a:prstGeom prst="rect">
            <a:avLst/>
          </a:prstGeom>
          <a:solidFill>
            <a:srgbClr val="ECFDF5"/>
          </a:solidFill>
          <a:ln/>
        </p:spPr>
        <p:txBody>
          <a:bodyPr/>
          <a:lstStyle/>
          <a:p>
            <a:endParaRPr lang="fr-CH"/>
          </a:p>
        </p:txBody>
      </p:sp>
      <p:sp>
        <p:nvSpPr>
          <p:cNvPr id="28" name="Text 25"/>
          <p:cNvSpPr/>
          <p:nvPr/>
        </p:nvSpPr>
        <p:spPr>
          <a:xfrm>
            <a:off x="7680960" y="2779776"/>
            <a:ext cx="822960" cy="274320"/>
          </a:xfrm>
          <a:prstGeom prst="rect">
            <a:avLst/>
          </a:prstGeom>
          <a:noFill/>
          <a:ln/>
        </p:spPr>
        <p:txBody>
          <a:bodyPr wrap="square" lIns="0" tIns="0" rIns="0" bIns="0" rtlCol="0" anchor="ctr"/>
          <a:lstStyle/>
          <a:p>
            <a:pPr marL="0" indent="0" algn="ctr">
              <a:buNone/>
            </a:pPr>
            <a:r>
              <a:rPr lang="en-US" sz="1000" b="1" dirty="0">
                <a:solidFill>
                  <a:srgbClr val="0D9488"/>
                </a:solidFill>
                <a:latin typeface="Calibri" pitchFamily="34" charset="0"/>
                <a:ea typeface="Calibri" pitchFamily="34" charset="-122"/>
                <a:cs typeface="Calibri" pitchFamily="34" charset="-120"/>
              </a:rPr>
              <a:t>~15 min</a:t>
            </a:r>
            <a:endParaRPr lang="en-US" sz="1000" dirty="0"/>
          </a:p>
        </p:txBody>
      </p:sp>
      <p:sp>
        <p:nvSpPr>
          <p:cNvPr id="29" name="Shape 26"/>
          <p:cNvSpPr/>
          <p:nvPr/>
        </p:nvSpPr>
        <p:spPr>
          <a:xfrm>
            <a:off x="457200" y="3346704"/>
            <a:ext cx="8229600" cy="640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30" name="Shape 27"/>
          <p:cNvSpPr/>
          <p:nvPr/>
        </p:nvSpPr>
        <p:spPr>
          <a:xfrm>
            <a:off x="457200" y="3346704"/>
            <a:ext cx="54864" cy="640080"/>
          </a:xfrm>
          <a:prstGeom prst="rect">
            <a:avLst/>
          </a:prstGeom>
          <a:solidFill>
            <a:srgbClr val="0D9488"/>
          </a:solidFill>
          <a:ln/>
        </p:spPr>
        <p:txBody>
          <a:bodyPr/>
          <a:lstStyle/>
          <a:p>
            <a:endParaRPr lang="fr-CH"/>
          </a:p>
        </p:txBody>
      </p:sp>
      <p:sp>
        <p:nvSpPr>
          <p:cNvPr id="31" name="Shape 28"/>
          <p:cNvSpPr/>
          <p:nvPr/>
        </p:nvSpPr>
        <p:spPr>
          <a:xfrm>
            <a:off x="658368" y="3438144"/>
            <a:ext cx="438912" cy="438912"/>
          </a:xfrm>
          <a:prstGeom prst="ellipse">
            <a:avLst/>
          </a:prstGeom>
          <a:solidFill>
            <a:srgbClr val="0D9488"/>
          </a:solidFill>
          <a:ln/>
        </p:spPr>
        <p:txBody>
          <a:bodyPr/>
          <a:lstStyle/>
          <a:p>
            <a:endParaRPr lang="fr-CH"/>
          </a:p>
        </p:txBody>
      </p:sp>
      <p:sp>
        <p:nvSpPr>
          <p:cNvPr id="32" name="Text 29"/>
          <p:cNvSpPr/>
          <p:nvPr/>
        </p:nvSpPr>
        <p:spPr>
          <a:xfrm>
            <a:off x="658368" y="3456432"/>
            <a:ext cx="438912" cy="402336"/>
          </a:xfrm>
          <a:prstGeom prst="rect">
            <a:avLst/>
          </a:prstGeom>
          <a:noFill/>
          <a:ln/>
        </p:spPr>
        <p:txBody>
          <a:bodyPr wrap="square"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33" name="Text 30"/>
          <p:cNvSpPr/>
          <p:nvPr/>
        </p:nvSpPr>
        <p:spPr>
          <a:xfrm>
            <a:off x="1280160" y="3392424"/>
            <a:ext cx="5029200" cy="2286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Explore the REF vs ALT plot</a:t>
            </a:r>
            <a:endParaRPr lang="en-US" sz="1400" dirty="0"/>
          </a:p>
        </p:txBody>
      </p:sp>
      <p:sp>
        <p:nvSpPr>
          <p:cNvPr id="34" name="Text 31"/>
          <p:cNvSpPr/>
          <p:nvPr/>
        </p:nvSpPr>
        <p:spPr>
          <a:xfrm>
            <a:off x="1280160" y="3639312"/>
            <a:ext cx="5943600" cy="301752"/>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When you reach the plot — pause and look at it.</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Can you see the expression change? The exon skipping?</a:t>
            </a:r>
            <a:endParaRPr lang="en-US" sz="1050" dirty="0"/>
          </a:p>
        </p:txBody>
      </p:sp>
      <p:sp>
        <p:nvSpPr>
          <p:cNvPr id="35" name="Shape 32"/>
          <p:cNvSpPr/>
          <p:nvPr/>
        </p:nvSpPr>
        <p:spPr>
          <a:xfrm>
            <a:off x="7680960" y="3529584"/>
            <a:ext cx="822960" cy="274320"/>
          </a:xfrm>
          <a:prstGeom prst="rect">
            <a:avLst/>
          </a:prstGeom>
          <a:solidFill>
            <a:srgbClr val="ECFDF5"/>
          </a:solidFill>
          <a:ln/>
        </p:spPr>
        <p:txBody>
          <a:bodyPr/>
          <a:lstStyle/>
          <a:p>
            <a:endParaRPr lang="fr-CH"/>
          </a:p>
        </p:txBody>
      </p:sp>
      <p:sp>
        <p:nvSpPr>
          <p:cNvPr id="36" name="Text 33"/>
          <p:cNvSpPr/>
          <p:nvPr/>
        </p:nvSpPr>
        <p:spPr>
          <a:xfrm>
            <a:off x="7680960" y="3529584"/>
            <a:ext cx="822960" cy="274320"/>
          </a:xfrm>
          <a:prstGeom prst="rect">
            <a:avLst/>
          </a:prstGeom>
          <a:noFill/>
          <a:ln/>
        </p:spPr>
        <p:txBody>
          <a:bodyPr wrap="square" lIns="0" tIns="0" rIns="0" bIns="0" rtlCol="0" anchor="ctr"/>
          <a:lstStyle/>
          <a:p>
            <a:pPr marL="0" indent="0" algn="ctr">
              <a:buNone/>
            </a:pPr>
            <a:r>
              <a:rPr lang="en-US" sz="1000" b="1" dirty="0">
                <a:solidFill>
                  <a:srgbClr val="0D9488"/>
                </a:solidFill>
                <a:latin typeface="Calibri" pitchFamily="34" charset="0"/>
                <a:ea typeface="Calibri" pitchFamily="34" charset="-122"/>
                <a:cs typeface="Calibri" pitchFamily="34" charset="-120"/>
              </a:rPr>
              <a:t>~3 min</a:t>
            </a:r>
            <a:endParaRPr lang="en-US" sz="1000" dirty="0"/>
          </a:p>
        </p:txBody>
      </p:sp>
      <p:sp>
        <p:nvSpPr>
          <p:cNvPr id="37" name="Shape 34"/>
          <p:cNvSpPr/>
          <p:nvPr/>
        </p:nvSpPr>
        <p:spPr>
          <a:xfrm>
            <a:off x="457200" y="4096512"/>
            <a:ext cx="8229600" cy="640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38" name="Shape 35"/>
          <p:cNvSpPr/>
          <p:nvPr/>
        </p:nvSpPr>
        <p:spPr>
          <a:xfrm>
            <a:off x="457200" y="4096512"/>
            <a:ext cx="54864" cy="640080"/>
          </a:xfrm>
          <a:prstGeom prst="rect">
            <a:avLst/>
          </a:prstGeom>
          <a:solidFill>
            <a:srgbClr val="F59E0B"/>
          </a:solidFill>
          <a:ln/>
        </p:spPr>
        <p:txBody>
          <a:bodyPr/>
          <a:lstStyle/>
          <a:p>
            <a:endParaRPr lang="fr-CH"/>
          </a:p>
        </p:txBody>
      </p:sp>
      <p:sp>
        <p:nvSpPr>
          <p:cNvPr id="39" name="Shape 36"/>
          <p:cNvSpPr/>
          <p:nvPr/>
        </p:nvSpPr>
        <p:spPr>
          <a:xfrm>
            <a:off x="658368" y="4187952"/>
            <a:ext cx="438912" cy="438912"/>
          </a:xfrm>
          <a:prstGeom prst="ellipse">
            <a:avLst/>
          </a:prstGeom>
          <a:solidFill>
            <a:srgbClr val="F59E0B"/>
          </a:solidFill>
          <a:ln/>
        </p:spPr>
        <p:txBody>
          <a:bodyPr/>
          <a:lstStyle/>
          <a:p>
            <a:endParaRPr lang="fr-CH"/>
          </a:p>
        </p:txBody>
      </p:sp>
      <p:sp>
        <p:nvSpPr>
          <p:cNvPr id="40" name="Text 37"/>
          <p:cNvSpPr/>
          <p:nvPr/>
        </p:nvSpPr>
        <p:spPr>
          <a:xfrm>
            <a:off x="658368" y="4206240"/>
            <a:ext cx="438912" cy="402336"/>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a:t>
            </a:r>
            <a:endParaRPr lang="en-US" sz="1400" dirty="0"/>
          </a:p>
        </p:txBody>
      </p:sp>
      <p:sp>
        <p:nvSpPr>
          <p:cNvPr id="41" name="Text 38"/>
          <p:cNvSpPr/>
          <p:nvPr/>
        </p:nvSpPr>
        <p:spPr>
          <a:xfrm>
            <a:off x="1280160" y="4142232"/>
            <a:ext cx="5029200" cy="2286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Finished early? Experiment!</a:t>
            </a:r>
            <a:endParaRPr lang="en-US" sz="1400" dirty="0"/>
          </a:p>
        </p:txBody>
      </p:sp>
      <p:sp>
        <p:nvSpPr>
          <p:cNvPr id="42" name="Text 39"/>
          <p:cNvSpPr/>
          <p:nvPr/>
        </p:nvSpPr>
        <p:spPr>
          <a:xfrm>
            <a:off x="1280160" y="4389120"/>
            <a:ext cx="5943600" cy="301752"/>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Try changing the gene, the variant position, or the tissue.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What happens if you predict for liver instead of colon?</a:t>
            </a:r>
            <a:endParaRPr lang="en-US" sz="1050" dirty="0"/>
          </a:p>
        </p:txBody>
      </p:sp>
      <p:sp>
        <p:nvSpPr>
          <p:cNvPr id="43" name="Shape 40"/>
          <p:cNvSpPr/>
          <p:nvPr/>
        </p:nvSpPr>
        <p:spPr>
          <a:xfrm>
            <a:off x="7680960" y="4279392"/>
            <a:ext cx="822960" cy="274320"/>
          </a:xfrm>
          <a:prstGeom prst="rect">
            <a:avLst/>
          </a:prstGeom>
          <a:solidFill>
            <a:srgbClr val="FEF3C7"/>
          </a:solidFill>
          <a:ln/>
        </p:spPr>
        <p:txBody>
          <a:bodyPr/>
          <a:lstStyle/>
          <a:p>
            <a:endParaRPr lang="fr-CH"/>
          </a:p>
        </p:txBody>
      </p:sp>
      <p:sp>
        <p:nvSpPr>
          <p:cNvPr id="44" name="Text 41"/>
          <p:cNvSpPr/>
          <p:nvPr/>
        </p:nvSpPr>
        <p:spPr>
          <a:xfrm>
            <a:off x="7680960" y="4279392"/>
            <a:ext cx="822960" cy="274320"/>
          </a:xfrm>
          <a:prstGeom prst="rect">
            <a:avLst/>
          </a:prstGeom>
          <a:noFill/>
          <a:ln/>
        </p:spPr>
        <p:txBody>
          <a:bodyPr wrap="square" lIns="0" tIns="0" rIns="0" bIns="0" rtlCol="0" anchor="ctr"/>
          <a:lstStyle/>
          <a:p>
            <a:pPr marL="0" indent="0" algn="ctr">
              <a:buNone/>
            </a:pPr>
            <a:r>
              <a:rPr lang="en-US" sz="1000" b="1" dirty="0">
                <a:solidFill>
                  <a:srgbClr val="F59E0B"/>
                </a:solidFill>
                <a:latin typeface="Calibri" pitchFamily="34" charset="0"/>
                <a:ea typeface="Calibri" pitchFamily="34" charset="-122"/>
                <a:cs typeface="Calibri" pitchFamily="34" charset="-120"/>
              </a:rPr>
              <a:t>bonus</a:t>
            </a:r>
            <a:endParaRPr lang="en-US" sz="1000" dirty="0"/>
          </a:p>
        </p:txBody>
      </p:sp>
      <p:sp>
        <p:nvSpPr>
          <p:cNvPr id="45" name="Shape 42"/>
          <p:cNvSpPr/>
          <p:nvPr/>
        </p:nvSpPr>
        <p:spPr>
          <a:xfrm>
            <a:off x="457200" y="4892040"/>
            <a:ext cx="8229600" cy="0"/>
          </a:xfrm>
          <a:prstGeom prst="rect">
            <a:avLst/>
          </a:prstGeom>
          <a:solidFill>
            <a:srgbClr val="0D9488"/>
          </a:solidFill>
          <a:ln/>
        </p:spPr>
        <p:txBody>
          <a:bodyPr/>
          <a:lstStyle/>
          <a:p>
            <a:endParaRPr lang="fr-CH"/>
          </a:p>
        </p:txBody>
      </p:sp>
      <p:sp>
        <p:nvSpPr>
          <p:cNvPr id="46" name="Shape 43"/>
          <p:cNvSpPr/>
          <p:nvPr/>
        </p:nvSpPr>
        <p:spPr>
          <a:xfrm>
            <a:off x="457200" y="4892040"/>
            <a:ext cx="8229600" cy="0"/>
          </a:xfrm>
          <a:prstGeom prst="rect">
            <a:avLst/>
          </a:prstGeom>
          <a:noFill/>
          <a:ln/>
        </p:spPr>
        <p:txBody>
          <a:bodyPr/>
          <a:lstStyle/>
          <a:p>
            <a:endParaRPr lang="fr-CH"/>
          </a:p>
        </p:txBody>
      </p:sp>
      <p:sp>
        <p:nvSpPr>
          <p:cNvPr id="47" name="Text 44"/>
          <p:cNvSpPr/>
          <p:nvPr/>
        </p:nvSpPr>
        <p:spPr>
          <a:xfrm>
            <a:off x="457200" y="4709160"/>
            <a:ext cx="8229600" cy="274320"/>
          </a:xfrm>
          <a:prstGeom prst="rect">
            <a:avLst/>
          </a:prstGeom>
          <a:noFill/>
          <a:ln/>
        </p:spPr>
        <p:txBody>
          <a:bodyPr wrap="square" lIns="0" tIns="0" rIns="0" bIns="0" rtlCol="0" anchor="ctr"/>
          <a:lstStyle/>
          <a:p>
            <a:pPr marL="0" indent="0">
              <a:buNone/>
            </a:pPr>
            <a:r>
              <a:rPr lang="en-US" sz="1000" dirty="0">
                <a:solidFill>
                  <a:srgbClr val="0D9488"/>
                </a:solidFill>
                <a:latin typeface="Calibri" pitchFamily="34" charset="0"/>
                <a:ea typeface="Calibri" pitchFamily="34" charset="-122"/>
                <a:cs typeface="Calibri" pitchFamily="34" charset="-120"/>
              </a:rPr>
              <a:t>💡  Don't worry about understanding every line of code — focus on what each step does biologically     |     🙋  Raise your hand if you get stuck!</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A252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fr-CH"/>
          </a:p>
        </p:txBody>
      </p:sp>
      <p:sp>
        <p:nvSpPr>
          <p:cNvPr id="3" name="Text 1"/>
          <p:cNvSpPr/>
          <p:nvPr/>
        </p:nvSpPr>
        <p:spPr>
          <a:xfrm>
            <a:off x="731520" y="1097280"/>
            <a:ext cx="7680960" cy="411480"/>
          </a:xfrm>
          <a:prstGeom prst="rect">
            <a:avLst/>
          </a:prstGeom>
          <a:noFill/>
          <a:ln/>
        </p:spPr>
        <p:txBody>
          <a:bodyPr wrap="square" rtlCol="0" anchor="ctr"/>
          <a:lstStyle/>
          <a:p>
            <a:pPr marL="0" indent="0">
              <a:buNone/>
            </a:pPr>
            <a:r>
              <a:rPr lang="en-US" sz="1400" b="1" kern="0" spc="400" dirty="0">
                <a:solidFill>
                  <a:srgbClr val="14B8A6"/>
                </a:solidFill>
                <a:latin typeface="Calibri" pitchFamily="34" charset="0"/>
                <a:ea typeface="Calibri" pitchFamily="34" charset="-122"/>
                <a:cs typeface="Calibri" pitchFamily="34" charset="-120"/>
              </a:rPr>
              <a:t>PART 3  ·  THE APP</a:t>
            </a:r>
            <a:endParaRPr lang="en-US" sz="1400" dirty="0"/>
          </a:p>
        </p:txBody>
      </p:sp>
      <p:pic>
        <p:nvPicPr>
          <p:cNvPr id="4" name="Image 0" descr="preencoded.png"/>
          <p:cNvPicPr>
            <a:picLocks noChangeAspect="1"/>
          </p:cNvPicPr>
          <p:nvPr/>
        </p:nvPicPr>
        <p:blipFill>
          <a:blip r:embed="rId3"/>
          <a:stretch>
            <a:fillRect/>
          </a:stretch>
        </p:blipFill>
        <p:spPr>
          <a:xfrm>
            <a:off x="731520" y="1691640"/>
            <a:ext cx="502920" cy="502920"/>
          </a:xfrm>
          <a:prstGeom prst="rect">
            <a:avLst/>
          </a:prstGeom>
        </p:spPr>
      </p:pic>
      <p:sp>
        <p:nvSpPr>
          <p:cNvPr id="5" name="Text 2"/>
          <p:cNvSpPr/>
          <p:nvPr/>
        </p:nvSpPr>
        <p:spPr>
          <a:xfrm>
            <a:off x="1417320" y="1645920"/>
            <a:ext cx="6858000" cy="59436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AlphaGenome Explorer</a:t>
            </a:r>
            <a:endParaRPr lang="en-US" sz="3400" dirty="0"/>
          </a:p>
        </p:txBody>
      </p:sp>
      <p:sp>
        <p:nvSpPr>
          <p:cNvPr id="6" name="Text 3"/>
          <p:cNvSpPr/>
          <p:nvPr/>
        </p:nvSpPr>
        <p:spPr>
          <a:xfrm>
            <a:off x="731520" y="2468880"/>
            <a:ext cx="7680960" cy="640080"/>
          </a:xfrm>
          <a:prstGeom prst="rect">
            <a:avLst/>
          </a:prstGeom>
          <a:noFill/>
          <a:ln/>
        </p:spPr>
        <p:txBody>
          <a:bodyPr wrap="square" rtlCol="0" anchor="ctr"/>
          <a:lstStyle/>
          <a:p>
            <a:pPr marL="0" indent="0">
              <a:buNone/>
            </a:pPr>
            <a:r>
              <a:rPr lang="en-US" sz="1600" dirty="0">
                <a:solidFill>
                  <a:srgbClr val="E2E8F0"/>
                </a:solidFill>
                <a:latin typeface="Calibri" pitchFamily="34" charset="0"/>
                <a:ea typeface="Calibri" pitchFamily="34" charset="-122"/>
                <a:cs typeface="Calibri" pitchFamily="34" charset="-120"/>
              </a:rPr>
              <a:t>Hands-on exploration with the DII app — no coding required</a:t>
            </a:r>
            <a:endParaRPr lang="en-US" sz="1600" dirty="0"/>
          </a:p>
        </p:txBody>
      </p:sp>
      <p:sp>
        <p:nvSpPr>
          <p:cNvPr id="7" name="Shape 4"/>
          <p:cNvSpPr/>
          <p:nvPr/>
        </p:nvSpPr>
        <p:spPr>
          <a:xfrm>
            <a:off x="0" y="4960620"/>
            <a:ext cx="9144000" cy="182880"/>
          </a:xfrm>
          <a:prstGeom prst="rect">
            <a:avLst/>
          </a:prstGeom>
          <a:solidFill>
            <a:srgbClr val="0D9488"/>
          </a:solidFill>
          <a:ln/>
        </p:spPr>
        <p:txBody>
          <a:bodyPr/>
          <a:lstStyle/>
          <a:p>
            <a:endParaRPr lang="fr-CH"/>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AlphaGenome Explorer — Overview</a:t>
            </a:r>
            <a:endParaRPr lang="en-US" sz="2800" dirty="0"/>
          </a:p>
        </p:txBody>
      </p:sp>
      <p:sp>
        <p:nvSpPr>
          <p:cNvPr id="3" name="Text 1"/>
          <p:cNvSpPr/>
          <p:nvPr/>
        </p:nvSpPr>
        <p:spPr>
          <a:xfrm>
            <a:off x="548640" y="822960"/>
            <a:ext cx="8046720" cy="27432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A no-code web interface wrapping the AlphaGenome API into four prediction modules</a:t>
            </a:r>
            <a:endParaRPr lang="en-US" sz="1200" dirty="0"/>
          </a:p>
        </p:txBody>
      </p:sp>
      <p:pic>
        <p:nvPicPr>
          <p:cNvPr id="30" name="Picture 29">
            <a:extLst>
              <a:ext uri="{FF2B5EF4-FFF2-40B4-BE49-F238E27FC236}">
                <a16:creationId xmlns:a16="http://schemas.microsoft.com/office/drawing/2014/main" id="{9158C285-C55E-4906-552A-3FBB1C67F454}"/>
              </a:ext>
            </a:extLst>
          </p:cNvPr>
          <p:cNvPicPr>
            <a:picLocks noChangeAspect="1"/>
          </p:cNvPicPr>
          <p:nvPr/>
        </p:nvPicPr>
        <p:blipFill>
          <a:blip r:embed="rId3"/>
          <a:stretch>
            <a:fillRect/>
          </a:stretch>
        </p:blipFill>
        <p:spPr>
          <a:xfrm>
            <a:off x="1243584" y="1321308"/>
            <a:ext cx="6199632" cy="3052429"/>
          </a:xfrm>
          <a:prstGeom prst="rect">
            <a:avLst/>
          </a:prstGeom>
        </p:spPr>
      </p:pic>
      <p:sp>
        <p:nvSpPr>
          <p:cNvPr id="32" name="TextBox 31">
            <a:extLst>
              <a:ext uri="{FF2B5EF4-FFF2-40B4-BE49-F238E27FC236}">
                <a16:creationId xmlns:a16="http://schemas.microsoft.com/office/drawing/2014/main" id="{87CC4E4B-F31B-FA6F-0A95-C25B64FBF214}"/>
              </a:ext>
            </a:extLst>
          </p:cNvPr>
          <p:cNvSpPr txBox="1"/>
          <p:nvPr/>
        </p:nvSpPr>
        <p:spPr>
          <a:xfrm>
            <a:off x="3129064" y="4638794"/>
            <a:ext cx="4572000" cy="369332"/>
          </a:xfrm>
          <a:prstGeom prst="rect">
            <a:avLst/>
          </a:prstGeom>
          <a:noFill/>
        </p:spPr>
        <p:txBody>
          <a:bodyPr wrap="square">
            <a:spAutoFit/>
          </a:bodyPr>
          <a:lstStyle/>
          <a:p>
            <a:pPr>
              <a:buNone/>
            </a:pPr>
            <a:r>
              <a:rPr lang="fr-CH" b="0" i="0" u="sng" dirty="0">
                <a:solidFill>
                  <a:srgbClr val="64B4FA"/>
                </a:solidFill>
                <a:effectLst/>
                <a:latin typeface="Segoe UI" panose="020B0502040204020203" pitchFamily="34" charset="0"/>
                <a:hlinkClick r:id="rId4"/>
              </a:rPr>
              <a:t>http://10.101.0.70:8080/</a:t>
            </a:r>
            <a:endParaRPr lang="fr-CH" b="0" i="0" dirty="0">
              <a:effectLst/>
              <a:latin typeface="Segoe UI" panose="020B0502040204020203"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260C-0E16-D807-8834-9F9ED1BDD74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C1A3E61-4483-2B98-5B6C-385EA21463BE}"/>
              </a:ext>
            </a:extLst>
          </p:cNvPr>
          <p:cNvSpPr/>
          <p:nvPr/>
        </p:nvSpPr>
        <p:spPr>
          <a:xfrm>
            <a:off x="548640" y="320040"/>
            <a:ext cx="8046720" cy="54864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AlphaGenome Explorer — Overview</a:t>
            </a:r>
            <a:endParaRPr lang="en-US" sz="2800" dirty="0"/>
          </a:p>
        </p:txBody>
      </p:sp>
      <p:sp>
        <p:nvSpPr>
          <p:cNvPr id="3" name="Text 1">
            <a:extLst>
              <a:ext uri="{FF2B5EF4-FFF2-40B4-BE49-F238E27FC236}">
                <a16:creationId xmlns:a16="http://schemas.microsoft.com/office/drawing/2014/main" id="{91D5F194-C1C2-E4D1-88AC-E438C26BBDE6}"/>
              </a:ext>
            </a:extLst>
          </p:cNvPr>
          <p:cNvSpPr/>
          <p:nvPr/>
        </p:nvSpPr>
        <p:spPr>
          <a:xfrm>
            <a:off x="548640" y="822960"/>
            <a:ext cx="8046720" cy="27432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A no-code web interface wrapping the AlphaGenome API into four prediction modules</a:t>
            </a:r>
            <a:endParaRPr lang="en-US" sz="1200" dirty="0"/>
          </a:p>
        </p:txBody>
      </p:sp>
      <p:sp>
        <p:nvSpPr>
          <p:cNvPr id="27" name="Text 20">
            <a:extLst>
              <a:ext uri="{FF2B5EF4-FFF2-40B4-BE49-F238E27FC236}">
                <a16:creationId xmlns:a16="http://schemas.microsoft.com/office/drawing/2014/main" id="{43C4AA95-5F8A-08B6-147A-40ABBF7676D4}"/>
              </a:ext>
            </a:extLst>
          </p:cNvPr>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grpSp>
        <p:nvGrpSpPr>
          <p:cNvPr id="43" name="Group 42">
            <a:extLst>
              <a:ext uri="{FF2B5EF4-FFF2-40B4-BE49-F238E27FC236}">
                <a16:creationId xmlns:a16="http://schemas.microsoft.com/office/drawing/2014/main" id="{34FFDCEC-08C0-EDC2-A226-8AEEE0C4DBE7}"/>
              </a:ext>
            </a:extLst>
          </p:cNvPr>
          <p:cNvGrpSpPr/>
          <p:nvPr/>
        </p:nvGrpSpPr>
        <p:grpSpPr>
          <a:xfrm>
            <a:off x="337433" y="1213909"/>
            <a:ext cx="8229600" cy="1051560"/>
            <a:chOff x="457200" y="3749040"/>
            <a:chExt cx="8229600" cy="1051560"/>
          </a:xfrm>
        </p:grpSpPr>
        <p:sp>
          <p:nvSpPr>
            <p:cNvPr id="42" name="Shape 18">
              <a:extLst>
                <a:ext uri="{FF2B5EF4-FFF2-40B4-BE49-F238E27FC236}">
                  <a16:creationId xmlns:a16="http://schemas.microsoft.com/office/drawing/2014/main" id="{C2CDE50A-6C76-D007-13B1-C6DDA02F4E3D}"/>
                </a:ext>
              </a:extLst>
            </p:cNvPr>
            <p:cNvSpPr/>
            <p:nvPr/>
          </p:nvSpPr>
          <p:spPr>
            <a:xfrm>
              <a:off x="457200" y="4334794"/>
              <a:ext cx="8229600" cy="408790"/>
            </a:xfrm>
            <a:prstGeom prst="rect">
              <a:avLst/>
            </a:prstGeom>
            <a:solidFill>
              <a:schemeClr val="accent6">
                <a:lumMod val="20000"/>
                <a:lumOff val="80000"/>
              </a:schemeClr>
            </a:solidFill>
            <a:ln/>
          </p:spPr>
          <p:txBody>
            <a:bodyPr/>
            <a:lstStyle/>
            <a:p>
              <a:endParaRPr lang="fr-CH" dirty="0"/>
            </a:p>
          </p:txBody>
        </p:sp>
        <p:sp>
          <p:nvSpPr>
            <p:cNvPr id="24" name="Shape 18">
              <a:extLst>
                <a:ext uri="{FF2B5EF4-FFF2-40B4-BE49-F238E27FC236}">
                  <a16:creationId xmlns:a16="http://schemas.microsoft.com/office/drawing/2014/main" id="{DBE294A0-6379-4DAC-66F1-EB2C3794BF5E}"/>
                </a:ext>
              </a:extLst>
            </p:cNvPr>
            <p:cNvSpPr/>
            <p:nvPr/>
          </p:nvSpPr>
          <p:spPr>
            <a:xfrm>
              <a:off x="457200" y="3749040"/>
              <a:ext cx="8229600" cy="594360"/>
            </a:xfrm>
            <a:prstGeom prst="rect">
              <a:avLst/>
            </a:prstGeom>
            <a:solidFill>
              <a:srgbClr val="FEF3C7"/>
            </a:solidFill>
            <a:ln/>
          </p:spPr>
          <p:txBody>
            <a:bodyPr/>
            <a:lstStyle/>
            <a:p>
              <a:endParaRPr lang="fr-CH"/>
            </a:p>
          </p:txBody>
        </p:sp>
        <p:pic>
          <p:nvPicPr>
            <p:cNvPr id="25" name="Image 4" descr="preencoded.png">
              <a:extLst>
                <a:ext uri="{FF2B5EF4-FFF2-40B4-BE49-F238E27FC236}">
                  <a16:creationId xmlns:a16="http://schemas.microsoft.com/office/drawing/2014/main" id="{99E10259-2C1A-FF2F-9B9D-91FE5B548A0E}"/>
                </a:ext>
              </a:extLst>
            </p:cNvPr>
            <p:cNvPicPr>
              <a:picLocks noChangeAspect="1"/>
            </p:cNvPicPr>
            <p:nvPr/>
          </p:nvPicPr>
          <p:blipFill>
            <a:blip r:embed="rId3"/>
            <a:stretch>
              <a:fillRect/>
            </a:stretch>
          </p:blipFill>
          <p:spPr>
            <a:xfrm>
              <a:off x="640080" y="3840480"/>
              <a:ext cx="320040" cy="320040"/>
            </a:xfrm>
            <a:prstGeom prst="rect">
              <a:avLst/>
            </a:prstGeom>
          </p:spPr>
        </p:pic>
        <p:sp>
          <p:nvSpPr>
            <p:cNvPr id="26" name="Text 19">
              <a:extLst>
                <a:ext uri="{FF2B5EF4-FFF2-40B4-BE49-F238E27FC236}">
                  <a16:creationId xmlns:a16="http://schemas.microsoft.com/office/drawing/2014/main" id="{6063ABC8-81B7-A35A-ADC7-46C3A7B6109A}"/>
                </a:ext>
              </a:extLst>
            </p:cNvPr>
            <p:cNvSpPr/>
            <p:nvPr/>
          </p:nvSpPr>
          <p:spPr>
            <a:xfrm>
              <a:off x="1097280" y="3822192"/>
              <a:ext cx="7406640" cy="45720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First step: go to Settings tab → paste your API key → click Save Key. A green confirmation will appear.</a:t>
              </a:r>
              <a:endParaRPr lang="en-US" sz="1200" dirty="0"/>
            </a:p>
          </p:txBody>
        </p:sp>
        <p:sp>
          <p:nvSpPr>
            <p:cNvPr id="28" name="Text 19">
              <a:extLst>
                <a:ext uri="{FF2B5EF4-FFF2-40B4-BE49-F238E27FC236}">
                  <a16:creationId xmlns:a16="http://schemas.microsoft.com/office/drawing/2014/main" id="{8E3B1F0F-93A7-2E1B-D92F-FBC112EA42A1}"/>
                </a:ext>
              </a:extLst>
            </p:cNvPr>
            <p:cNvSpPr/>
            <p:nvPr/>
          </p:nvSpPr>
          <p:spPr>
            <a:xfrm>
              <a:off x="1080743" y="4343400"/>
              <a:ext cx="7406640" cy="45720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Test It is working with a call with the Sequence Prediction tab.</a:t>
              </a:r>
              <a:endParaRPr lang="en-US" sz="1200" dirty="0"/>
            </a:p>
          </p:txBody>
        </p:sp>
      </p:grpSp>
      <p:grpSp>
        <p:nvGrpSpPr>
          <p:cNvPr id="47" name="Group 46">
            <a:extLst>
              <a:ext uri="{FF2B5EF4-FFF2-40B4-BE49-F238E27FC236}">
                <a16:creationId xmlns:a16="http://schemas.microsoft.com/office/drawing/2014/main" id="{DB2FB4A0-CA9D-BE99-449E-EDE6F59A72A5}"/>
              </a:ext>
            </a:extLst>
          </p:cNvPr>
          <p:cNvGrpSpPr/>
          <p:nvPr/>
        </p:nvGrpSpPr>
        <p:grpSpPr>
          <a:xfrm>
            <a:off x="343918" y="3476872"/>
            <a:ext cx="8321040" cy="649224"/>
            <a:chOff x="481195" y="1059958"/>
            <a:chExt cx="8321040" cy="649224"/>
          </a:xfrm>
        </p:grpSpPr>
        <p:sp>
          <p:nvSpPr>
            <p:cNvPr id="48" name="Text 1"/>
            <p:cNvSpPr/>
            <p:nvPr/>
          </p:nvSpPr>
          <p:spPr>
            <a:xfrm>
              <a:off x="481195" y="1059958"/>
              <a:ext cx="457200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Scoreable Output Types (usable in Variant Analysis &amp; ISM)</a:t>
              </a:r>
              <a:endParaRPr lang="en-US" sz="1200" dirty="0"/>
            </a:p>
          </p:txBody>
        </p:sp>
        <p:sp>
          <p:nvSpPr>
            <p:cNvPr id="49" name="Shape 2"/>
            <p:cNvSpPr/>
            <p:nvPr/>
          </p:nvSpPr>
          <p:spPr>
            <a:xfrm>
              <a:off x="481195" y="1379998"/>
              <a:ext cx="731520" cy="320040"/>
            </a:xfrm>
            <a:prstGeom prst="rect">
              <a:avLst/>
            </a:prstGeom>
            <a:solidFill>
              <a:srgbClr val="0D9488"/>
            </a:solidFill>
            <a:ln/>
          </p:spPr>
          <p:txBody>
            <a:bodyPr/>
            <a:lstStyle/>
            <a:p>
              <a:endParaRPr lang="fr-CH"/>
            </a:p>
          </p:txBody>
        </p:sp>
        <p:sp>
          <p:nvSpPr>
            <p:cNvPr id="50" name="Text 3"/>
            <p:cNvSpPr/>
            <p:nvPr/>
          </p:nvSpPr>
          <p:spPr>
            <a:xfrm>
              <a:off x="48119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ATAC</a:t>
              </a:r>
              <a:endParaRPr lang="en-US" sz="800" dirty="0"/>
            </a:p>
          </p:txBody>
        </p:sp>
        <p:sp>
          <p:nvSpPr>
            <p:cNvPr id="51" name="Shape 4"/>
            <p:cNvSpPr/>
            <p:nvPr/>
          </p:nvSpPr>
          <p:spPr>
            <a:xfrm>
              <a:off x="1304155" y="1379998"/>
              <a:ext cx="731520" cy="320040"/>
            </a:xfrm>
            <a:prstGeom prst="rect">
              <a:avLst/>
            </a:prstGeom>
            <a:solidFill>
              <a:srgbClr val="0D9488"/>
            </a:solidFill>
            <a:ln/>
          </p:spPr>
          <p:txBody>
            <a:bodyPr/>
            <a:lstStyle/>
            <a:p>
              <a:endParaRPr lang="fr-CH"/>
            </a:p>
          </p:txBody>
        </p:sp>
        <p:sp>
          <p:nvSpPr>
            <p:cNvPr id="52" name="Text 5"/>
            <p:cNvSpPr/>
            <p:nvPr/>
          </p:nvSpPr>
          <p:spPr>
            <a:xfrm>
              <a:off x="130415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CAGE</a:t>
              </a:r>
              <a:endParaRPr lang="en-US" sz="800" dirty="0"/>
            </a:p>
          </p:txBody>
        </p:sp>
        <p:sp>
          <p:nvSpPr>
            <p:cNvPr id="53" name="Shape 6"/>
            <p:cNvSpPr/>
            <p:nvPr/>
          </p:nvSpPr>
          <p:spPr>
            <a:xfrm>
              <a:off x="2127115" y="1379998"/>
              <a:ext cx="731520" cy="320040"/>
            </a:xfrm>
            <a:prstGeom prst="rect">
              <a:avLst/>
            </a:prstGeom>
            <a:solidFill>
              <a:srgbClr val="0D9488"/>
            </a:solidFill>
            <a:ln/>
          </p:spPr>
          <p:txBody>
            <a:bodyPr/>
            <a:lstStyle/>
            <a:p>
              <a:endParaRPr lang="fr-CH"/>
            </a:p>
          </p:txBody>
        </p:sp>
        <p:sp>
          <p:nvSpPr>
            <p:cNvPr id="54" name="Text 7"/>
            <p:cNvSpPr/>
            <p:nvPr/>
          </p:nvSpPr>
          <p:spPr>
            <a:xfrm>
              <a:off x="212711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DNASE</a:t>
              </a:r>
              <a:endParaRPr lang="en-US" sz="800" dirty="0"/>
            </a:p>
          </p:txBody>
        </p:sp>
        <p:sp>
          <p:nvSpPr>
            <p:cNvPr id="55" name="Shape 8"/>
            <p:cNvSpPr/>
            <p:nvPr/>
          </p:nvSpPr>
          <p:spPr>
            <a:xfrm>
              <a:off x="2950075" y="1379998"/>
              <a:ext cx="731520" cy="320040"/>
            </a:xfrm>
            <a:prstGeom prst="rect">
              <a:avLst/>
            </a:prstGeom>
            <a:solidFill>
              <a:srgbClr val="0D9488"/>
            </a:solidFill>
            <a:ln/>
          </p:spPr>
          <p:txBody>
            <a:bodyPr/>
            <a:lstStyle/>
            <a:p>
              <a:endParaRPr lang="fr-CH"/>
            </a:p>
          </p:txBody>
        </p:sp>
        <p:sp>
          <p:nvSpPr>
            <p:cNvPr id="56" name="Text 9"/>
            <p:cNvSpPr/>
            <p:nvPr/>
          </p:nvSpPr>
          <p:spPr>
            <a:xfrm>
              <a:off x="295007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RNA_SEQ</a:t>
              </a:r>
              <a:endParaRPr lang="en-US" sz="800" dirty="0"/>
            </a:p>
          </p:txBody>
        </p:sp>
        <p:sp>
          <p:nvSpPr>
            <p:cNvPr id="57" name="Shape 10"/>
            <p:cNvSpPr/>
            <p:nvPr/>
          </p:nvSpPr>
          <p:spPr>
            <a:xfrm>
              <a:off x="3773035" y="1379998"/>
              <a:ext cx="731520" cy="320040"/>
            </a:xfrm>
            <a:prstGeom prst="rect">
              <a:avLst/>
            </a:prstGeom>
            <a:solidFill>
              <a:srgbClr val="0D9488"/>
            </a:solidFill>
            <a:ln/>
          </p:spPr>
          <p:txBody>
            <a:bodyPr/>
            <a:lstStyle/>
            <a:p>
              <a:endParaRPr lang="fr-CH"/>
            </a:p>
          </p:txBody>
        </p:sp>
        <p:sp>
          <p:nvSpPr>
            <p:cNvPr id="58" name="Text 11"/>
            <p:cNvSpPr/>
            <p:nvPr/>
          </p:nvSpPr>
          <p:spPr>
            <a:xfrm>
              <a:off x="377303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CHIP_HISTONE</a:t>
              </a:r>
              <a:endParaRPr lang="en-US" sz="800" dirty="0"/>
            </a:p>
          </p:txBody>
        </p:sp>
        <p:sp>
          <p:nvSpPr>
            <p:cNvPr id="59" name="Shape 12"/>
            <p:cNvSpPr/>
            <p:nvPr/>
          </p:nvSpPr>
          <p:spPr>
            <a:xfrm>
              <a:off x="4595995" y="1379998"/>
              <a:ext cx="731520" cy="320040"/>
            </a:xfrm>
            <a:prstGeom prst="rect">
              <a:avLst/>
            </a:prstGeom>
            <a:solidFill>
              <a:srgbClr val="0D9488"/>
            </a:solidFill>
            <a:ln/>
          </p:spPr>
          <p:txBody>
            <a:bodyPr/>
            <a:lstStyle/>
            <a:p>
              <a:endParaRPr lang="fr-CH"/>
            </a:p>
          </p:txBody>
        </p:sp>
        <p:sp>
          <p:nvSpPr>
            <p:cNvPr id="60" name="Text 13"/>
            <p:cNvSpPr/>
            <p:nvPr/>
          </p:nvSpPr>
          <p:spPr>
            <a:xfrm>
              <a:off x="4595995" y="1379998"/>
              <a:ext cx="731520" cy="320040"/>
            </a:xfrm>
            <a:prstGeom prst="rect">
              <a:avLst/>
            </a:prstGeom>
            <a:noFill/>
            <a:ln/>
          </p:spPr>
          <p:txBody>
            <a:bodyPr wrap="square" rtlCol="0" anchor="ctr"/>
            <a:lstStyle/>
            <a:p>
              <a:pPr marL="0" indent="0" algn="ctr">
                <a:buNone/>
              </a:pPr>
              <a:r>
                <a:rPr lang="en-US" sz="800" b="1" dirty="0">
                  <a:solidFill>
                    <a:srgbClr val="FFFFFF"/>
                  </a:solidFill>
                  <a:latin typeface="Consolas" pitchFamily="34" charset="0"/>
                  <a:ea typeface="Consolas" pitchFamily="34" charset="-122"/>
                  <a:cs typeface="Consolas" pitchFamily="34" charset="-120"/>
                </a:rPr>
                <a:t>CHIP_TF</a:t>
              </a:r>
              <a:endParaRPr lang="en-US" sz="800" dirty="0"/>
            </a:p>
          </p:txBody>
        </p:sp>
        <p:sp>
          <p:nvSpPr>
            <p:cNvPr id="61" name="Text 14"/>
            <p:cNvSpPr/>
            <p:nvPr/>
          </p:nvSpPr>
          <p:spPr>
            <a:xfrm>
              <a:off x="5601835" y="1059958"/>
              <a:ext cx="2926080" cy="27432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Plot-only:</a:t>
              </a:r>
              <a:endParaRPr lang="en-US" sz="1200" dirty="0"/>
            </a:p>
          </p:txBody>
        </p:sp>
        <p:sp>
          <p:nvSpPr>
            <p:cNvPr id="62" name="Shape 15"/>
            <p:cNvSpPr/>
            <p:nvPr/>
          </p:nvSpPr>
          <p:spPr>
            <a:xfrm>
              <a:off x="5601835" y="1379998"/>
              <a:ext cx="731520" cy="320040"/>
            </a:xfrm>
            <a:prstGeom prst="rect">
              <a:avLst/>
            </a:prstGeom>
            <a:solidFill>
              <a:srgbClr val="64748B"/>
            </a:solidFill>
            <a:ln/>
          </p:spPr>
          <p:txBody>
            <a:bodyPr/>
            <a:lstStyle/>
            <a:p>
              <a:endParaRPr lang="fr-CH"/>
            </a:p>
          </p:txBody>
        </p:sp>
        <p:sp>
          <p:nvSpPr>
            <p:cNvPr id="63" name="Text 16"/>
            <p:cNvSpPr/>
            <p:nvPr/>
          </p:nvSpPr>
          <p:spPr>
            <a:xfrm>
              <a:off x="5601835" y="1361710"/>
              <a:ext cx="731520" cy="347472"/>
            </a:xfrm>
            <a:prstGeom prst="rect">
              <a:avLst/>
            </a:prstGeom>
            <a:noFill/>
            <a:ln/>
          </p:spPr>
          <p:txBody>
            <a:bodyPr wrap="square" rtlCol="0" anchor="ctr"/>
            <a:lstStyle/>
            <a:p>
              <a:pPr marL="0" indent="0" algn="ctr">
                <a:buNone/>
              </a:pPr>
              <a:r>
                <a:rPr lang="en-US" sz="700" dirty="0">
                  <a:solidFill>
                    <a:srgbClr val="FFFFFF"/>
                  </a:solidFill>
                  <a:latin typeface="Consolas" pitchFamily="34" charset="0"/>
                  <a:ea typeface="Consolas" pitchFamily="34" charset="-122"/>
                  <a:cs typeface="Consolas" pitchFamily="34" charset="-120"/>
                </a:rPr>
                <a:t>SPLICE</a:t>
              </a:r>
              <a:endParaRPr lang="en-US" sz="700" dirty="0"/>
            </a:p>
            <a:p>
              <a:pPr marL="0" indent="0" algn="ctr">
                <a:buNone/>
              </a:pPr>
              <a:r>
                <a:rPr lang="en-US" sz="700" dirty="0">
                  <a:solidFill>
                    <a:srgbClr val="FFFFFF"/>
                  </a:solidFill>
                  <a:latin typeface="Consolas" pitchFamily="34" charset="0"/>
                  <a:ea typeface="Consolas" pitchFamily="34" charset="-122"/>
                  <a:cs typeface="Consolas" pitchFamily="34" charset="-120"/>
                </a:rPr>
                <a:t>SITES</a:t>
              </a:r>
              <a:endParaRPr lang="en-US" sz="700" dirty="0"/>
            </a:p>
          </p:txBody>
        </p:sp>
        <p:sp>
          <p:nvSpPr>
            <p:cNvPr id="64" name="Shape 17"/>
            <p:cNvSpPr/>
            <p:nvPr/>
          </p:nvSpPr>
          <p:spPr>
            <a:xfrm>
              <a:off x="6424795" y="1379998"/>
              <a:ext cx="731520" cy="320040"/>
            </a:xfrm>
            <a:prstGeom prst="rect">
              <a:avLst/>
            </a:prstGeom>
            <a:solidFill>
              <a:srgbClr val="64748B"/>
            </a:solidFill>
            <a:ln/>
          </p:spPr>
          <p:txBody>
            <a:bodyPr/>
            <a:lstStyle/>
            <a:p>
              <a:endParaRPr lang="fr-CH"/>
            </a:p>
          </p:txBody>
        </p:sp>
        <p:sp>
          <p:nvSpPr>
            <p:cNvPr id="65" name="Text 18"/>
            <p:cNvSpPr/>
            <p:nvPr/>
          </p:nvSpPr>
          <p:spPr>
            <a:xfrm>
              <a:off x="6424795" y="1361710"/>
              <a:ext cx="731520" cy="347472"/>
            </a:xfrm>
            <a:prstGeom prst="rect">
              <a:avLst/>
            </a:prstGeom>
            <a:noFill/>
            <a:ln/>
          </p:spPr>
          <p:txBody>
            <a:bodyPr wrap="square" rtlCol="0" anchor="ctr"/>
            <a:lstStyle/>
            <a:p>
              <a:pPr marL="0" indent="0" algn="ctr">
                <a:buNone/>
              </a:pPr>
              <a:r>
                <a:rPr lang="en-US" sz="700" dirty="0">
                  <a:solidFill>
                    <a:srgbClr val="FFFFFF"/>
                  </a:solidFill>
                  <a:latin typeface="Consolas" pitchFamily="34" charset="0"/>
                  <a:ea typeface="Consolas" pitchFamily="34" charset="-122"/>
                  <a:cs typeface="Consolas" pitchFamily="34" charset="-120"/>
                </a:rPr>
                <a:t>SPLICE</a:t>
              </a:r>
              <a:endParaRPr lang="en-US" sz="700" dirty="0"/>
            </a:p>
            <a:p>
              <a:pPr marL="0" indent="0" algn="ctr">
                <a:buNone/>
              </a:pPr>
              <a:r>
                <a:rPr lang="en-US" sz="700" dirty="0">
                  <a:solidFill>
                    <a:srgbClr val="FFFFFF"/>
                  </a:solidFill>
                  <a:latin typeface="Consolas" pitchFamily="34" charset="0"/>
                  <a:ea typeface="Consolas" pitchFamily="34" charset="-122"/>
                  <a:cs typeface="Consolas" pitchFamily="34" charset="-120"/>
                </a:rPr>
                <a:t>SITE_USAGE</a:t>
              </a:r>
              <a:endParaRPr lang="en-US" sz="700" dirty="0"/>
            </a:p>
          </p:txBody>
        </p:sp>
        <p:sp>
          <p:nvSpPr>
            <p:cNvPr id="66" name="Shape 19"/>
            <p:cNvSpPr/>
            <p:nvPr/>
          </p:nvSpPr>
          <p:spPr>
            <a:xfrm>
              <a:off x="7247755" y="1379998"/>
              <a:ext cx="731520" cy="320040"/>
            </a:xfrm>
            <a:prstGeom prst="rect">
              <a:avLst/>
            </a:prstGeom>
            <a:solidFill>
              <a:srgbClr val="64748B"/>
            </a:solidFill>
            <a:ln/>
          </p:spPr>
          <p:txBody>
            <a:bodyPr/>
            <a:lstStyle/>
            <a:p>
              <a:endParaRPr lang="fr-CH"/>
            </a:p>
          </p:txBody>
        </p:sp>
        <p:sp>
          <p:nvSpPr>
            <p:cNvPr id="67" name="Text 20"/>
            <p:cNvSpPr/>
            <p:nvPr/>
          </p:nvSpPr>
          <p:spPr>
            <a:xfrm>
              <a:off x="7247755" y="1361710"/>
              <a:ext cx="731520" cy="347472"/>
            </a:xfrm>
            <a:prstGeom prst="rect">
              <a:avLst/>
            </a:prstGeom>
            <a:noFill/>
            <a:ln/>
          </p:spPr>
          <p:txBody>
            <a:bodyPr wrap="square" rtlCol="0" anchor="ctr"/>
            <a:lstStyle/>
            <a:p>
              <a:pPr marL="0" indent="0" algn="ctr">
                <a:buNone/>
              </a:pPr>
              <a:r>
                <a:rPr lang="en-US" sz="700" dirty="0">
                  <a:solidFill>
                    <a:srgbClr val="FFFFFF"/>
                  </a:solidFill>
                  <a:latin typeface="Consolas" pitchFamily="34" charset="0"/>
                  <a:ea typeface="Consolas" pitchFamily="34" charset="-122"/>
                  <a:cs typeface="Consolas" pitchFamily="34" charset="-120"/>
                </a:rPr>
                <a:t>SPLICE</a:t>
              </a:r>
              <a:endParaRPr lang="en-US" sz="700" dirty="0"/>
            </a:p>
            <a:p>
              <a:pPr marL="0" indent="0" algn="ctr">
                <a:buNone/>
              </a:pPr>
              <a:r>
                <a:rPr lang="en-US" sz="700" dirty="0">
                  <a:solidFill>
                    <a:srgbClr val="FFFFFF"/>
                  </a:solidFill>
                  <a:latin typeface="Consolas" pitchFamily="34" charset="0"/>
                  <a:ea typeface="Consolas" pitchFamily="34" charset="-122"/>
                  <a:cs typeface="Consolas" pitchFamily="34" charset="-120"/>
                </a:rPr>
                <a:t>JUNCTIONS</a:t>
              </a:r>
              <a:endParaRPr lang="en-US" sz="700" dirty="0"/>
            </a:p>
          </p:txBody>
        </p:sp>
        <p:sp>
          <p:nvSpPr>
            <p:cNvPr id="68" name="Shape 21"/>
            <p:cNvSpPr/>
            <p:nvPr/>
          </p:nvSpPr>
          <p:spPr>
            <a:xfrm>
              <a:off x="8070715" y="1379998"/>
              <a:ext cx="731520" cy="320040"/>
            </a:xfrm>
            <a:prstGeom prst="rect">
              <a:avLst/>
            </a:prstGeom>
            <a:solidFill>
              <a:srgbClr val="64748B"/>
            </a:solidFill>
            <a:ln/>
          </p:spPr>
          <p:txBody>
            <a:bodyPr/>
            <a:lstStyle/>
            <a:p>
              <a:endParaRPr lang="fr-CH"/>
            </a:p>
          </p:txBody>
        </p:sp>
        <p:sp>
          <p:nvSpPr>
            <p:cNvPr id="69" name="Text 22"/>
            <p:cNvSpPr/>
            <p:nvPr/>
          </p:nvSpPr>
          <p:spPr>
            <a:xfrm>
              <a:off x="8070715" y="1361710"/>
              <a:ext cx="731520" cy="347472"/>
            </a:xfrm>
            <a:prstGeom prst="rect">
              <a:avLst/>
            </a:prstGeom>
            <a:noFill/>
            <a:ln/>
          </p:spPr>
          <p:txBody>
            <a:bodyPr wrap="square" rtlCol="0" anchor="ctr"/>
            <a:lstStyle/>
            <a:p>
              <a:pPr marL="0" indent="0" algn="ctr">
                <a:buNone/>
              </a:pPr>
              <a:r>
                <a:rPr lang="en-US" sz="700" dirty="0">
                  <a:solidFill>
                    <a:srgbClr val="FFFFFF"/>
                  </a:solidFill>
                  <a:latin typeface="Consolas" pitchFamily="34" charset="0"/>
                  <a:ea typeface="Consolas" pitchFamily="34" charset="-122"/>
                  <a:cs typeface="Consolas" pitchFamily="34" charset="-120"/>
                </a:rPr>
                <a:t>PROCAP</a:t>
              </a:r>
              <a:endParaRPr lang="en-US" sz="700" dirty="0"/>
            </a:p>
          </p:txBody>
        </p:sp>
      </p:grpSp>
      <p:sp>
        <p:nvSpPr>
          <p:cNvPr id="76" name="Shape 18">
            <a:extLst>
              <a:ext uri="{FF2B5EF4-FFF2-40B4-BE49-F238E27FC236}">
                <a16:creationId xmlns:a16="http://schemas.microsoft.com/office/drawing/2014/main" id="{F9C66904-31B9-2266-F139-292C2422ABAA}"/>
              </a:ext>
            </a:extLst>
          </p:cNvPr>
          <p:cNvSpPr/>
          <p:nvPr/>
        </p:nvSpPr>
        <p:spPr>
          <a:xfrm>
            <a:off x="337433" y="2210971"/>
            <a:ext cx="8229600" cy="408790"/>
          </a:xfrm>
          <a:prstGeom prst="rect">
            <a:avLst/>
          </a:prstGeom>
          <a:solidFill>
            <a:schemeClr val="accent1">
              <a:lumMod val="40000"/>
              <a:lumOff val="60000"/>
            </a:schemeClr>
          </a:solidFill>
          <a:ln/>
        </p:spPr>
        <p:txBody>
          <a:bodyPr/>
          <a:lstStyle/>
          <a:p>
            <a:endParaRPr lang="fr-CH" dirty="0"/>
          </a:p>
        </p:txBody>
      </p:sp>
      <p:sp>
        <p:nvSpPr>
          <p:cNvPr id="78" name="Text 19">
            <a:extLst>
              <a:ext uri="{FF2B5EF4-FFF2-40B4-BE49-F238E27FC236}">
                <a16:creationId xmlns:a16="http://schemas.microsoft.com/office/drawing/2014/main" id="{B944CBD2-BBFC-A5E4-FD9A-A13990BBBE7E}"/>
              </a:ext>
            </a:extLst>
          </p:cNvPr>
          <p:cNvSpPr/>
          <p:nvPr/>
        </p:nvSpPr>
        <p:spPr>
          <a:xfrm>
            <a:off x="960976" y="2171877"/>
            <a:ext cx="7406640" cy="45720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Look at the guide page to see the training datasets.</a:t>
            </a:r>
            <a:endParaRPr lang="en-US" sz="1200" dirty="0"/>
          </a:p>
        </p:txBody>
      </p:sp>
    </p:spTree>
    <p:extLst>
      <p:ext uri="{BB962C8B-B14F-4D97-AF65-F5344CB8AC3E}">
        <p14:creationId xmlns:p14="http://schemas.microsoft.com/office/powerpoint/2010/main" val="29519359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Hands-On Group Exercise</a:t>
            </a:r>
            <a:endParaRPr lang="en-US" sz="2800" dirty="0"/>
          </a:p>
        </p:txBody>
      </p:sp>
      <p:sp>
        <p:nvSpPr>
          <p:cNvPr id="3" name="Text 1"/>
          <p:cNvSpPr/>
          <p:nvPr/>
        </p:nvSpPr>
        <p:spPr>
          <a:xfrm>
            <a:off x="457200" y="640080"/>
            <a:ext cx="8229600" cy="27432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4 groups  ·  1 module each  ·  Explore, then teach the rest of us</a:t>
            </a:r>
            <a:endParaRPr lang="en-US" sz="1200" dirty="0"/>
          </a:p>
        </p:txBody>
      </p:sp>
      <p:sp>
        <p:nvSpPr>
          <p:cNvPr id="4" name="Shape 2"/>
          <p:cNvSpPr/>
          <p:nvPr/>
        </p:nvSpPr>
        <p:spPr>
          <a:xfrm>
            <a:off x="320040" y="1051560"/>
            <a:ext cx="507492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5" name="Shape 3"/>
          <p:cNvSpPr/>
          <p:nvPr/>
        </p:nvSpPr>
        <p:spPr>
          <a:xfrm>
            <a:off x="457200" y="1216152"/>
            <a:ext cx="502920" cy="502920"/>
          </a:xfrm>
          <a:prstGeom prst="ellipse">
            <a:avLst/>
          </a:prstGeom>
          <a:solidFill>
            <a:srgbClr val="0D9488"/>
          </a:solidFill>
          <a:ln/>
        </p:spPr>
        <p:txBody>
          <a:bodyPr/>
          <a:lstStyle/>
          <a:p>
            <a:endParaRPr lang="fr-CH"/>
          </a:p>
        </p:txBody>
      </p:sp>
      <p:sp>
        <p:nvSpPr>
          <p:cNvPr id="6" name="Text 4"/>
          <p:cNvSpPr/>
          <p:nvPr/>
        </p:nvSpPr>
        <p:spPr>
          <a:xfrm>
            <a:off x="457200" y="1234440"/>
            <a:ext cx="502920" cy="4572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7" name="Text 5"/>
          <p:cNvSpPr/>
          <p:nvPr/>
        </p:nvSpPr>
        <p:spPr>
          <a:xfrm>
            <a:off x="1097280" y="1097280"/>
            <a:ext cx="2286000" cy="22860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Interval Prediction</a:t>
            </a:r>
            <a:endParaRPr lang="en-US" sz="1300" dirty="0"/>
          </a:p>
        </p:txBody>
      </p:sp>
      <p:sp>
        <p:nvSpPr>
          <p:cNvPr id="8" name="Text 6"/>
          <p:cNvSpPr/>
          <p:nvPr/>
        </p:nvSpPr>
        <p:spPr>
          <a:xfrm>
            <a:off x="1097280" y="1325880"/>
            <a:ext cx="4114800" cy="256032"/>
          </a:xfrm>
          <a:prstGeom prst="rect">
            <a:avLst/>
          </a:prstGeom>
          <a:noFill/>
          <a:ln/>
        </p:spPr>
        <p:txBody>
          <a:bodyPr wrap="square" lIns="0" tIns="0" rIns="0" bIns="0" rtlCol="0" anchor="ctr"/>
          <a:lstStyle/>
          <a:p>
            <a:pPr marL="0" indent="0">
              <a:buNone/>
            </a:pPr>
            <a:r>
              <a:rPr lang="en-US" sz="850" dirty="0">
                <a:solidFill>
                  <a:srgbClr val="0D9488"/>
                </a:solidFill>
                <a:latin typeface="Consolas" pitchFamily="34" charset="0"/>
                <a:ea typeface="Consolas" pitchFamily="34" charset="-122"/>
                <a:cs typeface="Consolas" pitchFamily="34" charset="-120"/>
              </a:rPr>
              <a:t>Gene: RBM20  |  Try different tissues</a:t>
            </a:r>
            <a:endParaRPr lang="en-US" sz="850" dirty="0"/>
          </a:p>
          <a:p>
            <a:pPr marL="0" indent="0">
              <a:buNone/>
            </a:pPr>
            <a:r>
              <a:rPr lang="en-US" sz="850" dirty="0">
                <a:solidFill>
                  <a:srgbClr val="0D9488"/>
                </a:solidFill>
                <a:latin typeface="Consolas" pitchFamily="34" charset="0"/>
                <a:ea typeface="Consolas" pitchFamily="34" charset="-122"/>
                <a:cs typeface="Consolas" pitchFamily="34" charset="-120"/>
              </a:rPr>
              <a:t>and output types</a:t>
            </a:r>
            <a:endParaRPr lang="en-US" sz="850" dirty="0"/>
          </a:p>
        </p:txBody>
      </p:sp>
      <p:sp>
        <p:nvSpPr>
          <p:cNvPr id="9" name="Text 7"/>
          <p:cNvSpPr/>
          <p:nvPr/>
        </p:nvSpPr>
        <p:spPr>
          <a:xfrm>
            <a:off x="1097280" y="1600200"/>
            <a:ext cx="4114800" cy="27432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Which tissue/organ shows the strongest</a:t>
            </a:r>
            <a:endParaRPr lang="en-US" sz="850" dirty="0"/>
          </a:p>
          <a:p>
            <a:pPr marL="0" indent="0">
              <a:buNone/>
            </a:pPr>
            <a:r>
              <a:rPr lang="en-US" sz="850" i="1" dirty="0">
                <a:solidFill>
                  <a:srgbClr val="64748B"/>
                </a:solidFill>
                <a:latin typeface="Calibri" pitchFamily="34" charset="0"/>
                <a:ea typeface="Calibri" pitchFamily="34" charset="-122"/>
                <a:cs typeface="Calibri" pitchFamily="34" charset="-120"/>
              </a:rPr>
              <a:t>expression for RBM20? Why might that matter?</a:t>
            </a:r>
            <a:endParaRPr lang="en-US" sz="850" dirty="0"/>
          </a:p>
        </p:txBody>
      </p:sp>
      <p:sp>
        <p:nvSpPr>
          <p:cNvPr id="10" name="Shape 8"/>
          <p:cNvSpPr/>
          <p:nvPr/>
        </p:nvSpPr>
        <p:spPr>
          <a:xfrm>
            <a:off x="320040" y="2029968"/>
            <a:ext cx="507492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1" name="Shape 9"/>
          <p:cNvSpPr/>
          <p:nvPr/>
        </p:nvSpPr>
        <p:spPr>
          <a:xfrm>
            <a:off x="457200" y="2194560"/>
            <a:ext cx="502920" cy="502920"/>
          </a:xfrm>
          <a:prstGeom prst="ellipse">
            <a:avLst/>
          </a:prstGeom>
          <a:solidFill>
            <a:srgbClr val="1A252F"/>
          </a:solidFill>
          <a:ln/>
        </p:spPr>
        <p:txBody>
          <a:bodyPr/>
          <a:lstStyle/>
          <a:p>
            <a:endParaRPr lang="fr-CH"/>
          </a:p>
        </p:txBody>
      </p:sp>
      <p:sp>
        <p:nvSpPr>
          <p:cNvPr id="12" name="Text 10"/>
          <p:cNvSpPr/>
          <p:nvPr/>
        </p:nvSpPr>
        <p:spPr>
          <a:xfrm>
            <a:off x="457200" y="2212848"/>
            <a:ext cx="502920" cy="4572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13" name="Text 11"/>
          <p:cNvSpPr/>
          <p:nvPr/>
        </p:nvSpPr>
        <p:spPr>
          <a:xfrm>
            <a:off x="1097280" y="2075688"/>
            <a:ext cx="2286000" cy="22860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Variant Analysis</a:t>
            </a:r>
            <a:endParaRPr lang="en-US" sz="1300" dirty="0"/>
          </a:p>
        </p:txBody>
      </p:sp>
      <p:sp>
        <p:nvSpPr>
          <p:cNvPr id="14" name="Text 12"/>
          <p:cNvSpPr/>
          <p:nvPr/>
        </p:nvSpPr>
        <p:spPr>
          <a:xfrm>
            <a:off x="1097280" y="2304288"/>
            <a:ext cx="4114800" cy="256032"/>
          </a:xfrm>
          <a:prstGeom prst="rect">
            <a:avLst/>
          </a:prstGeom>
          <a:noFill/>
          <a:ln/>
        </p:spPr>
        <p:txBody>
          <a:bodyPr wrap="square" lIns="0" tIns="0" rIns="0" bIns="0" rtlCol="0" anchor="ctr"/>
          <a:lstStyle/>
          <a:p>
            <a:pPr marL="0" indent="0">
              <a:buNone/>
            </a:pPr>
            <a:r>
              <a:rPr lang="en-US" sz="850" dirty="0">
                <a:solidFill>
                  <a:srgbClr val="0D9488"/>
                </a:solidFill>
                <a:latin typeface="Consolas" pitchFamily="34" charset="0"/>
                <a:ea typeface="Consolas" pitchFamily="34" charset="-122"/>
                <a:cs typeface="Consolas" pitchFamily="34" charset="-120"/>
              </a:rPr>
              <a:t>chr22 : 36,201,698  A→C  |  RNA_SEQ</a:t>
            </a:r>
            <a:endParaRPr lang="en-US" sz="850" dirty="0"/>
          </a:p>
          <a:p>
            <a:pPr marL="0" indent="0">
              <a:buNone/>
            </a:pPr>
            <a:r>
              <a:rPr lang="en-US" sz="850" dirty="0">
                <a:solidFill>
                  <a:srgbClr val="0D9488"/>
                </a:solidFill>
                <a:latin typeface="Consolas" pitchFamily="34" charset="0"/>
                <a:ea typeface="Consolas" pitchFamily="34" charset="-122"/>
                <a:cs typeface="Consolas" pitchFamily="34" charset="-120"/>
              </a:rPr>
              <a:t>Colon Transverse  |  Explore scores table</a:t>
            </a:r>
            <a:endParaRPr lang="en-US" sz="850" dirty="0"/>
          </a:p>
        </p:txBody>
      </p:sp>
      <p:sp>
        <p:nvSpPr>
          <p:cNvPr id="15" name="Text 13"/>
          <p:cNvSpPr/>
          <p:nvPr/>
        </p:nvSpPr>
        <p:spPr>
          <a:xfrm>
            <a:off x="1097280" y="2578608"/>
            <a:ext cx="4114800" cy="27432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What effect does this variant have on</a:t>
            </a:r>
            <a:endParaRPr lang="en-US" sz="850" dirty="0"/>
          </a:p>
          <a:p>
            <a:pPr marL="0" indent="0">
              <a:buNone/>
            </a:pPr>
            <a:r>
              <a:rPr lang="en-US" sz="850" i="1" dirty="0">
                <a:solidFill>
                  <a:srgbClr val="64748B"/>
                </a:solidFill>
                <a:latin typeface="Calibri" pitchFamily="34" charset="0"/>
                <a:ea typeface="Calibri" pitchFamily="34" charset="-122"/>
                <a:cs typeface="Calibri" pitchFamily="34" charset="-120"/>
              </a:rPr>
              <a:t>gene expression? Which gene is affected?</a:t>
            </a:r>
            <a:endParaRPr lang="en-US" sz="850" dirty="0"/>
          </a:p>
        </p:txBody>
      </p:sp>
      <p:sp>
        <p:nvSpPr>
          <p:cNvPr id="16" name="Shape 14"/>
          <p:cNvSpPr/>
          <p:nvPr/>
        </p:nvSpPr>
        <p:spPr>
          <a:xfrm>
            <a:off x="320040" y="3008376"/>
            <a:ext cx="507492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7" name="Shape 15"/>
          <p:cNvSpPr/>
          <p:nvPr/>
        </p:nvSpPr>
        <p:spPr>
          <a:xfrm>
            <a:off x="457200" y="3172968"/>
            <a:ext cx="502920" cy="502920"/>
          </a:xfrm>
          <a:prstGeom prst="ellipse">
            <a:avLst/>
          </a:prstGeom>
          <a:solidFill>
            <a:srgbClr val="334155"/>
          </a:solidFill>
          <a:ln/>
        </p:spPr>
        <p:txBody>
          <a:bodyPr/>
          <a:lstStyle/>
          <a:p>
            <a:endParaRPr lang="fr-CH"/>
          </a:p>
        </p:txBody>
      </p:sp>
      <p:sp>
        <p:nvSpPr>
          <p:cNvPr id="18" name="Text 16"/>
          <p:cNvSpPr/>
          <p:nvPr/>
        </p:nvSpPr>
        <p:spPr>
          <a:xfrm>
            <a:off x="457200" y="3191256"/>
            <a:ext cx="502920" cy="4572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19" name="Text 17"/>
          <p:cNvSpPr/>
          <p:nvPr/>
        </p:nvSpPr>
        <p:spPr>
          <a:xfrm>
            <a:off x="1097280" y="3054096"/>
            <a:ext cx="2286000" cy="22860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ISM Analysis</a:t>
            </a:r>
            <a:endParaRPr lang="en-US" sz="1300" dirty="0"/>
          </a:p>
        </p:txBody>
      </p:sp>
      <p:sp>
        <p:nvSpPr>
          <p:cNvPr id="20" name="Text 18"/>
          <p:cNvSpPr/>
          <p:nvPr/>
        </p:nvSpPr>
        <p:spPr>
          <a:xfrm>
            <a:off x="1097280" y="3282696"/>
            <a:ext cx="4114800" cy="256032"/>
          </a:xfrm>
          <a:prstGeom prst="rect">
            <a:avLst/>
          </a:prstGeom>
          <a:noFill/>
          <a:ln/>
        </p:spPr>
        <p:txBody>
          <a:bodyPr wrap="square" lIns="0" tIns="0" rIns="0" bIns="0" rtlCol="0" anchor="ctr"/>
          <a:lstStyle/>
          <a:p>
            <a:pPr marL="0" indent="0">
              <a:buNone/>
            </a:pPr>
            <a:r>
              <a:rPr lang="en-US" sz="850" dirty="0">
                <a:solidFill>
                  <a:srgbClr val="0D9488"/>
                </a:solidFill>
                <a:latin typeface="Consolas" pitchFamily="34" charset="0"/>
                <a:ea typeface="Consolas" pitchFamily="34" charset="-122"/>
                <a:cs typeface="Consolas" pitchFamily="34" charset="-120"/>
              </a:rPr>
              <a:t>chr20 : 3,753,200  |  DNASE  |  K562</a:t>
            </a:r>
            <a:endParaRPr lang="en-US" sz="850" dirty="0"/>
          </a:p>
          <a:p>
            <a:pPr marL="0" indent="0">
              <a:buNone/>
            </a:pPr>
            <a:r>
              <a:rPr lang="en-US" sz="850" dirty="0">
                <a:solidFill>
                  <a:srgbClr val="0D9488"/>
                </a:solidFill>
                <a:latin typeface="Consolas" pitchFamily="34" charset="0"/>
                <a:ea typeface="Consolas" pitchFamily="34" charset="-122"/>
                <a:cs typeface="Consolas" pitchFamily="34" charset="-120"/>
              </a:rPr>
              <a:t>256 bp  |  Context: 16 KB</a:t>
            </a:r>
            <a:endParaRPr lang="en-US" sz="850" dirty="0"/>
          </a:p>
        </p:txBody>
      </p:sp>
      <p:sp>
        <p:nvSpPr>
          <p:cNvPr id="21" name="Text 19"/>
          <p:cNvSpPr/>
          <p:nvPr/>
        </p:nvSpPr>
        <p:spPr>
          <a:xfrm>
            <a:off x="1097280" y="3557016"/>
            <a:ext cx="4114800" cy="27432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Which positions matter most? What might</a:t>
            </a:r>
            <a:endParaRPr lang="en-US" sz="850" dirty="0"/>
          </a:p>
          <a:p>
            <a:pPr marL="0" indent="0">
              <a:buNone/>
            </a:pPr>
            <a:r>
              <a:rPr lang="en-US" sz="850" i="1" dirty="0">
                <a:solidFill>
                  <a:srgbClr val="64748B"/>
                </a:solidFill>
                <a:latin typeface="Calibri" pitchFamily="34" charset="0"/>
                <a:ea typeface="Calibri" pitchFamily="34" charset="-122"/>
                <a:cs typeface="Calibri" pitchFamily="34" charset="-120"/>
              </a:rPr>
              <a:t>the tall letters in the logo represent?</a:t>
            </a:r>
            <a:endParaRPr lang="en-US" sz="850" dirty="0"/>
          </a:p>
        </p:txBody>
      </p:sp>
      <p:sp>
        <p:nvSpPr>
          <p:cNvPr id="22" name="Shape 20"/>
          <p:cNvSpPr/>
          <p:nvPr/>
        </p:nvSpPr>
        <p:spPr>
          <a:xfrm>
            <a:off x="320040" y="3986784"/>
            <a:ext cx="5074920" cy="8686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dirty="0"/>
          </a:p>
        </p:txBody>
      </p:sp>
      <p:sp>
        <p:nvSpPr>
          <p:cNvPr id="23" name="Shape 21"/>
          <p:cNvSpPr/>
          <p:nvPr/>
        </p:nvSpPr>
        <p:spPr>
          <a:xfrm>
            <a:off x="457200" y="4151376"/>
            <a:ext cx="502920" cy="502920"/>
          </a:xfrm>
          <a:prstGeom prst="ellipse">
            <a:avLst/>
          </a:prstGeom>
          <a:solidFill>
            <a:srgbClr val="3B82F6"/>
          </a:solidFill>
          <a:ln/>
        </p:spPr>
        <p:txBody>
          <a:bodyPr/>
          <a:lstStyle/>
          <a:p>
            <a:endParaRPr lang="fr-CH"/>
          </a:p>
        </p:txBody>
      </p:sp>
      <p:sp>
        <p:nvSpPr>
          <p:cNvPr id="24" name="Text 22"/>
          <p:cNvSpPr/>
          <p:nvPr/>
        </p:nvSpPr>
        <p:spPr>
          <a:xfrm>
            <a:off x="457200" y="4169664"/>
            <a:ext cx="502920" cy="4572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25" name="Text 23"/>
          <p:cNvSpPr/>
          <p:nvPr/>
        </p:nvSpPr>
        <p:spPr>
          <a:xfrm>
            <a:off x="1097280" y="4032504"/>
            <a:ext cx="2286000" cy="22860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rPr>
              <a:t>Contact Maps</a:t>
            </a:r>
            <a:endParaRPr lang="en-US" sz="1300" dirty="0"/>
          </a:p>
        </p:txBody>
      </p:sp>
      <p:sp>
        <p:nvSpPr>
          <p:cNvPr id="26" name="Text 24"/>
          <p:cNvSpPr/>
          <p:nvPr/>
        </p:nvSpPr>
        <p:spPr>
          <a:xfrm>
            <a:off x="1097280" y="4261104"/>
            <a:ext cx="4114800" cy="256032"/>
          </a:xfrm>
          <a:prstGeom prst="rect">
            <a:avLst/>
          </a:prstGeom>
          <a:noFill/>
          <a:ln/>
        </p:spPr>
        <p:txBody>
          <a:bodyPr wrap="square" lIns="0" tIns="0" rIns="0" bIns="0" rtlCol="0" anchor="ctr"/>
          <a:lstStyle/>
          <a:p>
            <a:pPr marL="0" indent="0">
              <a:buNone/>
            </a:pPr>
            <a:r>
              <a:rPr lang="en-US" sz="850" dirty="0">
                <a:solidFill>
                  <a:srgbClr val="0D9488"/>
                </a:solidFill>
                <a:latin typeface="Consolas" pitchFamily="34" charset="0"/>
                <a:ea typeface="Consolas" pitchFamily="34" charset="-122"/>
                <a:cs typeface="Consolas" pitchFamily="34" charset="-120"/>
              </a:rPr>
              <a:t>Try A gene of interest</a:t>
            </a:r>
            <a:endParaRPr lang="en-US" sz="850" dirty="0"/>
          </a:p>
        </p:txBody>
      </p:sp>
      <p:sp>
        <p:nvSpPr>
          <p:cNvPr id="27" name="Text 25"/>
          <p:cNvSpPr/>
          <p:nvPr/>
        </p:nvSpPr>
        <p:spPr>
          <a:xfrm>
            <a:off x="1097280" y="4535424"/>
            <a:ext cx="2929971" cy="27432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What does the model predict? What is Hi-C? What are the different output about? </a:t>
            </a:r>
            <a:endParaRPr lang="en-US" sz="850" dirty="0"/>
          </a:p>
        </p:txBody>
      </p:sp>
      <p:sp>
        <p:nvSpPr>
          <p:cNvPr id="28" name="Shape 26"/>
          <p:cNvSpPr/>
          <p:nvPr/>
        </p:nvSpPr>
        <p:spPr>
          <a:xfrm>
            <a:off x="5760720" y="1051560"/>
            <a:ext cx="301752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29" name="Shape 27"/>
          <p:cNvSpPr/>
          <p:nvPr/>
        </p:nvSpPr>
        <p:spPr>
          <a:xfrm>
            <a:off x="5760720" y="1051560"/>
            <a:ext cx="3017520" cy="365760"/>
          </a:xfrm>
          <a:prstGeom prst="rect">
            <a:avLst/>
          </a:prstGeom>
          <a:solidFill>
            <a:srgbClr val="0D9488"/>
          </a:solidFill>
          <a:ln/>
        </p:spPr>
        <p:txBody>
          <a:bodyPr/>
          <a:lstStyle/>
          <a:p>
            <a:endParaRPr lang="fr-CH"/>
          </a:p>
        </p:txBody>
      </p:sp>
      <p:sp>
        <p:nvSpPr>
          <p:cNvPr id="30" name="Text 28"/>
          <p:cNvSpPr/>
          <p:nvPr/>
        </p:nvSpPr>
        <p:spPr>
          <a:xfrm>
            <a:off x="5897880" y="1078992"/>
            <a:ext cx="2743200" cy="320040"/>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Phase 1  ·  10 minutes</a:t>
            </a:r>
            <a:endParaRPr lang="en-US" sz="1200" dirty="0"/>
          </a:p>
        </p:txBody>
      </p:sp>
      <p:sp>
        <p:nvSpPr>
          <p:cNvPr id="31" name="Text 29"/>
          <p:cNvSpPr/>
          <p:nvPr/>
        </p:nvSpPr>
        <p:spPr>
          <a:xfrm>
            <a:off x="5897880" y="1508760"/>
            <a:ext cx="2743200" cy="256032"/>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Explore your module</a:t>
            </a:r>
            <a:endParaRPr lang="en-US" sz="1300" dirty="0"/>
          </a:p>
        </p:txBody>
      </p:sp>
      <p:sp>
        <p:nvSpPr>
          <p:cNvPr id="32" name="Text 30"/>
          <p:cNvSpPr/>
          <p:nvPr/>
        </p:nvSpPr>
        <p:spPr>
          <a:xfrm>
            <a:off x="5897880" y="1783080"/>
            <a:ext cx="2743200" cy="68580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Run the suggested example first,</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then experiment — change tissues,</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output types, parameters. Try to</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understand what the output means.</a:t>
            </a:r>
            <a:endParaRPr lang="en-US" sz="1100" dirty="0"/>
          </a:p>
        </p:txBody>
      </p:sp>
      <p:sp>
        <p:nvSpPr>
          <p:cNvPr id="33" name="Text 31"/>
          <p:cNvSpPr/>
          <p:nvPr/>
        </p:nvSpPr>
        <p:spPr>
          <a:xfrm>
            <a:off x="6949440" y="2606040"/>
            <a:ext cx="640080" cy="274320"/>
          </a:xfrm>
          <a:prstGeom prst="rect">
            <a:avLst/>
          </a:prstGeom>
          <a:noFill/>
          <a:ln/>
        </p:spPr>
        <p:txBody>
          <a:bodyPr wrap="square" rtlCol="0" anchor="ctr"/>
          <a:lstStyle/>
          <a:p>
            <a:pPr marL="0" indent="0" algn="ctr">
              <a:buNone/>
            </a:pPr>
            <a:r>
              <a:rPr lang="en-US" sz="1800" b="1" dirty="0">
                <a:solidFill>
                  <a:srgbClr val="0D9488"/>
                </a:solidFill>
              </a:rPr>
              <a:t>▼</a:t>
            </a:r>
            <a:endParaRPr lang="en-US" sz="1800" dirty="0"/>
          </a:p>
        </p:txBody>
      </p:sp>
      <p:sp>
        <p:nvSpPr>
          <p:cNvPr id="34" name="Shape 32"/>
          <p:cNvSpPr/>
          <p:nvPr/>
        </p:nvSpPr>
        <p:spPr>
          <a:xfrm>
            <a:off x="5760720" y="2926080"/>
            <a:ext cx="3017520" cy="14173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35" name="Shape 33"/>
          <p:cNvSpPr/>
          <p:nvPr/>
        </p:nvSpPr>
        <p:spPr>
          <a:xfrm>
            <a:off x="5760720" y="2926080"/>
            <a:ext cx="3017520" cy="365760"/>
          </a:xfrm>
          <a:prstGeom prst="rect">
            <a:avLst/>
          </a:prstGeom>
          <a:solidFill>
            <a:srgbClr val="1A252F"/>
          </a:solidFill>
          <a:ln/>
        </p:spPr>
        <p:txBody>
          <a:bodyPr/>
          <a:lstStyle/>
          <a:p>
            <a:endParaRPr lang="fr-CH"/>
          </a:p>
        </p:txBody>
      </p:sp>
      <p:sp>
        <p:nvSpPr>
          <p:cNvPr id="36" name="Text 34"/>
          <p:cNvSpPr/>
          <p:nvPr/>
        </p:nvSpPr>
        <p:spPr>
          <a:xfrm>
            <a:off x="5897880" y="2953512"/>
            <a:ext cx="2743200" cy="320040"/>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Phase 2  ·  5 min × 4 groups</a:t>
            </a:r>
            <a:endParaRPr lang="en-US" sz="1200" dirty="0"/>
          </a:p>
        </p:txBody>
      </p:sp>
      <p:sp>
        <p:nvSpPr>
          <p:cNvPr id="37" name="Text 35"/>
          <p:cNvSpPr/>
          <p:nvPr/>
        </p:nvSpPr>
        <p:spPr>
          <a:xfrm>
            <a:off x="5897880" y="3383280"/>
            <a:ext cx="2743200" cy="22860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Report back to the group</a:t>
            </a:r>
            <a:endParaRPr lang="en-US" sz="1300" dirty="0"/>
          </a:p>
        </p:txBody>
      </p:sp>
      <p:sp>
        <p:nvSpPr>
          <p:cNvPr id="38" name="Text 36"/>
          <p:cNvSpPr/>
          <p:nvPr/>
        </p:nvSpPr>
        <p:spPr>
          <a:xfrm>
            <a:off x="5897880" y="3639312"/>
            <a:ext cx="2743200" cy="64008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What does this module do?
</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 What did you observe?
</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 How could an immunologist use this?</a:t>
            </a:r>
            <a:endParaRPr lang="en-US" sz="1100" dirty="0"/>
          </a:p>
        </p:txBody>
      </p:sp>
      <p:sp>
        <p:nvSpPr>
          <p:cNvPr id="39" name="Shape 37"/>
          <p:cNvSpPr/>
          <p:nvPr/>
        </p:nvSpPr>
        <p:spPr>
          <a:xfrm>
            <a:off x="5760720" y="4434840"/>
            <a:ext cx="3017520" cy="320040"/>
          </a:xfrm>
          <a:prstGeom prst="rect">
            <a:avLst/>
          </a:prstGeom>
          <a:solidFill>
            <a:srgbClr val="ECFDF5"/>
          </a:solidFill>
          <a:ln/>
        </p:spPr>
        <p:txBody>
          <a:bodyPr/>
          <a:lstStyle/>
          <a:p>
            <a:endParaRPr lang="fr-CH"/>
          </a:p>
        </p:txBody>
      </p:sp>
      <p:sp>
        <p:nvSpPr>
          <p:cNvPr id="40" name="Text 38"/>
          <p:cNvSpPr/>
          <p:nvPr/>
        </p:nvSpPr>
        <p:spPr>
          <a:xfrm>
            <a:off x="5760720" y="4443984"/>
            <a:ext cx="3017520" cy="301752"/>
          </a:xfrm>
          <a:prstGeom prst="rect">
            <a:avLst/>
          </a:prstGeom>
          <a:noFill/>
          <a:ln/>
        </p:spPr>
        <p:txBody>
          <a:bodyPr wrap="square" lIns="0" tIns="0" rIns="0" bIns="0" rtlCol="0" anchor="ctr"/>
          <a:lstStyle/>
          <a:p>
            <a:pPr marL="0" indent="0" algn="ctr">
              <a:buNone/>
            </a:pPr>
            <a:r>
              <a:rPr lang="en-US" sz="1300" b="1" dirty="0">
                <a:solidFill>
                  <a:srgbClr val="0D9488"/>
                </a:solidFill>
                <a:latin typeface="Trebuchet MS" pitchFamily="34" charset="0"/>
                <a:ea typeface="Trebuchet MS" pitchFamily="34" charset="-122"/>
                <a:cs typeface="Trebuchet MS" pitchFamily="34" charset="-120"/>
              </a:rPr>
              <a:t>Total: ~35 minutes</a:t>
            </a:r>
            <a:endParaRPr lang="en-US" sz="1300" dirty="0"/>
          </a:p>
        </p:txBody>
      </p:sp>
      <p:sp>
        <p:nvSpPr>
          <p:cNvPr id="41" name="Text 39"/>
          <p:cNvSpPr/>
          <p:nvPr/>
        </p:nvSpPr>
        <p:spPr>
          <a:xfrm>
            <a:off x="457200" y="4754880"/>
            <a:ext cx="8229600" cy="27432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5667-16C0-94C2-414E-0946F8B9392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9B60BD0-F397-D021-9E16-CA817EBF56C5}"/>
              </a:ext>
            </a:extLst>
          </p:cNvPr>
          <p:cNvSpPr/>
          <p:nvPr/>
        </p:nvSpPr>
        <p:spPr>
          <a:xfrm>
            <a:off x="548640" y="320040"/>
            <a:ext cx="8046720" cy="54864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AlphaGenome Explorer — Overview</a:t>
            </a:r>
            <a:endParaRPr lang="en-US" sz="2800" dirty="0"/>
          </a:p>
        </p:txBody>
      </p:sp>
      <p:sp>
        <p:nvSpPr>
          <p:cNvPr id="3" name="Text 1">
            <a:extLst>
              <a:ext uri="{FF2B5EF4-FFF2-40B4-BE49-F238E27FC236}">
                <a16:creationId xmlns:a16="http://schemas.microsoft.com/office/drawing/2014/main" id="{84EAF17C-EE20-1A7C-4286-6ECA83050991}"/>
              </a:ext>
            </a:extLst>
          </p:cNvPr>
          <p:cNvSpPr/>
          <p:nvPr/>
        </p:nvSpPr>
        <p:spPr>
          <a:xfrm>
            <a:off x="548640" y="822960"/>
            <a:ext cx="8046720" cy="27432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A no-code web interface wrapping the AlphaGenome API into four prediction modules</a:t>
            </a:r>
            <a:endParaRPr lang="en-US" sz="1200" dirty="0"/>
          </a:p>
        </p:txBody>
      </p:sp>
      <p:sp>
        <p:nvSpPr>
          <p:cNvPr id="27" name="Text 20">
            <a:extLst>
              <a:ext uri="{FF2B5EF4-FFF2-40B4-BE49-F238E27FC236}">
                <a16:creationId xmlns:a16="http://schemas.microsoft.com/office/drawing/2014/main" id="{58E466C8-D107-53B5-8164-D1736C1FDDCA}"/>
              </a:ext>
            </a:extLst>
          </p:cNvPr>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grpSp>
        <p:nvGrpSpPr>
          <p:cNvPr id="46" name="Group 45">
            <a:extLst>
              <a:ext uri="{FF2B5EF4-FFF2-40B4-BE49-F238E27FC236}">
                <a16:creationId xmlns:a16="http://schemas.microsoft.com/office/drawing/2014/main" id="{0B1D1B63-0227-89B4-B406-289DE0032A67}"/>
              </a:ext>
            </a:extLst>
          </p:cNvPr>
          <p:cNvGrpSpPr/>
          <p:nvPr/>
        </p:nvGrpSpPr>
        <p:grpSpPr>
          <a:xfrm>
            <a:off x="291710" y="1733057"/>
            <a:ext cx="8275323" cy="2340326"/>
            <a:chOff x="321340" y="1319157"/>
            <a:chExt cx="8275323" cy="2340326"/>
          </a:xfrm>
        </p:grpSpPr>
        <p:sp>
          <p:nvSpPr>
            <p:cNvPr id="9" name="Shape 6">
              <a:extLst>
                <a:ext uri="{FF2B5EF4-FFF2-40B4-BE49-F238E27FC236}">
                  <a16:creationId xmlns:a16="http://schemas.microsoft.com/office/drawing/2014/main" id="{0A072656-4170-C675-E2AB-E46B7DC4258C}"/>
                </a:ext>
              </a:extLst>
            </p:cNvPr>
            <p:cNvSpPr/>
            <p:nvPr/>
          </p:nvSpPr>
          <p:spPr>
            <a:xfrm>
              <a:off x="2038932" y="1371600"/>
              <a:ext cx="144000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4" name="Shape 2">
              <a:extLst>
                <a:ext uri="{FF2B5EF4-FFF2-40B4-BE49-F238E27FC236}">
                  <a16:creationId xmlns:a16="http://schemas.microsoft.com/office/drawing/2014/main" id="{7AAB87A7-65AD-4074-65CE-9715796ED720}"/>
                </a:ext>
              </a:extLst>
            </p:cNvPr>
            <p:cNvSpPr/>
            <p:nvPr/>
          </p:nvSpPr>
          <p:spPr>
            <a:xfrm>
              <a:off x="365760" y="1371600"/>
              <a:ext cx="144000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5" name="Shape 3">
              <a:extLst>
                <a:ext uri="{FF2B5EF4-FFF2-40B4-BE49-F238E27FC236}">
                  <a16:creationId xmlns:a16="http://schemas.microsoft.com/office/drawing/2014/main" id="{7A471E9E-DDD3-DC2E-97A8-7D6873BC29BC}"/>
                </a:ext>
              </a:extLst>
            </p:cNvPr>
            <p:cNvSpPr/>
            <p:nvPr/>
          </p:nvSpPr>
          <p:spPr>
            <a:xfrm>
              <a:off x="365760" y="1371600"/>
              <a:ext cx="1440000" cy="594360"/>
            </a:xfrm>
            <a:prstGeom prst="rect">
              <a:avLst/>
            </a:prstGeom>
            <a:solidFill>
              <a:srgbClr val="0D9488"/>
            </a:solidFill>
            <a:ln/>
          </p:spPr>
          <p:txBody>
            <a:bodyPr/>
            <a:lstStyle/>
            <a:p>
              <a:endParaRPr lang="fr-CH"/>
            </a:p>
          </p:txBody>
        </p:sp>
        <p:pic>
          <p:nvPicPr>
            <p:cNvPr id="6" name="Image 0" descr="preencoded.png">
              <a:extLst>
                <a:ext uri="{FF2B5EF4-FFF2-40B4-BE49-F238E27FC236}">
                  <a16:creationId xmlns:a16="http://schemas.microsoft.com/office/drawing/2014/main" id="{F3F426A5-EE60-FE93-8863-4FCC8E162187}"/>
                </a:ext>
              </a:extLst>
            </p:cNvPr>
            <p:cNvPicPr>
              <a:picLocks noChangeAspect="1"/>
            </p:cNvPicPr>
            <p:nvPr/>
          </p:nvPicPr>
          <p:blipFill>
            <a:blip r:embed="rId3">
              <a:grayscl/>
            </a:blip>
            <a:stretch>
              <a:fillRect/>
            </a:stretch>
          </p:blipFill>
          <p:spPr>
            <a:xfrm>
              <a:off x="948690" y="1463040"/>
              <a:ext cx="411480" cy="411480"/>
            </a:xfrm>
            <a:prstGeom prst="rect">
              <a:avLst/>
            </a:prstGeom>
          </p:spPr>
        </p:pic>
        <p:sp>
          <p:nvSpPr>
            <p:cNvPr id="7" name="Text 4">
              <a:extLst>
                <a:ext uri="{FF2B5EF4-FFF2-40B4-BE49-F238E27FC236}">
                  <a16:creationId xmlns:a16="http://schemas.microsoft.com/office/drawing/2014/main" id="{72A5FEAC-9B29-568B-8AB1-FFE07995D9E6}"/>
                </a:ext>
              </a:extLst>
            </p:cNvPr>
            <p:cNvSpPr/>
            <p:nvPr/>
          </p:nvSpPr>
          <p:spPr>
            <a:xfrm>
              <a:off x="321340" y="2057400"/>
              <a:ext cx="1691640" cy="548640"/>
            </a:xfrm>
            <a:prstGeom prst="rect">
              <a:avLst/>
            </a:prstGeom>
            <a:noFill/>
            <a:ln/>
          </p:spPr>
          <p:txBody>
            <a:bodyPr wrap="square" rtlCol="0" anchor="ctr"/>
            <a:lstStyle/>
            <a:p>
              <a:pPr marL="0" indent="0" algn="ctr">
                <a:buNone/>
              </a:pPr>
              <a:r>
                <a:rPr lang="en-US" sz="1400" b="1" dirty="0">
                  <a:solidFill>
                    <a:srgbClr val="0F172A"/>
                  </a:solidFill>
                  <a:latin typeface="Trebuchet MS" pitchFamily="34" charset="0"/>
                  <a:ea typeface="Trebuchet MS" pitchFamily="34" charset="-122"/>
                  <a:cs typeface="Trebuchet MS" pitchFamily="34" charset="-120"/>
                </a:rPr>
                <a:t>Sequence</a:t>
              </a:r>
              <a:endParaRPr lang="en-US" sz="1400" dirty="0"/>
            </a:p>
            <a:p>
              <a:pPr marL="0" indent="0" algn="ctr">
                <a:buNone/>
              </a:pPr>
              <a:r>
                <a:rPr lang="en-US" sz="1400" b="1" dirty="0">
                  <a:solidFill>
                    <a:srgbClr val="0F172A"/>
                  </a:solidFill>
                  <a:latin typeface="Trebuchet MS" pitchFamily="34" charset="0"/>
                  <a:ea typeface="Trebuchet MS" pitchFamily="34" charset="-122"/>
                  <a:cs typeface="Trebuchet MS" pitchFamily="34" charset="-120"/>
                </a:rPr>
                <a:t>Prediction</a:t>
              </a:r>
              <a:endParaRPr lang="en-US" sz="1400" dirty="0"/>
            </a:p>
          </p:txBody>
        </p:sp>
        <p:sp>
          <p:nvSpPr>
            <p:cNvPr id="8" name="Text 5">
              <a:extLst>
                <a:ext uri="{FF2B5EF4-FFF2-40B4-BE49-F238E27FC236}">
                  <a16:creationId xmlns:a16="http://schemas.microsoft.com/office/drawing/2014/main" id="{0FE3BCE2-7288-1BE0-A2A9-38EE2C298BD9}"/>
                </a:ext>
              </a:extLst>
            </p:cNvPr>
            <p:cNvSpPr/>
            <p:nvPr/>
          </p:nvSpPr>
          <p:spPr>
            <a:xfrm>
              <a:off x="321340" y="2651760"/>
              <a:ext cx="1691640" cy="6858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Predict from raw DNA text.</a:t>
              </a:r>
              <a:endParaRPr lang="en-US" sz="1100" dirty="0"/>
            </a:p>
            <a:p>
              <a:pPr marL="0" indent="0" algn="ctr">
                <a:buNone/>
              </a:pPr>
              <a:r>
                <a:rPr lang="en-US" sz="1100" dirty="0">
                  <a:solidFill>
                    <a:srgbClr val="64748B"/>
                  </a:solidFill>
                  <a:latin typeface="Calibri" pitchFamily="34" charset="0"/>
                  <a:ea typeface="Calibri" pitchFamily="34" charset="-122"/>
                  <a:cs typeface="Calibri" pitchFamily="34" charset="-120"/>
                </a:rPr>
                <a:t>No coordinates needed.</a:t>
              </a:r>
              <a:endParaRPr lang="en-US" sz="1100" dirty="0"/>
            </a:p>
          </p:txBody>
        </p:sp>
        <p:sp>
          <p:nvSpPr>
            <p:cNvPr id="10" name="Shape 7">
              <a:extLst>
                <a:ext uri="{FF2B5EF4-FFF2-40B4-BE49-F238E27FC236}">
                  <a16:creationId xmlns:a16="http://schemas.microsoft.com/office/drawing/2014/main" id="{42B96D8B-C04B-5AA5-956B-214714185D03}"/>
                </a:ext>
              </a:extLst>
            </p:cNvPr>
            <p:cNvSpPr/>
            <p:nvPr/>
          </p:nvSpPr>
          <p:spPr>
            <a:xfrm>
              <a:off x="2038932" y="1371600"/>
              <a:ext cx="1440000" cy="594360"/>
            </a:xfrm>
            <a:prstGeom prst="rect">
              <a:avLst/>
            </a:prstGeom>
            <a:solidFill>
              <a:srgbClr val="14B8A6"/>
            </a:solidFill>
            <a:ln/>
          </p:spPr>
          <p:txBody>
            <a:bodyPr/>
            <a:lstStyle/>
            <a:p>
              <a:endParaRPr lang="fr-CH"/>
            </a:p>
          </p:txBody>
        </p:sp>
        <p:pic>
          <p:nvPicPr>
            <p:cNvPr id="11" name="Image 1" descr="preencoded.png">
              <a:extLst>
                <a:ext uri="{FF2B5EF4-FFF2-40B4-BE49-F238E27FC236}">
                  <a16:creationId xmlns:a16="http://schemas.microsoft.com/office/drawing/2014/main" id="{32C25122-F08D-1BC3-764B-CDADB80D7E18}"/>
                </a:ext>
              </a:extLst>
            </p:cNvPr>
            <p:cNvPicPr>
              <a:picLocks noChangeAspect="1"/>
            </p:cNvPicPr>
            <p:nvPr/>
          </p:nvPicPr>
          <p:blipFill>
            <a:blip r:embed="rId4"/>
            <a:stretch>
              <a:fillRect/>
            </a:stretch>
          </p:blipFill>
          <p:spPr>
            <a:xfrm>
              <a:off x="2619888" y="1466805"/>
              <a:ext cx="411480" cy="411480"/>
            </a:xfrm>
            <a:prstGeom prst="rect">
              <a:avLst/>
            </a:prstGeom>
          </p:spPr>
        </p:pic>
        <p:sp>
          <p:nvSpPr>
            <p:cNvPr id="12" name="Text 8">
              <a:extLst>
                <a:ext uri="{FF2B5EF4-FFF2-40B4-BE49-F238E27FC236}">
                  <a16:creationId xmlns:a16="http://schemas.microsoft.com/office/drawing/2014/main" id="{A3E7772F-9040-CABF-4EC2-C3DD20FE5DDE}"/>
                </a:ext>
              </a:extLst>
            </p:cNvPr>
            <p:cNvSpPr/>
            <p:nvPr/>
          </p:nvSpPr>
          <p:spPr>
            <a:xfrm>
              <a:off x="1979808" y="2066006"/>
              <a:ext cx="1691640" cy="548640"/>
            </a:xfrm>
            <a:prstGeom prst="rect">
              <a:avLst/>
            </a:prstGeom>
            <a:noFill/>
            <a:ln/>
          </p:spPr>
          <p:txBody>
            <a:bodyPr wrap="square" rtlCol="0" anchor="ctr"/>
            <a:lstStyle/>
            <a:p>
              <a:pPr marL="0" indent="0" algn="ctr">
                <a:buNone/>
              </a:pPr>
              <a:r>
                <a:rPr lang="en-US" sz="1400" b="1" dirty="0">
                  <a:solidFill>
                    <a:srgbClr val="0F172A"/>
                  </a:solidFill>
                  <a:latin typeface="Trebuchet MS" pitchFamily="34" charset="0"/>
                  <a:ea typeface="Trebuchet MS" pitchFamily="34" charset="-122"/>
                  <a:cs typeface="Trebuchet MS" pitchFamily="34" charset="-120"/>
                </a:rPr>
                <a:t>Interval</a:t>
              </a:r>
              <a:endParaRPr lang="en-US" sz="1400" dirty="0"/>
            </a:p>
            <a:p>
              <a:pPr marL="0" indent="0" algn="ctr">
                <a:buNone/>
              </a:pPr>
              <a:r>
                <a:rPr lang="en-US" sz="1400" b="1" dirty="0">
                  <a:solidFill>
                    <a:srgbClr val="0F172A"/>
                  </a:solidFill>
                  <a:latin typeface="Trebuchet MS" pitchFamily="34" charset="0"/>
                  <a:ea typeface="Trebuchet MS" pitchFamily="34" charset="-122"/>
                  <a:cs typeface="Trebuchet MS" pitchFamily="34" charset="-120"/>
                </a:rPr>
                <a:t>Prediction</a:t>
              </a:r>
              <a:endParaRPr lang="en-US" sz="1400" dirty="0"/>
            </a:p>
          </p:txBody>
        </p:sp>
        <p:sp>
          <p:nvSpPr>
            <p:cNvPr id="13" name="Text 9">
              <a:extLst>
                <a:ext uri="{FF2B5EF4-FFF2-40B4-BE49-F238E27FC236}">
                  <a16:creationId xmlns:a16="http://schemas.microsoft.com/office/drawing/2014/main" id="{F9623C17-48DE-8C1E-007F-90BFB69A49F5}"/>
                </a:ext>
              </a:extLst>
            </p:cNvPr>
            <p:cNvSpPr/>
            <p:nvPr/>
          </p:nvSpPr>
          <p:spPr>
            <a:xfrm>
              <a:off x="2003029" y="2663056"/>
              <a:ext cx="1691640" cy="6858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Predict for a gene or</a:t>
              </a:r>
              <a:endParaRPr lang="en-US" sz="1100" dirty="0"/>
            </a:p>
            <a:p>
              <a:pPr marL="0" indent="0" algn="ctr">
                <a:buNone/>
              </a:pPr>
              <a:r>
                <a:rPr lang="en-US" sz="1100" dirty="0">
                  <a:solidFill>
                    <a:srgbClr val="64748B"/>
                  </a:solidFill>
                  <a:latin typeface="Calibri" pitchFamily="34" charset="0"/>
                  <a:ea typeface="Calibri" pitchFamily="34" charset="-122"/>
                  <a:cs typeface="Calibri" pitchFamily="34" charset="-120"/>
                </a:rPr>
                <a:t>genomic region (hg38).</a:t>
              </a:r>
              <a:endParaRPr lang="en-US" sz="1100" dirty="0"/>
            </a:p>
          </p:txBody>
        </p:sp>
        <p:sp>
          <p:nvSpPr>
            <p:cNvPr id="14" name="Shape 10">
              <a:extLst>
                <a:ext uri="{FF2B5EF4-FFF2-40B4-BE49-F238E27FC236}">
                  <a16:creationId xmlns:a16="http://schemas.microsoft.com/office/drawing/2014/main" id="{BD0F5F16-061B-0DC0-73C1-C60E2A0FBA6A}"/>
                </a:ext>
              </a:extLst>
            </p:cNvPr>
            <p:cNvSpPr/>
            <p:nvPr/>
          </p:nvSpPr>
          <p:spPr>
            <a:xfrm>
              <a:off x="3709372" y="1373483"/>
              <a:ext cx="144000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15" name="Shape 11">
              <a:extLst>
                <a:ext uri="{FF2B5EF4-FFF2-40B4-BE49-F238E27FC236}">
                  <a16:creationId xmlns:a16="http://schemas.microsoft.com/office/drawing/2014/main" id="{92755A67-5E60-ADD5-689A-9E615D21A0CB}"/>
                </a:ext>
              </a:extLst>
            </p:cNvPr>
            <p:cNvSpPr/>
            <p:nvPr/>
          </p:nvSpPr>
          <p:spPr>
            <a:xfrm>
              <a:off x="3709372" y="1373483"/>
              <a:ext cx="1440000" cy="594360"/>
            </a:xfrm>
            <a:prstGeom prst="rect">
              <a:avLst/>
            </a:prstGeom>
            <a:solidFill>
              <a:srgbClr val="1A252F"/>
            </a:solidFill>
            <a:ln/>
          </p:spPr>
          <p:txBody>
            <a:bodyPr/>
            <a:lstStyle/>
            <a:p>
              <a:endParaRPr lang="fr-CH"/>
            </a:p>
          </p:txBody>
        </p:sp>
        <p:pic>
          <p:nvPicPr>
            <p:cNvPr id="16" name="Image 2" descr="preencoded.png">
              <a:extLst>
                <a:ext uri="{FF2B5EF4-FFF2-40B4-BE49-F238E27FC236}">
                  <a16:creationId xmlns:a16="http://schemas.microsoft.com/office/drawing/2014/main" id="{8D3CDDF6-4081-1DAA-E62A-81964CC19CA3}"/>
                </a:ext>
              </a:extLst>
            </p:cNvPr>
            <p:cNvPicPr>
              <a:picLocks noChangeAspect="1"/>
            </p:cNvPicPr>
            <p:nvPr/>
          </p:nvPicPr>
          <p:blipFill>
            <a:blip r:embed="rId5"/>
            <a:stretch>
              <a:fillRect/>
            </a:stretch>
          </p:blipFill>
          <p:spPr>
            <a:xfrm>
              <a:off x="4223632" y="1472129"/>
              <a:ext cx="411480" cy="411480"/>
            </a:xfrm>
            <a:prstGeom prst="rect">
              <a:avLst/>
            </a:prstGeom>
          </p:spPr>
        </p:pic>
        <p:sp>
          <p:nvSpPr>
            <p:cNvPr id="17" name="Text 12">
              <a:extLst>
                <a:ext uri="{FF2B5EF4-FFF2-40B4-BE49-F238E27FC236}">
                  <a16:creationId xmlns:a16="http://schemas.microsoft.com/office/drawing/2014/main" id="{31566C83-9F1C-4CC6-994B-48B0B1CB149F}"/>
                </a:ext>
              </a:extLst>
            </p:cNvPr>
            <p:cNvSpPr/>
            <p:nvPr/>
          </p:nvSpPr>
          <p:spPr>
            <a:xfrm>
              <a:off x="3523672" y="2059283"/>
              <a:ext cx="1691640" cy="548640"/>
            </a:xfrm>
            <a:prstGeom prst="rect">
              <a:avLst/>
            </a:prstGeom>
            <a:noFill/>
            <a:ln/>
          </p:spPr>
          <p:txBody>
            <a:bodyPr wrap="square" rtlCol="0" anchor="ctr"/>
            <a:lstStyle/>
            <a:p>
              <a:pPr marL="0" indent="0" algn="ctr">
                <a:buNone/>
              </a:pPr>
              <a:r>
                <a:rPr lang="en-US" sz="1400" b="1" dirty="0">
                  <a:solidFill>
                    <a:srgbClr val="0F172A"/>
                  </a:solidFill>
                  <a:latin typeface="Trebuchet MS" pitchFamily="34" charset="0"/>
                  <a:ea typeface="Trebuchet MS" pitchFamily="34" charset="-122"/>
                  <a:cs typeface="Trebuchet MS" pitchFamily="34" charset="-120"/>
                </a:rPr>
                <a:t>Variant</a:t>
              </a:r>
              <a:endParaRPr lang="en-US" sz="1400" dirty="0"/>
            </a:p>
            <a:p>
              <a:pPr marL="0" indent="0" algn="ctr">
                <a:buNone/>
              </a:pPr>
              <a:r>
                <a:rPr lang="en-US" sz="1400" b="1" dirty="0">
                  <a:solidFill>
                    <a:srgbClr val="0F172A"/>
                  </a:solidFill>
                  <a:latin typeface="Trebuchet MS" pitchFamily="34" charset="0"/>
                  <a:ea typeface="Trebuchet MS" pitchFamily="34" charset="-122"/>
                  <a:cs typeface="Trebuchet MS" pitchFamily="34" charset="-120"/>
                </a:rPr>
                <a:t>Analysis</a:t>
              </a:r>
              <a:endParaRPr lang="en-US" sz="1400" dirty="0"/>
            </a:p>
          </p:txBody>
        </p:sp>
        <p:sp>
          <p:nvSpPr>
            <p:cNvPr id="18" name="Text 13">
              <a:extLst>
                <a:ext uri="{FF2B5EF4-FFF2-40B4-BE49-F238E27FC236}">
                  <a16:creationId xmlns:a16="http://schemas.microsoft.com/office/drawing/2014/main" id="{36E8F7E2-A150-0B3B-AD4F-9E2591FC4E80}"/>
                </a:ext>
              </a:extLst>
            </p:cNvPr>
            <p:cNvSpPr/>
            <p:nvPr/>
          </p:nvSpPr>
          <p:spPr>
            <a:xfrm>
              <a:off x="3783506" y="2687798"/>
              <a:ext cx="1340223" cy="6858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Compare REF vs ALT</a:t>
              </a:r>
              <a:endParaRPr lang="en-US" sz="1100" dirty="0"/>
            </a:p>
            <a:p>
              <a:pPr marL="0" indent="0" algn="ctr">
                <a:buNone/>
              </a:pPr>
              <a:r>
                <a:rPr lang="en-US" sz="1100" dirty="0">
                  <a:solidFill>
                    <a:srgbClr val="64748B"/>
                  </a:solidFill>
                  <a:latin typeface="Calibri" pitchFamily="34" charset="0"/>
                  <a:ea typeface="Calibri" pitchFamily="34" charset="-122"/>
                  <a:cs typeface="Calibri" pitchFamily="34" charset="-120"/>
                </a:rPr>
                <a:t>allele predictions + scores.</a:t>
              </a:r>
              <a:endParaRPr lang="en-US" sz="1100" dirty="0"/>
            </a:p>
          </p:txBody>
        </p:sp>
        <p:sp>
          <p:nvSpPr>
            <p:cNvPr id="19" name="Shape 14">
              <a:extLst>
                <a:ext uri="{FF2B5EF4-FFF2-40B4-BE49-F238E27FC236}">
                  <a16:creationId xmlns:a16="http://schemas.microsoft.com/office/drawing/2014/main" id="{2F365959-6F7D-C81B-F2E7-D16680AFC03A}"/>
                </a:ext>
              </a:extLst>
            </p:cNvPr>
            <p:cNvSpPr/>
            <p:nvPr/>
          </p:nvSpPr>
          <p:spPr>
            <a:xfrm>
              <a:off x="5379812" y="1371600"/>
              <a:ext cx="144000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20" name="Shape 15">
              <a:extLst>
                <a:ext uri="{FF2B5EF4-FFF2-40B4-BE49-F238E27FC236}">
                  <a16:creationId xmlns:a16="http://schemas.microsoft.com/office/drawing/2014/main" id="{364240AF-3401-0F34-0585-A8D4224064E1}"/>
                </a:ext>
              </a:extLst>
            </p:cNvPr>
            <p:cNvSpPr/>
            <p:nvPr/>
          </p:nvSpPr>
          <p:spPr>
            <a:xfrm>
              <a:off x="5379812" y="1371600"/>
              <a:ext cx="1440000" cy="594360"/>
            </a:xfrm>
            <a:prstGeom prst="rect">
              <a:avLst/>
            </a:prstGeom>
            <a:solidFill>
              <a:srgbClr val="334155"/>
            </a:solidFill>
            <a:ln/>
          </p:spPr>
          <p:txBody>
            <a:bodyPr/>
            <a:lstStyle/>
            <a:p>
              <a:endParaRPr lang="fr-CH"/>
            </a:p>
          </p:txBody>
        </p:sp>
        <p:pic>
          <p:nvPicPr>
            <p:cNvPr id="21" name="Image 3" descr="preencoded.png">
              <a:extLst>
                <a:ext uri="{FF2B5EF4-FFF2-40B4-BE49-F238E27FC236}">
                  <a16:creationId xmlns:a16="http://schemas.microsoft.com/office/drawing/2014/main" id="{9F4645DC-81B1-649E-3A74-8A65844A752A}"/>
                </a:ext>
              </a:extLst>
            </p:cNvPr>
            <p:cNvPicPr>
              <a:picLocks noChangeAspect="1"/>
            </p:cNvPicPr>
            <p:nvPr/>
          </p:nvPicPr>
          <p:blipFill>
            <a:blip r:embed="rId6"/>
            <a:stretch>
              <a:fillRect/>
            </a:stretch>
          </p:blipFill>
          <p:spPr>
            <a:xfrm>
              <a:off x="5894072" y="1481059"/>
              <a:ext cx="411480" cy="411480"/>
            </a:xfrm>
            <a:prstGeom prst="rect">
              <a:avLst/>
            </a:prstGeom>
          </p:spPr>
        </p:pic>
        <p:sp>
          <p:nvSpPr>
            <p:cNvPr id="22" name="Text 16">
              <a:extLst>
                <a:ext uri="{FF2B5EF4-FFF2-40B4-BE49-F238E27FC236}">
                  <a16:creationId xmlns:a16="http://schemas.microsoft.com/office/drawing/2014/main" id="{C230C4C1-806B-8FCF-78C2-3D4CC378520F}"/>
                </a:ext>
              </a:extLst>
            </p:cNvPr>
            <p:cNvSpPr/>
            <p:nvPr/>
          </p:nvSpPr>
          <p:spPr>
            <a:xfrm>
              <a:off x="5344714" y="2066006"/>
              <a:ext cx="1691640" cy="548640"/>
            </a:xfrm>
            <a:prstGeom prst="rect">
              <a:avLst/>
            </a:prstGeom>
            <a:noFill/>
            <a:ln/>
          </p:spPr>
          <p:txBody>
            <a:bodyPr wrap="square" rtlCol="0" anchor="ctr"/>
            <a:lstStyle/>
            <a:p>
              <a:pPr marL="0" indent="0" algn="ctr">
                <a:buNone/>
              </a:pPr>
              <a:r>
                <a:rPr lang="en-US" sz="1400" b="1" dirty="0">
                  <a:solidFill>
                    <a:srgbClr val="0F172A"/>
                  </a:solidFill>
                  <a:latin typeface="Trebuchet MS" pitchFamily="34" charset="0"/>
                  <a:ea typeface="Trebuchet MS" pitchFamily="34" charset="-122"/>
                  <a:cs typeface="Trebuchet MS" pitchFamily="34" charset="-120"/>
                </a:rPr>
                <a:t>ISM</a:t>
              </a:r>
              <a:endParaRPr lang="en-US" sz="1400" dirty="0"/>
            </a:p>
            <a:p>
              <a:pPr marL="0" indent="0" algn="ctr">
                <a:buNone/>
              </a:pPr>
              <a:r>
                <a:rPr lang="en-US" sz="1400" b="1" dirty="0">
                  <a:solidFill>
                    <a:srgbClr val="0F172A"/>
                  </a:solidFill>
                  <a:latin typeface="Trebuchet MS" pitchFamily="34" charset="0"/>
                  <a:ea typeface="Trebuchet MS" pitchFamily="34" charset="-122"/>
                  <a:cs typeface="Trebuchet MS" pitchFamily="34" charset="-120"/>
                </a:rPr>
                <a:t>Analysis</a:t>
              </a:r>
              <a:endParaRPr lang="en-US" sz="1400" dirty="0"/>
            </a:p>
          </p:txBody>
        </p:sp>
        <p:sp>
          <p:nvSpPr>
            <p:cNvPr id="23" name="Text 17">
              <a:extLst>
                <a:ext uri="{FF2B5EF4-FFF2-40B4-BE49-F238E27FC236}">
                  <a16:creationId xmlns:a16="http://schemas.microsoft.com/office/drawing/2014/main" id="{C2812B29-3079-5482-9DE2-1D05D856B119}"/>
                </a:ext>
              </a:extLst>
            </p:cNvPr>
            <p:cNvSpPr/>
            <p:nvPr/>
          </p:nvSpPr>
          <p:spPr>
            <a:xfrm>
              <a:off x="5595549" y="2711891"/>
              <a:ext cx="1235508" cy="6858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Saturate all bases to find</a:t>
              </a:r>
              <a:endParaRPr lang="en-US" sz="1100" dirty="0"/>
            </a:p>
            <a:p>
              <a:pPr marL="0" indent="0" algn="ctr">
                <a:buNone/>
              </a:pPr>
              <a:r>
                <a:rPr lang="en-US" sz="1100" dirty="0">
                  <a:solidFill>
                    <a:srgbClr val="64748B"/>
                  </a:solidFill>
                  <a:latin typeface="Calibri" pitchFamily="34" charset="0"/>
                  <a:ea typeface="Calibri" pitchFamily="34" charset="-122"/>
                  <a:cs typeface="Calibri" pitchFamily="34" charset="-120"/>
                </a:rPr>
                <a:t>important positions.</a:t>
              </a:r>
              <a:endParaRPr lang="en-US" sz="1100" dirty="0"/>
            </a:p>
          </p:txBody>
        </p:sp>
        <p:sp>
          <p:nvSpPr>
            <p:cNvPr id="35" name="Shape 2">
              <a:extLst>
                <a:ext uri="{FF2B5EF4-FFF2-40B4-BE49-F238E27FC236}">
                  <a16:creationId xmlns:a16="http://schemas.microsoft.com/office/drawing/2014/main" id="{D8D00F43-2B92-EAD3-564F-33CC8B4B483E}"/>
                </a:ext>
              </a:extLst>
            </p:cNvPr>
            <p:cNvSpPr/>
            <p:nvPr/>
          </p:nvSpPr>
          <p:spPr>
            <a:xfrm>
              <a:off x="6993860" y="1371600"/>
              <a:ext cx="144000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36" name="Shape 3">
              <a:extLst>
                <a:ext uri="{FF2B5EF4-FFF2-40B4-BE49-F238E27FC236}">
                  <a16:creationId xmlns:a16="http://schemas.microsoft.com/office/drawing/2014/main" id="{A1C4D743-5FA7-757D-5B49-671C01C3BADC}"/>
                </a:ext>
              </a:extLst>
            </p:cNvPr>
            <p:cNvSpPr/>
            <p:nvPr/>
          </p:nvSpPr>
          <p:spPr>
            <a:xfrm>
              <a:off x="6993860" y="1371600"/>
              <a:ext cx="1440000" cy="594360"/>
            </a:xfrm>
            <a:prstGeom prst="rect">
              <a:avLst/>
            </a:prstGeom>
            <a:solidFill>
              <a:srgbClr val="0D9488"/>
            </a:solidFill>
            <a:ln/>
          </p:spPr>
          <p:txBody>
            <a:bodyPr/>
            <a:lstStyle/>
            <a:p>
              <a:endParaRPr lang="fr-CH"/>
            </a:p>
          </p:txBody>
        </p:sp>
        <p:sp>
          <p:nvSpPr>
            <p:cNvPr id="38" name="Text 4">
              <a:extLst>
                <a:ext uri="{FF2B5EF4-FFF2-40B4-BE49-F238E27FC236}">
                  <a16:creationId xmlns:a16="http://schemas.microsoft.com/office/drawing/2014/main" id="{0EB06336-DC66-F59D-2CDE-3AD26273BBD0}"/>
                </a:ext>
              </a:extLst>
            </p:cNvPr>
            <p:cNvSpPr/>
            <p:nvPr/>
          </p:nvSpPr>
          <p:spPr>
            <a:xfrm>
              <a:off x="6905023" y="2057400"/>
              <a:ext cx="1691640" cy="548640"/>
            </a:xfrm>
            <a:prstGeom prst="rect">
              <a:avLst/>
            </a:prstGeom>
            <a:noFill/>
            <a:ln/>
          </p:spPr>
          <p:txBody>
            <a:bodyPr wrap="square" rtlCol="0" anchor="ctr"/>
            <a:lstStyle/>
            <a:p>
              <a:pPr marL="0" indent="0" algn="ctr">
                <a:buNone/>
              </a:pPr>
              <a:r>
                <a:rPr lang="en-US" sz="1400" b="1" dirty="0">
                  <a:solidFill>
                    <a:srgbClr val="0F172A"/>
                  </a:solidFill>
                  <a:latin typeface="Trebuchet MS" pitchFamily="34" charset="0"/>
                  <a:ea typeface="Trebuchet MS" pitchFamily="34" charset="-122"/>
                  <a:cs typeface="Trebuchet MS" pitchFamily="34" charset="-120"/>
                </a:rPr>
                <a:t>Contact Maps</a:t>
              </a:r>
              <a:endParaRPr lang="en-US" sz="1400" dirty="0"/>
            </a:p>
          </p:txBody>
        </p:sp>
        <p:sp>
          <p:nvSpPr>
            <p:cNvPr id="39" name="Text 5">
              <a:extLst>
                <a:ext uri="{FF2B5EF4-FFF2-40B4-BE49-F238E27FC236}">
                  <a16:creationId xmlns:a16="http://schemas.microsoft.com/office/drawing/2014/main" id="{2F19F029-2847-4271-DC92-30D898AA2ABF}"/>
                </a:ext>
              </a:extLst>
            </p:cNvPr>
            <p:cNvSpPr/>
            <p:nvPr/>
          </p:nvSpPr>
          <p:spPr>
            <a:xfrm>
              <a:off x="7131020" y="2651760"/>
              <a:ext cx="1302840" cy="6858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Hi-C style chromatin maps</a:t>
              </a:r>
              <a:endParaRPr lang="en-US" sz="1100" dirty="0"/>
            </a:p>
          </p:txBody>
        </p:sp>
        <p:pic>
          <p:nvPicPr>
            <p:cNvPr id="41" name="Graphic 40" descr="Braille with solid fill">
              <a:extLst>
                <a:ext uri="{FF2B5EF4-FFF2-40B4-BE49-F238E27FC236}">
                  <a16:creationId xmlns:a16="http://schemas.microsoft.com/office/drawing/2014/main" id="{B12161B6-D206-E465-4C6E-13A2F1074AB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349041" y="1319157"/>
              <a:ext cx="729637" cy="729637"/>
            </a:xfrm>
            <a:prstGeom prst="rect">
              <a:avLst/>
            </a:prstGeom>
          </p:spPr>
        </p:pic>
      </p:grpSp>
    </p:spTree>
    <p:extLst>
      <p:ext uri="{BB962C8B-B14F-4D97-AF65-F5344CB8AC3E}">
        <p14:creationId xmlns:p14="http://schemas.microsoft.com/office/powerpoint/2010/main" val="3690549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fr-CH"/>
          </a:p>
        </p:txBody>
      </p:sp>
      <p:pic>
        <p:nvPicPr>
          <p:cNvPr id="3" name="Image 0" descr="preencoded.png"/>
          <p:cNvPicPr>
            <a:picLocks noChangeAspect="1"/>
          </p:cNvPicPr>
          <p:nvPr/>
        </p:nvPicPr>
        <p:blipFill>
          <a:blip r:embed="rId3"/>
          <a:stretch>
            <a:fillRect/>
          </a:stretch>
        </p:blipFill>
        <p:spPr>
          <a:xfrm>
            <a:off x="731520" y="914400"/>
            <a:ext cx="548640" cy="548640"/>
          </a:xfrm>
          <a:prstGeom prst="rect">
            <a:avLst/>
          </a:prstGeom>
        </p:spPr>
      </p:pic>
      <p:sp>
        <p:nvSpPr>
          <p:cNvPr id="4" name="Text 1"/>
          <p:cNvSpPr/>
          <p:nvPr/>
        </p:nvSpPr>
        <p:spPr>
          <a:xfrm>
            <a:off x="731520" y="1645920"/>
            <a:ext cx="7680960" cy="731520"/>
          </a:xfrm>
          <a:prstGeom prst="rect">
            <a:avLst/>
          </a:prstGeom>
          <a:noFill/>
          <a:ln/>
        </p:spPr>
        <p:txBody>
          <a:bodyPr wrap="square" lIns="0" tIns="0" rIns="0" bIns="0" rtlCol="0" anchor="ctr"/>
          <a:lstStyle/>
          <a:p>
            <a:pPr marL="0" indent="0">
              <a:buNone/>
            </a:pPr>
            <a:r>
              <a:rPr lang="en-US" sz="4000" b="1" dirty="0">
                <a:solidFill>
                  <a:srgbClr val="FFFFFF"/>
                </a:solidFill>
                <a:latin typeface="Trebuchet MS" pitchFamily="34" charset="0"/>
                <a:ea typeface="Trebuchet MS" pitchFamily="34" charset="-122"/>
                <a:cs typeface="Trebuchet MS" pitchFamily="34" charset="-120"/>
              </a:rPr>
              <a:t>Thank You</a:t>
            </a:r>
            <a:endParaRPr lang="en-US" sz="4000" dirty="0"/>
          </a:p>
        </p:txBody>
      </p:sp>
      <p:sp>
        <p:nvSpPr>
          <p:cNvPr id="5" name="Shape 2"/>
          <p:cNvSpPr/>
          <p:nvPr/>
        </p:nvSpPr>
        <p:spPr>
          <a:xfrm>
            <a:off x="731520" y="2468880"/>
            <a:ext cx="1828800" cy="0"/>
          </a:xfrm>
          <a:prstGeom prst="line">
            <a:avLst/>
          </a:prstGeom>
          <a:noFill/>
          <a:ln w="25400">
            <a:solidFill>
              <a:srgbClr val="0D9488"/>
            </a:solidFill>
            <a:prstDash val="solid"/>
          </a:ln>
        </p:spPr>
        <p:txBody>
          <a:bodyPr/>
          <a:lstStyle/>
          <a:p>
            <a:endParaRPr lang="fr-CH"/>
          </a:p>
        </p:txBody>
      </p:sp>
      <p:sp>
        <p:nvSpPr>
          <p:cNvPr id="6" name="Text 3"/>
          <p:cNvSpPr/>
          <p:nvPr/>
        </p:nvSpPr>
        <p:spPr>
          <a:xfrm>
            <a:off x="731520" y="2743200"/>
            <a:ext cx="7680960" cy="320040"/>
          </a:xfrm>
          <a:prstGeom prst="rect">
            <a:avLst/>
          </a:prstGeom>
          <a:noFill/>
          <a:ln/>
        </p:spPr>
        <p:txBody>
          <a:bodyPr wrap="square" rtlCol="0" anchor="ctr"/>
          <a:lstStyle/>
          <a:p>
            <a:pPr marL="0" indent="0">
              <a:buNone/>
            </a:pPr>
            <a:r>
              <a:rPr lang="en-US" sz="1500" b="1" dirty="0">
                <a:solidFill>
                  <a:srgbClr val="14B8A6"/>
                </a:solidFill>
                <a:latin typeface="Calibri" pitchFamily="34" charset="0"/>
                <a:ea typeface="Calibri" pitchFamily="34" charset="-122"/>
                <a:cs typeface="Calibri" pitchFamily="34" charset="-120"/>
              </a:rPr>
              <a:t>Resources</a:t>
            </a:r>
            <a:endParaRPr lang="en-US" sz="1500" dirty="0"/>
          </a:p>
        </p:txBody>
      </p:sp>
      <p:sp>
        <p:nvSpPr>
          <p:cNvPr id="7" name="Text 4"/>
          <p:cNvSpPr/>
          <p:nvPr/>
        </p:nvSpPr>
        <p:spPr>
          <a:xfrm>
            <a:off x="731520" y="3108960"/>
            <a:ext cx="7680960" cy="274320"/>
          </a:xfrm>
          <a:prstGeom prst="rect">
            <a:avLst/>
          </a:prstGeom>
          <a:noFill/>
          <a:ln/>
        </p:spPr>
        <p:txBody>
          <a:bodyPr wrap="square" lIns="0" tIns="0" rIns="0" bIns="0" rtlCol="0" anchor="ctr"/>
          <a:lstStyle/>
          <a:p>
            <a:pPr marL="0" indent="0">
              <a:buNone/>
            </a:pPr>
            <a:r>
              <a:rPr lang="en-US" sz="1200" dirty="0">
                <a:solidFill>
                  <a:srgbClr val="E2E8F0"/>
                </a:solidFill>
                <a:latin typeface="Calibri" pitchFamily="34" charset="0"/>
                <a:ea typeface="Calibri" pitchFamily="34" charset="-122"/>
                <a:cs typeface="Calibri" pitchFamily="34" charset="-120"/>
              </a:rPr>
              <a:t>Paper: nature.com/articles/s41586-025-10014-0</a:t>
            </a:r>
            <a:endParaRPr lang="en-US" sz="1200" dirty="0"/>
          </a:p>
        </p:txBody>
      </p:sp>
      <p:sp>
        <p:nvSpPr>
          <p:cNvPr id="8" name="Text 5"/>
          <p:cNvSpPr/>
          <p:nvPr/>
        </p:nvSpPr>
        <p:spPr>
          <a:xfrm>
            <a:off x="731520" y="3429000"/>
            <a:ext cx="7680960" cy="274320"/>
          </a:xfrm>
          <a:prstGeom prst="rect">
            <a:avLst/>
          </a:prstGeom>
          <a:noFill/>
          <a:ln/>
        </p:spPr>
        <p:txBody>
          <a:bodyPr wrap="square" lIns="0" tIns="0" rIns="0" bIns="0" rtlCol="0" anchor="ctr"/>
          <a:lstStyle/>
          <a:p>
            <a:pPr marL="0" indent="0">
              <a:buNone/>
            </a:pPr>
            <a:r>
              <a:rPr lang="en-US" sz="1200" dirty="0">
                <a:solidFill>
                  <a:srgbClr val="E2E8F0"/>
                </a:solidFill>
                <a:latin typeface="Calibri" pitchFamily="34" charset="0"/>
                <a:ea typeface="Calibri" pitchFamily="34" charset="-122"/>
                <a:cs typeface="Calibri" pitchFamily="34" charset="-120"/>
              </a:rPr>
              <a:t>Docs: alphagenomedocs.com</a:t>
            </a:r>
            <a:endParaRPr lang="en-US" sz="1200" dirty="0"/>
          </a:p>
        </p:txBody>
      </p:sp>
      <p:sp>
        <p:nvSpPr>
          <p:cNvPr id="9" name="Text 6"/>
          <p:cNvSpPr/>
          <p:nvPr/>
        </p:nvSpPr>
        <p:spPr>
          <a:xfrm>
            <a:off x="731520" y="3749040"/>
            <a:ext cx="7680960" cy="274320"/>
          </a:xfrm>
          <a:prstGeom prst="rect">
            <a:avLst/>
          </a:prstGeom>
          <a:noFill/>
          <a:ln/>
        </p:spPr>
        <p:txBody>
          <a:bodyPr wrap="square" lIns="0" tIns="0" rIns="0" bIns="0" rtlCol="0" anchor="ctr"/>
          <a:lstStyle/>
          <a:p>
            <a:pPr marL="0" indent="0">
              <a:buNone/>
            </a:pPr>
            <a:r>
              <a:rPr lang="en-US" sz="1200" dirty="0">
                <a:solidFill>
                  <a:srgbClr val="E2E8F0"/>
                </a:solidFill>
                <a:latin typeface="Calibri" pitchFamily="34" charset="0"/>
                <a:ea typeface="Calibri" pitchFamily="34" charset="-122"/>
                <a:cs typeface="Calibri" pitchFamily="34" charset="-120"/>
              </a:rPr>
              <a:t>Quick start notebook: alphagenomedocs.com/tutorials</a:t>
            </a:r>
            <a:endParaRPr lang="en-US" sz="1200" dirty="0"/>
          </a:p>
        </p:txBody>
      </p:sp>
      <p:sp>
        <p:nvSpPr>
          <p:cNvPr id="10" name="Text 7"/>
          <p:cNvSpPr/>
          <p:nvPr/>
        </p:nvSpPr>
        <p:spPr>
          <a:xfrm>
            <a:off x="731520" y="4114800"/>
            <a:ext cx="7680960" cy="32004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1200" dirty="0"/>
          </a:p>
        </p:txBody>
      </p:sp>
      <p:sp>
        <p:nvSpPr>
          <p:cNvPr id="11" name="Shape 8"/>
          <p:cNvSpPr/>
          <p:nvPr/>
        </p:nvSpPr>
        <p:spPr>
          <a:xfrm>
            <a:off x="0" y="4960620"/>
            <a:ext cx="9144000" cy="182880"/>
          </a:xfrm>
          <a:prstGeom prst="rect">
            <a:avLst/>
          </a:prstGeom>
          <a:solidFill>
            <a:srgbClr val="0D9488"/>
          </a:solidFill>
          <a:ln/>
        </p:spPr>
        <p:txBody>
          <a:bodyPr/>
          <a:lstStyle/>
          <a:p>
            <a:endParaRPr lang="fr-CH"/>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Two-Phase Training Strategy</a:t>
            </a:r>
            <a:endParaRPr lang="en-US" sz="2800" dirty="0"/>
          </a:p>
        </p:txBody>
      </p:sp>
      <p:sp>
        <p:nvSpPr>
          <p:cNvPr id="3" name="Shape 1"/>
          <p:cNvSpPr/>
          <p:nvPr/>
        </p:nvSpPr>
        <p:spPr>
          <a:xfrm>
            <a:off x="457200" y="1097280"/>
            <a:ext cx="3840480" cy="25603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4" name="Shape 2"/>
          <p:cNvSpPr/>
          <p:nvPr/>
        </p:nvSpPr>
        <p:spPr>
          <a:xfrm>
            <a:off x="457200" y="1097280"/>
            <a:ext cx="3840480" cy="457200"/>
          </a:xfrm>
          <a:prstGeom prst="rect">
            <a:avLst/>
          </a:prstGeom>
          <a:solidFill>
            <a:srgbClr val="0D9488"/>
          </a:solidFill>
          <a:ln/>
        </p:spPr>
        <p:txBody>
          <a:bodyPr/>
          <a:lstStyle/>
          <a:p>
            <a:endParaRPr lang="fr-CH"/>
          </a:p>
        </p:txBody>
      </p:sp>
      <p:sp>
        <p:nvSpPr>
          <p:cNvPr id="5" name="Text 3"/>
          <p:cNvSpPr/>
          <p:nvPr/>
        </p:nvSpPr>
        <p:spPr>
          <a:xfrm>
            <a:off x="640080" y="1143000"/>
            <a:ext cx="3474720" cy="365760"/>
          </a:xfrm>
          <a:prstGeom prst="rect">
            <a:avLst/>
          </a:prstGeom>
          <a:noFill/>
          <a:ln/>
        </p:spPr>
        <p:txBody>
          <a:bodyPr wrap="square" lIns="0" tIns="0" rIns="0" bIns="0"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Phase 1: Pretraining</a:t>
            </a:r>
            <a:endParaRPr lang="en-US" sz="1500" dirty="0"/>
          </a:p>
        </p:txBody>
      </p:sp>
      <p:sp>
        <p:nvSpPr>
          <p:cNvPr id="6" name="Text 4"/>
          <p:cNvSpPr/>
          <p:nvPr/>
        </p:nvSpPr>
        <p:spPr>
          <a:xfrm>
            <a:off x="640080" y="1691640"/>
            <a:ext cx="3474720" cy="182880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Train on experimental data</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Sample 1 Mb DNA intervals from
   cross-validation folds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Augment with shifts + reverse
   complement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Train against observed experimental
   targets (ChIP, RNA-seq, etc.)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Produces fold-specific teacher models</a:t>
            </a:r>
            <a:endParaRPr lang="en-US" sz="1300" dirty="0"/>
          </a:p>
        </p:txBody>
      </p:sp>
      <p:sp>
        <p:nvSpPr>
          <p:cNvPr id="7" name="Text 5"/>
          <p:cNvSpPr/>
          <p:nvPr/>
        </p:nvSpPr>
        <p:spPr>
          <a:xfrm>
            <a:off x="4297680" y="2011680"/>
            <a:ext cx="548640" cy="457200"/>
          </a:xfrm>
          <a:prstGeom prst="rect">
            <a:avLst/>
          </a:prstGeom>
          <a:noFill/>
          <a:ln/>
        </p:spPr>
        <p:txBody>
          <a:bodyPr wrap="square" rtlCol="0" anchor="ctr"/>
          <a:lstStyle/>
          <a:p>
            <a:pPr marL="0" indent="0" algn="ctr">
              <a:buNone/>
            </a:pPr>
            <a:r>
              <a:rPr lang="en-US" sz="3000" b="1" dirty="0">
                <a:solidFill>
                  <a:srgbClr val="0D9488"/>
                </a:solidFill>
              </a:rPr>
              <a:t>→</a:t>
            </a:r>
            <a:endParaRPr lang="en-US" sz="3000" dirty="0"/>
          </a:p>
        </p:txBody>
      </p:sp>
      <p:sp>
        <p:nvSpPr>
          <p:cNvPr id="8" name="Shape 6"/>
          <p:cNvSpPr/>
          <p:nvPr/>
        </p:nvSpPr>
        <p:spPr>
          <a:xfrm>
            <a:off x="4846320" y="1097280"/>
            <a:ext cx="3840480" cy="25603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fr-CH"/>
          </a:p>
        </p:txBody>
      </p:sp>
      <p:sp>
        <p:nvSpPr>
          <p:cNvPr id="9" name="Shape 7"/>
          <p:cNvSpPr/>
          <p:nvPr/>
        </p:nvSpPr>
        <p:spPr>
          <a:xfrm>
            <a:off x="4846320" y="1097280"/>
            <a:ext cx="3840480" cy="457200"/>
          </a:xfrm>
          <a:prstGeom prst="rect">
            <a:avLst/>
          </a:prstGeom>
          <a:solidFill>
            <a:srgbClr val="1A252F"/>
          </a:solidFill>
          <a:ln/>
        </p:spPr>
        <p:txBody>
          <a:bodyPr/>
          <a:lstStyle/>
          <a:p>
            <a:endParaRPr lang="fr-CH"/>
          </a:p>
        </p:txBody>
      </p:sp>
      <p:sp>
        <p:nvSpPr>
          <p:cNvPr id="10" name="Text 8"/>
          <p:cNvSpPr/>
          <p:nvPr/>
        </p:nvSpPr>
        <p:spPr>
          <a:xfrm>
            <a:off x="5029200" y="1143000"/>
            <a:ext cx="3474720" cy="365760"/>
          </a:xfrm>
          <a:prstGeom prst="rect">
            <a:avLst/>
          </a:prstGeom>
          <a:noFill/>
          <a:ln/>
        </p:spPr>
        <p:txBody>
          <a:bodyPr wrap="square" lIns="0" tIns="0" rIns="0" bIns="0" rtlCol="0" anchor="ctr"/>
          <a:lstStyle/>
          <a:p>
            <a:pPr marL="0" indent="0">
              <a:buNone/>
            </a:pPr>
            <a:r>
              <a:rPr lang="en-US" sz="1500" b="1" dirty="0">
                <a:solidFill>
                  <a:srgbClr val="FFFFFF"/>
                </a:solidFill>
                <a:latin typeface="Trebuchet MS" pitchFamily="34" charset="0"/>
                <a:ea typeface="Trebuchet MS" pitchFamily="34" charset="-122"/>
                <a:cs typeface="Trebuchet MS" pitchFamily="34" charset="-120"/>
              </a:rPr>
              <a:t>Phase 2: Distillation</a:t>
            </a:r>
            <a:endParaRPr lang="en-US" sz="1500" dirty="0"/>
          </a:p>
        </p:txBody>
      </p:sp>
      <p:sp>
        <p:nvSpPr>
          <p:cNvPr id="11" name="Text 9"/>
          <p:cNvSpPr/>
          <p:nvPr/>
        </p:nvSpPr>
        <p:spPr>
          <a:xfrm>
            <a:off x="5029200" y="1691640"/>
            <a:ext cx="3474720" cy="182880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Optimise for variant prediction</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Student model learns from frozen
   all-fold teachers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Input sequences are mutationally
   perturbed (not just natural DNA)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Student sees how predictions change
   with mutations
</a:t>
            </a:r>
            <a:endParaRPr lang="en-US" sz="1300" dirty="0"/>
          </a:p>
          <a:p>
            <a:pPr marL="0" indent="0">
              <a:buNone/>
            </a:pPr>
            <a:r>
              <a:rPr lang="en-US" sz="1200" dirty="0">
                <a:solidFill>
                  <a:srgbClr val="0F172A"/>
                </a:solidFill>
                <a:latin typeface="Calibri" pitchFamily="34" charset="0"/>
                <a:ea typeface="Calibri" pitchFamily="34" charset="-122"/>
                <a:cs typeface="Calibri" pitchFamily="34" charset="-120"/>
              </a:rPr>
              <a:t>• Yields single model for variant scoring</a:t>
            </a:r>
            <a:endParaRPr lang="en-US" sz="1300" dirty="0"/>
          </a:p>
        </p:txBody>
      </p:sp>
      <p:sp>
        <p:nvSpPr>
          <p:cNvPr id="12" name="Shape 10"/>
          <p:cNvSpPr/>
          <p:nvPr/>
        </p:nvSpPr>
        <p:spPr>
          <a:xfrm>
            <a:off x="457200" y="3931920"/>
            <a:ext cx="8229600" cy="640080"/>
          </a:xfrm>
          <a:prstGeom prst="rect">
            <a:avLst/>
          </a:prstGeom>
          <a:solidFill>
            <a:srgbClr val="ECFDF5"/>
          </a:solidFill>
          <a:ln/>
          <a:effectLst>
            <a:outerShdw blurRad="76200" dist="25400" dir="8100000" algn="bl" rotWithShape="0">
              <a:srgbClr val="000000">
                <a:alpha val="8000"/>
              </a:srgbClr>
            </a:outerShdw>
          </a:effectLst>
        </p:spPr>
        <p:txBody>
          <a:bodyPr/>
          <a:lstStyle/>
          <a:p>
            <a:endParaRPr lang="fr-CH"/>
          </a:p>
        </p:txBody>
      </p:sp>
      <p:sp>
        <p:nvSpPr>
          <p:cNvPr id="13" name="Shape 11"/>
          <p:cNvSpPr/>
          <p:nvPr/>
        </p:nvSpPr>
        <p:spPr>
          <a:xfrm>
            <a:off x="457200" y="3931920"/>
            <a:ext cx="54864" cy="640080"/>
          </a:xfrm>
          <a:prstGeom prst="rect">
            <a:avLst/>
          </a:prstGeom>
          <a:solidFill>
            <a:srgbClr val="0D9488"/>
          </a:solidFill>
          <a:ln/>
        </p:spPr>
        <p:txBody>
          <a:bodyPr/>
          <a:lstStyle/>
          <a:p>
            <a:endParaRPr lang="fr-CH"/>
          </a:p>
        </p:txBody>
      </p:sp>
      <p:sp>
        <p:nvSpPr>
          <p:cNvPr id="14" name="Text 12"/>
          <p:cNvSpPr/>
          <p:nvPr/>
        </p:nvSpPr>
        <p:spPr>
          <a:xfrm>
            <a:off x="731520" y="3977640"/>
            <a:ext cx="7772400" cy="548640"/>
          </a:xfrm>
          <a:prstGeom prst="rect">
            <a:avLst/>
          </a:prstGeom>
          <a:noFill/>
          <a:ln/>
        </p:spPr>
        <p:txBody>
          <a:bodyPr wrap="square" lIns="0" tIns="0" rIns="0" bIns="0" rtlCol="0" anchor="ctr"/>
          <a:lstStyle/>
          <a:p>
            <a:pPr marL="0" indent="0">
              <a:buNone/>
            </a:pPr>
            <a:r>
              <a:rPr lang="en-US" sz="1200" dirty="0">
                <a:solidFill>
                  <a:srgbClr val="334155"/>
                </a:solidFill>
                <a:latin typeface="Calibri" pitchFamily="34" charset="0"/>
                <a:ea typeface="Calibri" pitchFamily="34" charset="-122"/>
                <a:cs typeface="Calibri" pitchFamily="34" charset="-120"/>
              </a:rPr>
              <a:t>Key insight: distillation with mutated sequences teaches the model how variants shift predictions — critical for clinical variant interpretation.</a:t>
            </a:r>
            <a:endParaRPr lang="en-US" sz="1200" dirty="0"/>
          </a:p>
        </p:txBody>
      </p:sp>
      <p:sp>
        <p:nvSpPr>
          <p:cNvPr id="15" name="Text 13"/>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320040"/>
            <a:ext cx="8046720" cy="54864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Key Figures from the Paper</a:t>
            </a:r>
            <a:endParaRPr lang="en-US" sz="2800" dirty="0"/>
          </a:p>
        </p:txBody>
      </p:sp>
      <p:sp>
        <p:nvSpPr>
          <p:cNvPr id="3" name="Text 1"/>
          <p:cNvSpPr/>
          <p:nvPr/>
        </p:nvSpPr>
        <p:spPr>
          <a:xfrm>
            <a:off x="548640" y="822960"/>
            <a:ext cx="8046720" cy="320040"/>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These figures are best shown directly from the paper during the session.</a:t>
            </a:r>
            <a:endParaRPr lang="en-US" sz="1300" dirty="0"/>
          </a:p>
        </p:txBody>
      </p:sp>
      <p:sp>
        <p:nvSpPr>
          <p:cNvPr id="4" name="Shape 2"/>
          <p:cNvSpPr/>
          <p:nvPr/>
        </p:nvSpPr>
        <p:spPr>
          <a:xfrm>
            <a:off x="457200" y="1371600"/>
            <a:ext cx="8229600" cy="6858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5" name="Shape 3"/>
          <p:cNvSpPr/>
          <p:nvPr/>
        </p:nvSpPr>
        <p:spPr>
          <a:xfrm>
            <a:off x="457200" y="1371600"/>
            <a:ext cx="54864" cy="685800"/>
          </a:xfrm>
          <a:prstGeom prst="rect">
            <a:avLst/>
          </a:prstGeom>
          <a:solidFill>
            <a:srgbClr val="0D9488"/>
          </a:solidFill>
          <a:ln/>
        </p:spPr>
        <p:txBody>
          <a:bodyPr/>
          <a:lstStyle/>
          <a:p>
            <a:endParaRPr lang="fr-CH"/>
          </a:p>
        </p:txBody>
      </p:sp>
      <p:sp>
        <p:nvSpPr>
          <p:cNvPr id="6" name="Text 4"/>
          <p:cNvSpPr/>
          <p:nvPr/>
        </p:nvSpPr>
        <p:spPr>
          <a:xfrm>
            <a:off x="685800" y="1444752"/>
            <a:ext cx="1188720" cy="228600"/>
          </a:xfrm>
          <a:prstGeom prst="rect">
            <a:avLst/>
          </a:prstGeom>
          <a:noFill/>
          <a:ln/>
        </p:spPr>
        <p:txBody>
          <a:bodyPr wrap="square" lIns="0" tIns="0" rIns="0" bIns="0" rtlCol="0" anchor="ctr"/>
          <a:lstStyle/>
          <a:p>
            <a:pPr marL="0" indent="0">
              <a:buNone/>
            </a:pPr>
            <a:r>
              <a:rPr lang="en-US" sz="1300" b="1" dirty="0">
                <a:solidFill>
                  <a:srgbClr val="0D9488"/>
                </a:solidFill>
                <a:latin typeface="Trebuchet MS" pitchFamily="34" charset="0"/>
                <a:ea typeface="Trebuchet MS" pitchFamily="34" charset="-122"/>
                <a:cs typeface="Trebuchet MS" pitchFamily="34" charset="-120"/>
              </a:rPr>
              <a:t>Figure 1</a:t>
            </a:r>
            <a:endParaRPr lang="en-US" sz="1300" dirty="0"/>
          </a:p>
        </p:txBody>
      </p:sp>
      <p:sp>
        <p:nvSpPr>
          <p:cNvPr id="7" name="Text 5"/>
          <p:cNvSpPr/>
          <p:nvPr/>
        </p:nvSpPr>
        <p:spPr>
          <a:xfrm>
            <a:off x="1920240" y="1417320"/>
            <a:ext cx="649224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Architecture &amp; performance overview</a:t>
            </a:r>
            <a:endParaRPr lang="en-US" sz="1300" dirty="0"/>
          </a:p>
        </p:txBody>
      </p:sp>
      <p:sp>
        <p:nvSpPr>
          <p:cNvPr id="8" name="Text 6"/>
          <p:cNvSpPr/>
          <p:nvPr/>
        </p:nvSpPr>
        <p:spPr>
          <a:xfrm>
            <a:off x="1920240" y="1691640"/>
            <a:ext cx="649224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Model architecture diagram, pretraining/distillation pipeline, and bar charts showing relative improvement over competing models</a:t>
            </a:r>
            <a:endParaRPr lang="en-US" sz="1100" dirty="0"/>
          </a:p>
        </p:txBody>
      </p:sp>
      <p:sp>
        <p:nvSpPr>
          <p:cNvPr id="9" name="Shape 7"/>
          <p:cNvSpPr/>
          <p:nvPr/>
        </p:nvSpPr>
        <p:spPr>
          <a:xfrm>
            <a:off x="457200" y="2194560"/>
            <a:ext cx="8229600" cy="6858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0" name="Shape 8"/>
          <p:cNvSpPr/>
          <p:nvPr/>
        </p:nvSpPr>
        <p:spPr>
          <a:xfrm>
            <a:off x="457200" y="2194560"/>
            <a:ext cx="54864" cy="685800"/>
          </a:xfrm>
          <a:prstGeom prst="rect">
            <a:avLst/>
          </a:prstGeom>
          <a:solidFill>
            <a:srgbClr val="0D9488"/>
          </a:solidFill>
          <a:ln/>
        </p:spPr>
        <p:txBody>
          <a:bodyPr/>
          <a:lstStyle/>
          <a:p>
            <a:endParaRPr lang="fr-CH"/>
          </a:p>
        </p:txBody>
      </p:sp>
      <p:sp>
        <p:nvSpPr>
          <p:cNvPr id="11" name="Text 9"/>
          <p:cNvSpPr/>
          <p:nvPr/>
        </p:nvSpPr>
        <p:spPr>
          <a:xfrm>
            <a:off x="685800" y="2267712"/>
            <a:ext cx="1188720" cy="228600"/>
          </a:xfrm>
          <a:prstGeom prst="rect">
            <a:avLst/>
          </a:prstGeom>
          <a:noFill/>
          <a:ln/>
        </p:spPr>
        <p:txBody>
          <a:bodyPr wrap="square" lIns="0" tIns="0" rIns="0" bIns="0" rtlCol="0" anchor="ctr"/>
          <a:lstStyle/>
          <a:p>
            <a:pPr marL="0" indent="0">
              <a:buNone/>
            </a:pPr>
            <a:r>
              <a:rPr lang="en-US" sz="1300" b="1" dirty="0">
                <a:solidFill>
                  <a:srgbClr val="0D9488"/>
                </a:solidFill>
                <a:latin typeface="Trebuchet MS" pitchFamily="34" charset="0"/>
                <a:ea typeface="Trebuchet MS" pitchFamily="34" charset="-122"/>
                <a:cs typeface="Trebuchet MS" pitchFamily="34" charset="-120"/>
              </a:rPr>
              <a:t>Figure 2</a:t>
            </a:r>
            <a:endParaRPr lang="en-US" sz="1300" dirty="0"/>
          </a:p>
        </p:txBody>
      </p:sp>
      <p:sp>
        <p:nvSpPr>
          <p:cNvPr id="12" name="Text 10"/>
          <p:cNvSpPr/>
          <p:nvPr/>
        </p:nvSpPr>
        <p:spPr>
          <a:xfrm>
            <a:off x="1920240" y="2240280"/>
            <a:ext cx="649224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Track prediction examples</a:t>
            </a:r>
            <a:endParaRPr lang="en-US" sz="1300" dirty="0"/>
          </a:p>
        </p:txBody>
      </p:sp>
      <p:sp>
        <p:nvSpPr>
          <p:cNvPr id="13" name="Text 11"/>
          <p:cNvSpPr/>
          <p:nvPr/>
        </p:nvSpPr>
        <p:spPr>
          <a:xfrm>
            <a:off x="1920240" y="2514600"/>
            <a:ext cx="649224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HepG2 multi-modal predictions (RNA-seq, ATAC, DNase, ChIP, contacts, splicing) aligned to a 1 Mb region</a:t>
            </a:r>
            <a:endParaRPr lang="en-US" sz="1100" dirty="0"/>
          </a:p>
        </p:txBody>
      </p:sp>
      <p:sp>
        <p:nvSpPr>
          <p:cNvPr id="14" name="Shape 12"/>
          <p:cNvSpPr/>
          <p:nvPr/>
        </p:nvSpPr>
        <p:spPr>
          <a:xfrm>
            <a:off x="457200" y="3017520"/>
            <a:ext cx="8229600" cy="6858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15" name="Shape 13"/>
          <p:cNvSpPr/>
          <p:nvPr/>
        </p:nvSpPr>
        <p:spPr>
          <a:xfrm>
            <a:off x="457200" y="3017520"/>
            <a:ext cx="54864" cy="685800"/>
          </a:xfrm>
          <a:prstGeom prst="rect">
            <a:avLst/>
          </a:prstGeom>
          <a:solidFill>
            <a:srgbClr val="0D9488"/>
          </a:solidFill>
          <a:ln/>
        </p:spPr>
        <p:txBody>
          <a:bodyPr/>
          <a:lstStyle/>
          <a:p>
            <a:endParaRPr lang="fr-CH"/>
          </a:p>
        </p:txBody>
      </p:sp>
      <p:sp>
        <p:nvSpPr>
          <p:cNvPr id="16" name="Text 14"/>
          <p:cNvSpPr/>
          <p:nvPr/>
        </p:nvSpPr>
        <p:spPr>
          <a:xfrm>
            <a:off x="685800" y="3090672"/>
            <a:ext cx="1188720" cy="228600"/>
          </a:xfrm>
          <a:prstGeom prst="rect">
            <a:avLst/>
          </a:prstGeom>
          <a:noFill/>
          <a:ln/>
        </p:spPr>
        <p:txBody>
          <a:bodyPr wrap="square" lIns="0" tIns="0" rIns="0" bIns="0" rtlCol="0" anchor="ctr"/>
          <a:lstStyle/>
          <a:p>
            <a:pPr marL="0" indent="0">
              <a:buNone/>
            </a:pPr>
            <a:r>
              <a:rPr lang="en-US" sz="1300" b="1" dirty="0">
                <a:solidFill>
                  <a:srgbClr val="0D9488"/>
                </a:solidFill>
                <a:latin typeface="Trebuchet MS" pitchFamily="34" charset="0"/>
                <a:ea typeface="Trebuchet MS" pitchFamily="34" charset="-122"/>
                <a:cs typeface="Trebuchet MS" pitchFamily="34" charset="-120"/>
              </a:rPr>
              <a:t>Figure 3–5</a:t>
            </a:r>
            <a:endParaRPr lang="en-US" sz="1300" dirty="0"/>
          </a:p>
        </p:txBody>
      </p:sp>
      <p:sp>
        <p:nvSpPr>
          <p:cNvPr id="17" name="Text 15"/>
          <p:cNvSpPr/>
          <p:nvPr/>
        </p:nvSpPr>
        <p:spPr>
          <a:xfrm>
            <a:off x="1920240" y="3063240"/>
            <a:ext cx="649224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Modality deep-dives</a:t>
            </a:r>
            <a:endParaRPr lang="en-US" sz="1300" dirty="0"/>
          </a:p>
        </p:txBody>
      </p:sp>
      <p:sp>
        <p:nvSpPr>
          <p:cNvPr id="18" name="Text 16"/>
          <p:cNvSpPr/>
          <p:nvPr/>
        </p:nvSpPr>
        <p:spPr>
          <a:xfrm>
            <a:off x="1920240" y="3337560"/>
            <a:ext cx="649224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Splicing (SpliceAI comparison), gene expression (eQTL benchmarks), chromatin accessibility (caQTL/dsQTL)</a:t>
            </a:r>
            <a:endParaRPr lang="en-US" sz="1100" dirty="0"/>
          </a:p>
        </p:txBody>
      </p:sp>
      <p:sp>
        <p:nvSpPr>
          <p:cNvPr id="19" name="Shape 17"/>
          <p:cNvSpPr/>
          <p:nvPr/>
        </p:nvSpPr>
        <p:spPr>
          <a:xfrm>
            <a:off x="295072" y="4320540"/>
            <a:ext cx="8229600" cy="68580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fr-CH"/>
          </a:p>
        </p:txBody>
      </p:sp>
      <p:sp>
        <p:nvSpPr>
          <p:cNvPr id="20" name="Shape 18"/>
          <p:cNvSpPr/>
          <p:nvPr/>
        </p:nvSpPr>
        <p:spPr>
          <a:xfrm>
            <a:off x="457200" y="3840480"/>
            <a:ext cx="54864" cy="685800"/>
          </a:xfrm>
          <a:prstGeom prst="rect">
            <a:avLst/>
          </a:prstGeom>
          <a:solidFill>
            <a:srgbClr val="0D9488"/>
          </a:solidFill>
          <a:ln/>
        </p:spPr>
        <p:txBody>
          <a:bodyPr/>
          <a:lstStyle/>
          <a:p>
            <a:endParaRPr lang="fr-CH"/>
          </a:p>
        </p:txBody>
      </p:sp>
      <p:sp>
        <p:nvSpPr>
          <p:cNvPr id="21" name="Text 19"/>
          <p:cNvSpPr/>
          <p:nvPr/>
        </p:nvSpPr>
        <p:spPr>
          <a:xfrm>
            <a:off x="685800" y="3913632"/>
            <a:ext cx="1188720" cy="228600"/>
          </a:xfrm>
          <a:prstGeom prst="rect">
            <a:avLst/>
          </a:prstGeom>
          <a:noFill/>
          <a:ln/>
        </p:spPr>
        <p:txBody>
          <a:bodyPr wrap="square" lIns="0" tIns="0" rIns="0" bIns="0" rtlCol="0" anchor="ctr"/>
          <a:lstStyle/>
          <a:p>
            <a:pPr marL="0" indent="0">
              <a:buNone/>
            </a:pPr>
            <a:r>
              <a:rPr lang="en-US" sz="1300" b="1" dirty="0">
                <a:solidFill>
                  <a:srgbClr val="0D9488"/>
                </a:solidFill>
                <a:latin typeface="Trebuchet MS" pitchFamily="34" charset="0"/>
                <a:ea typeface="Trebuchet MS" pitchFamily="34" charset="-122"/>
                <a:cs typeface="Trebuchet MS" pitchFamily="34" charset="-120"/>
              </a:rPr>
              <a:t>Figure 6</a:t>
            </a:r>
            <a:endParaRPr lang="en-US" sz="1300" dirty="0"/>
          </a:p>
        </p:txBody>
      </p:sp>
      <p:sp>
        <p:nvSpPr>
          <p:cNvPr id="22" name="Text 20"/>
          <p:cNvSpPr/>
          <p:nvPr/>
        </p:nvSpPr>
        <p:spPr>
          <a:xfrm>
            <a:off x="1920240" y="3886200"/>
            <a:ext cx="6492240" cy="256032"/>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Cross-modality variant interpretation</a:t>
            </a:r>
            <a:endParaRPr lang="en-US" sz="1300" dirty="0"/>
          </a:p>
        </p:txBody>
      </p:sp>
      <p:sp>
        <p:nvSpPr>
          <p:cNvPr id="23" name="Text 21"/>
          <p:cNvSpPr/>
          <p:nvPr/>
        </p:nvSpPr>
        <p:spPr>
          <a:xfrm>
            <a:off x="1920240" y="4160520"/>
            <a:ext cx="649224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TAL1 oncogene case study — variant effects visualised across all modalities simultaneously</a:t>
            </a:r>
            <a:endParaRPr lang="en-US" sz="1100" dirty="0"/>
          </a:p>
        </p:txBody>
      </p:sp>
      <p:sp>
        <p:nvSpPr>
          <p:cNvPr id="24" name="Text 22"/>
          <p:cNvSpPr/>
          <p:nvPr/>
        </p:nvSpPr>
        <p:spPr>
          <a:xfrm>
            <a:off x="495008" y="4447324"/>
            <a:ext cx="8046720" cy="457200"/>
          </a:xfrm>
          <a:prstGeom prst="rect">
            <a:avLst/>
          </a:prstGeom>
          <a:noFill/>
          <a:ln/>
        </p:spPr>
        <p:txBody>
          <a:bodyPr wrap="square" rtlCol="0" anchor="ctr"/>
          <a:lstStyle/>
          <a:p>
            <a:pPr marL="0" indent="0">
              <a:buNone/>
            </a:pPr>
            <a:r>
              <a:rPr lang="en-US" sz="1200" b="1" i="1" dirty="0">
                <a:solidFill>
                  <a:srgbClr val="0D9488"/>
                </a:solidFill>
                <a:latin typeface="Calibri" pitchFamily="34" charset="0"/>
                <a:ea typeface="Calibri" pitchFamily="34" charset="-122"/>
                <a:cs typeface="Calibri" pitchFamily="34" charset="-120"/>
              </a:rPr>
              <a:t>Suggestion: open the paper side-by-side and walk through Figure 1a (architecture) and Figure 2a (HepG2 predictions) live.</a:t>
            </a:r>
            <a:endParaRPr lang="en-US" sz="1200" dirty="0"/>
          </a:p>
        </p:txBody>
      </p:sp>
      <p:sp>
        <p:nvSpPr>
          <p:cNvPr id="25" name="Text 23"/>
          <p:cNvSpPr/>
          <p:nvPr/>
        </p:nvSpPr>
        <p:spPr>
          <a:xfrm>
            <a:off x="457200" y="4709160"/>
            <a:ext cx="8229600" cy="32004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DII Bioinformatics Club  |  Luxembourg Institute of Health</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TotalTime>
  <Words>2838</Words>
  <Application>Microsoft Office PowerPoint</Application>
  <PresentationFormat>On-screen Show (16:9)</PresentationFormat>
  <Paragraphs>463</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Consolas</vt:lpstr>
      <vt:lpstr>Segoe UI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From Paper to Practice</dc:title>
  <dc:subject>PptxGenJS Presentation</dc:subject>
  <dc:creator>Joseph &amp; Oliver — DII Bioinformatics Club</dc:creator>
  <cp:lastModifiedBy>Joseph LONGWORTH</cp:lastModifiedBy>
  <cp:revision>8</cp:revision>
  <dcterms:created xsi:type="dcterms:W3CDTF">2026-03-13T14:38:16Z</dcterms:created>
  <dcterms:modified xsi:type="dcterms:W3CDTF">2026-03-17T03:53:59Z</dcterms:modified>
</cp:coreProperties>
</file>