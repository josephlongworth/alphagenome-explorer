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2"/>
  </p:notesMasterIdLst>
  <p:sldIdLst>
    <p:sldId id="256" r:id="rId2"/>
    <p:sldId id="257" r:id="rId3"/>
    <p:sldId id="258" r:id="rId4"/>
    <p:sldId id="259" r:id="rId5"/>
    <p:sldId id="260" r:id="rId6"/>
    <p:sldId id="261" r:id="rId7"/>
    <p:sldId id="275" r:id="rId8"/>
    <p:sldId id="274" r:id="rId9"/>
    <p:sldId id="262" r:id="rId10"/>
    <p:sldId id="263" r:id="rId11"/>
    <p:sldId id="264" r:id="rId12"/>
    <p:sldId id="265" r:id="rId13"/>
    <p:sldId id="266" r:id="rId14"/>
    <p:sldId id="267" r:id="rId15"/>
    <p:sldId id="268" r:id="rId16"/>
    <p:sldId id="269" r:id="rId17"/>
    <p:sldId id="270" r:id="rId18"/>
    <p:sldId id="271" r:id="rId19"/>
    <p:sldId id="272" r:id="rId20"/>
    <p:sldId id="273" r:id="rId21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98" d="100"/>
          <a:sy n="98" d="100"/>
        </p:scale>
        <p:origin x="360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47579887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Welcome everyone to the DII Bioinformatics Club session on AlphaGenome. Three parts: paper, Python tutorial, and hands-on app demo.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Overview of the three session parts. Emphasise no prior reading or coding needed.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Key context: &gt;98% variants non-coding. Existing models trade off length vs resolution vs modalities.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Walk through each row. Key takeaway: AlphaGenome is the first to unify all three dimensions.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Key: U-Net + Transformer architecture. Sequence parallelism splits 1Mb into 131kb chunks. Multiple resolution output heads.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8EAE927-F13A-9C05-CFEB-CFCBDEF6D85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01DF4E9-01DC-F537-75C4-4FB3E4F5F9D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527F326-5AD6-EB28-1B48-2C1D4724A1E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Key: U-Net + Transformer architecture. Sequence parallelism splits 1Mb into 131kb chunks. Multiple resolution output heads.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A5EB087-6560-9A55-2926-35BF0372459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617031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79EB44D-EEE6-549B-5B81-3B0A0225EA9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DE2F271-A7F0-E5B0-3BD5-B6D80FF6506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59C1E74-3255-9E63-C974-FFC4169A529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Key: U-Net + Transformer architecture. Sequence parallelism splits 1Mb into 131kb chunks. Multiple resolution output heads.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8A08B2C-897F-DFC9-0211-2C9B4DA00DE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39143034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Two phases: pretrain on real data, then distill with mutations. Distillation is what makes variant scoring work well.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25 of 26 variant effect tasks. Mention TAL1 case study briefly — shows cross-modality power.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Use this as a guide. Open the Nature paper and show these figures directly — much better than screenshots in slides.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Orient participants. We'll focus on variant analysis — most biologically rich part of the notebook.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Walk through code line by line. Explain VCF coordinates. Emphasise the concept of comparing REF vs ALT predictions.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Explain raw vs quantile scores. AnnData is rows=genes, columns=tracks. tidy_scores() flattens everything into a readable dataframe.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Quick overview of 4 modules. Remind everyone to set the API key first in Settings.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Go through exercises 1-4 in order. Exercise 2 (Variant Analysis) is the star — spend the most time here.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Reference slide. Scoreable types work with variant scoring; plot-only types can only be visualised. 16 tissues available.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Thank everyone. Point to resources. Remind about feedback / future sessions.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7" Type="http://schemas.openxmlformats.org/officeDocument/2006/relationships/image" Target="../media/image16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5.png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92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fr-CH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" y="822960"/>
            <a:ext cx="640080" cy="64008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731520" y="1554480"/>
            <a:ext cx="7680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AlphaGenome</a:t>
            </a:r>
            <a:endParaRPr lang="en-US" sz="4400" dirty="0"/>
          </a:p>
        </p:txBody>
      </p:sp>
      <p:sp>
        <p:nvSpPr>
          <p:cNvPr id="5" name="Text 2"/>
          <p:cNvSpPr/>
          <p:nvPr/>
        </p:nvSpPr>
        <p:spPr>
          <a:xfrm>
            <a:off x="731520" y="2331720"/>
            <a:ext cx="76809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Paper to Practice</a:t>
            </a:r>
            <a:endParaRPr lang="en-US" sz="2200" dirty="0"/>
          </a:p>
        </p:txBody>
      </p:sp>
      <p:sp>
        <p:nvSpPr>
          <p:cNvPr id="6" name="Shape 3"/>
          <p:cNvSpPr/>
          <p:nvPr/>
        </p:nvSpPr>
        <p:spPr>
          <a:xfrm>
            <a:off x="731520" y="3017520"/>
            <a:ext cx="2286000" cy="0"/>
          </a:xfrm>
          <a:prstGeom prst="line">
            <a:avLst/>
          </a:prstGeom>
          <a:noFill/>
          <a:ln w="254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fr-CH"/>
          </a:p>
        </p:txBody>
      </p:sp>
      <p:sp>
        <p:nvSpPr>
          <p:cNvPr id="7" name="Text 4"/>
          <p:cNvSpPr/>
          <p:nvPr/>
        </p:nvSpPr>
        <p:spPr>
          <a:xfrm>
            <a:off x="731520" y="3246120"/>
            <a:ext cx="7680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DII Bioinformatics Club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731520" y="3566160"/>
            <a:ext cx="7680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Luxembourg Institute of Health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731520" y="3931920"/>
            <a:ext cx="7680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Joseph &amp; Oliver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0" y="4960620"/>
            <a:ext cx="9144000" cy="182880"/>
          </a:xfrm>
          <a:prstGeom prst="rect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fr-CH"/>
          </a:p>
        </p:txBody>
      </p:sp>
      <p:pic>
        <p:nvPicPr>
          <p:cNvPr id="1026" name="Picture 2" descr="AlphaGenome: Google DeepMind’s Breakthrough Model for Predicting DNA ...">
            <a:extLst>
              <a:ext uri="{FF2B5EF4-FFF2-40B4-BE49-F238E27FC236}">
                <a16:creationId xmlns:a16="http://schemas.microsoft.com/office/drawing/2014/main" id="{94B76486-F62F-DD88-9A21-E1D530536BD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60720" y="1451610"/>
            <a:ext cx="2766060" cy="276606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Session Overview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868680"/>
            <a:ext cx="8046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hours  ·  3 components  ·  No prior coding or reading required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48640" y="1463040"/>
            <a:ext cx="8046720" cy="96012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fr-CH"/>
          </a:p>
        </p:txBody>
      </p:sp>
      <p:sp>
        <p:nvSpPr>
          <p:cNvPr id="5" name="Shape 3"/>
          <p:cNvSpPr/>
          <p:nvPr/>
        </p:nvSpPr>
        <p:spPr>
          <a:xfrm>
            <a:off x="548640" y="1463040"/>
            <a:ext cx="64008" cy="960120"/>
          </a:xfrm>
          <a:prstGeom prst="rect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fr-CH"/>
          </a:p>
        </p:txBody>
      </p:sp>
      <p:sp>
        <p:nvSpPr>
          <p:cNvPr id="6" name="Shape 4"/>
          <p:cNvSpPr/>
          <p:nvPr/>
        </p:nvSpPr>
        <p:spPr>
          <a:xfrm>
            <a:off x="868680" y="1645920"/>
            <a:ext cx="548640" cy="548640"/>
          </a:xfrm>
          <a:prstGeom prst="ellipse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fr-CH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8408" y="1755648"/>
            <a:ext cx="329184" cy="329184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645920" y="155448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20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1  ·  30 MIN</a:t>
            </a:r>
            <a:endParaRPr lang="en-US" sz="1000" dirty="0"/>
          </a:p>
        </p:txBody>
      </p:sp>
      <p:sp>
        <p:nvSpPr>
          <p:cNvPr id="9" name="Text 6"/>
          <p:cNvSpPr/>
          <p:nvPr/>
        </p:nvSpPr>
        <p:spPr>
          <a:xfrm>
            <a:off x="1645920" y="178308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The Paper</a:t>
            </a:r>
            <a:endParaRPr lang="en-US" sz="1700" dirty="0"/>
          </a:p>
        </p:txBody>
      </p:sp>
      <p:sp>
        <p:nvSpPr>
          <p:cNvPr id="10" name="Text 7"/>
          <p:cNvSpPr/>
          <p:nvPr/>
        </p:nvSpPr>
        <p:spPr>
          <a:xfrm>
            <a:off x="1645920" y="2039112"/>
            <a:ext cx="6675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the model was built, what it predicts, and why it matters for variant interpretation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548640" y="2606040"/>
            <a:ext cx="8046720" cy="96012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fr-CH"/>
          </a:p>
        </p:txBody>
      </p:sp>
      <p:sp>
        <p:nvSpPr>
          <p:cNvPr id="12" name="Shape 9"/>
          <p:cNvSpPr/>
          <p:nvPr/>
        </p:nvSpPr>
        <p:spPr>
          <a:xfrm>
            <a:off x="548640" y="2606040"/>
            <a:ext cx="64008" cy="960120"/>
          </a:xfrm>
          <a:prstGeom prst="rect">
            <a:avLst/>
          </a:prstGeom>
          <a:solidFill>
            <a:srgbClr val="1A252F"/>
          </a:solidFill>
          <a:ln/>
        </p:spPr>
        <p:txBody>
          <a:bodyPr/>
          <a:lstStyle/>
          <a:p>
            <a:endParaRPr lang="fr-CH"/>
          </a:p>
        </p:txBody>
      </p:sp>
      <p:sp>
        <p:nvSpPr>
          <p:cNvPr id="13" name="Shape 10"/>
          <p:cNvSpPr/>
          <p:nvPr/>
        </p:nvSpPr>
        <p:spPr>
          <a:xfrm>
            <a:off x="868680" y="2788920"/>
            <a:ext cx="548640" cy="548640"/>
          </a:xfrm>
          <a:prstGeom prst="ellipse">
            <a:avLst/>
          </a:prstGeom>
          <a:solidFill>
            <a:srgbClr val="1A252F"/>
          </a:solidFill>
          <a:ln/>
        </p:spPr>
        <p:txBody>
          <a:bodyPr/>
          <a:lstStyle/>
          <a:p>
            <a:endParaRPr lang="fr-CH"/>
          </a:p>
        </p:txBody>
      </p:sp>
      <p:pic>
        <p:nvPicPr>
          <p:cNvPr id="14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78408" y="2898648"/>
            <a:ext cx="329184" cy="329184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1645920" y="269748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20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2  ·  30 MIN</a:t>
            </a:r>
            <a:endParaRPr lang="en-US" sz="1000" dirty="0"/>
          </a:p>
        </p:txBody>
      </p:sp>
      <p:sp>
        <p:nvSpPr>
          <p:cNvPr id="16" name="Text 12"/>
          <p:cNvSpPr/>
          <p:nvPr/>
        </p:nvSpPr>
        <p:spPr>
          <a:xfrm>
            <a:off x="1645920" y="292608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Python Tutorial</a:t>
            </a:r>
            <a:endParaRPr lang="en-US" sz="1700" dirty="0"/>
          </a:p>
        </p:txBody>
      </p:sp>
      <p:sp>
        <p:nvSpPr>
          <p:cNvPr id="17" name="Text 13"/>
          <p:cNvSpPr/>
          <p:nvPr/>
        </p:nvSpPr>
        <p:spPr>
          <a:xfrm>
            <a:off x="1645920" y="3182112"/>
            <a:ext cx="6675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Walk through the getting-started script focusing on variant effect prediction with the SDK</a:t>
            </a:r>
            <a:endParaRPr lang="en-US" sz="1200" dirty="0"/>
          </a:p>
        </p:txBody>
      </p:sp>
      <p:sp>
        <p:nvSpPr>
          <p:cNvPr id="18" name="Shape 14"/>
          <p:cNvSpPr/>
          <p:nvPr/>
        </p:nvSpPr>
        <p:spPr>
          <a:xfrm>
            <a:off x="548640" y="3749040"/>
            <a:ext cx="8046720" cy="96012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fr-CH"/>
          </a:p>
        </p:txBody>
      </p:sp>
      <p:sp>
        <p:nvSpPr>
          <p:cNvPr id="19" name="Shape 15"/>
          <p:cNvSpPr/>
          <p:nvPr/>
        </p:nvSpPr>
        <p:spPr>
          <a:xfrm>
            <a:off x="548640" y="3749040"/>
            <a:ext cx="64008" cy="960120"/>
          </a:xfrm>
          <a:prstGeom prst="rect">
            <a:avLst/>
          </a:prstGeom>
          <a:solidFill>
            <a:srgbClr val="334155"/>
          </a:solidFill>
          <a:ln/>
        </p:spPr>
        <p:txBody>
          <a:bodyPr/>
          <a:lstStyle/>
          <a:p>
            <a:endParaRPr lang="fr-CH"/>
          </a:p>
        </p:txBody>
      </p:sp>
      <p:sp>
        <p:nvSpPr>
          <p:cNvPr id="20" name="Shape 16"/>
          <p:cNvSpPr/>
          <p:nvPr/>
        </p:nvSpPr>
        <p:spPr>
          <a:xfrm>
            <a:off x="868680" y="3931920"/>
            <a:ext cx="548640" cy="548640"/>
          </a:xfrm>
          <a:prstGeom prst="ellipse">
            <a:avLst/>
          </a:prstGeom>
          <a:solidFill>
            <a:srgbClr val="334155"/>
          </a:solidFill>
          <a:ln/>
        </p:spPr>
        <p:txBody>
          <a:bodyPr/>
          <a:lstStyle/>
          <a:p>
            <a:endParaRPr lang="fr-CH"/>
          </a:p>
        </p:txBody>
      </p:sp>
      <p:pic>
        <p:nvPicPr>
          <p:cNvPr id="21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78408" y="4041648"/>
            <a:ext cx="329184" cy="329184"/>
          </a:xfrm>
          <a:prstGeom prst="rect">
            <a:avLst/>
          </a:prstGeom>
        </p:spPr>
      </p:pic>
      <p:sp>
        <p:nvSpPr>
          <p:cNvPr id="22" name="Text 17"/>
          <p:cNvSpPr/>
          <p:nvPr/>
        </p:nvSpPr>
        <p:spPr>
          <a:xfrm>
            <a:off x="1645920" y="384048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20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3  ·  30 MIN</a:t>
            </a:r>
            <a:endParaRPr lang="en-US" sz="1000" dirty="0"/>
          </a:p>
        </p:txBody>
      </p:sp>
      <p:sp>
        <p:nvSpPr>
          <p:cNvPr id="23" name="Text 18"/>
          <p:cNvSpPr/>
          <p:nvPr/>
        </p:nvSpPr>
        <p:spPr>
          <a:xfrm>
            <a:off x="1645920" y="406908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App Demo &amp; Exploration</a:t>
            </a:r>
            <a:endParaRPr lang="en-US" sz="1700" dirty="0"/>
          </a:p>
        </p:txBody>
      </p:sp>
      <p:sp>
        <p:nvSpPr>
          <p:cNvPr id="24" name="Text 19"/>
          <p:cNvSpPr/>
          <p:nvPr/>
        </p:nvSpPr>
        <p:spPr>
          <a:xfrm>
            <a:off x="1645920" y="4325112"/>
            <a:ext cx="6675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Hands-on with the AlphaGenome Explorer app — run predictions across all four modules</a:t>
            </a:r>
            <a:endParaRPr lang="en-US" sz="1200" dirty="0"/>
          </a:p>
        </p:txBody>
      </p:sp>
      <p:sp>
        <p:nvSpPr>
          <p:cNvPr id="25" name="Text 20"/>
          <p:cNvSpPr/>
          <p:nvPr/>
        </p:nvSpPr>
        <p:spPr>
          <a:xfrm>
            <a:off x="457200" y="470916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DII Bioinformatics Club  |  Luxembourg Institute of Health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A252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fr-CH"/>
          </a:p>
        </p:txBody>
      </p:sp>
      <p:sp>
        <p:nvSpPr>
          <p:cNvPr id="3" name="Text 1"/>
          <p:cNvSpPr/>
          <p:nvPr/>
        </p:nvSpPr>
        <p:spPr>
          <a:xfrm>
            <a:off x="731520" y="1097280"/>
            <a:ext cx="76809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kern="0" spc="400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1  ·  THE MODEL</a:t>
            </a:r>
            <a:endParaRPr lang="en-US" sz="14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" y="1691640"/>
            <a:ext cx="502920" cy="50292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417320" y="1645920"/>
            <a:ext cx="6858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The Paper</a:t>
            </a:r>
            <a:endParaRPr lang="en-US" sz="3400" dirty="0"/>
          </a:p>
        </p:txBody>
      </p:sp>
      <p:sp>
        <p:nvSpPr>
          <p:cNvPr id="6" name="Text 3"/>
          <p:cNvSpPr/>
          <p:nvPr/>
        </p:nvSpPr>
        <p:spPr>
          <a:xfrm>
            <a:off x="731520" y="2468880"/>
            <a:ext cx="76809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Understanding how AlphaGenome was built and what it predicts</a:t>
            </a:r>
            <a:endParaRPr lang="en-US" sz="1600" dirty="0"/>
          </a:p>
        </p:txBody>
      </p:sp>
      <p:sp>
        <p:nvSpPr>
          <p:cNvPr id="7" name="Shape 4"/>
          <p:cNvSpPr/>
          <p:nvPr/>
        </p:nvSpPr>
        <p:spPr>
          <a:xfrm>
            <a:off x="0" y="4960620"/>
            <a:ext cx="9144000" cy="182880"/>
          </a:xfrm>
          <a:prstGeom prst="rect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fr-CH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The Challenge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097280"/>
            <a:ext cx="2926080" cy="2560320"/>
          </a:xfrm>
          <a:prstGeom prst="rect">
            <a:avLst/>
          </a:prstGeom>
          <a:solidFill>
            <a:srgbClr val="1A252F"/>
          </a:solidFill>
          <a:ln/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fr-CH"/>
          </a:p>
        </p:txBody>
      </p:sp>
      <p:sp>
        <p:nvSpPr>
          <p:cNvPr id="4" name="Text 2"/>
          <p:cNvSpPr/>
          <p:nvPr/>
        </p:nvSpPr>
        <p:spPr>
          <a:xfrm>
            <a:off x="548640" y="1371600"/>
            <a:ext cx="29260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5200" b="1" dirty="0">
                <a:solidFill>
                  <a:srgbClr val="5EEAD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&gt;98%</a:t>
            </a:r>
            <a:endParaRPr lang="en-US" sz="52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25603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human genetic</a:t>
            </a:r>
            <a:endParaRPr lang="en-US" sz="1500" dirty="0"/>
          </a:p>
          <a:p>
            <a:pPr marL="0" indent="0" algn="ctr">
              <a:buNone/>
            </a:pPr>
            <a:r>
              <a:rPr lang="en-US" sz="15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variants are</a:t>
            </a:r>
            <a:endParaRPr lang="en-US" sz="1500" dirty="0"/>
          </a:p>
          <a:p>
            <a:pPr marL="0" indent="0" algn="ctr">
              <a:buNone/>
            </a:pPr>
            <a:r>
              <a:rPr lang="en-US" sz="15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non-coding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548640" y="3200400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Halldorsson et al., Nature 2022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3840480" y="1143000"/>
            <a:ext cx="4937760" cy="713232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fr-CH"/>
          </a:p>
        </p:txBody>
      </p:sp>
      <p:sp>
        <p:nvSpPr>
          <p:cNvPr id="8" name="Shape 6"/>
          <p:cNvSpPr/>
          <p:nvPr/>
        </p:nvSpPr>
        <p:spPr>
          <a:xfrm>
            <a:off x="3840480" y="1143000"/>
            <a:ext cx="54864" cy="713232"/>
          </a:xfrm>
          <a:prstGeom prst="rect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fr-CH"/>
          </a:p>
        </p:txBody>
      </p:sp>
      <p:sp>
        <p:nvSpPr>
          <p:cNvPr id="9" name="Text 7"/>
          <p:cNvSpPr/>
          <p:nvPr/>
        </p:nvSpPr>
        <p:spPr>
          <a:xfrm>
            <a:off x="4114800" y="1216152"/>
            <a:ext cx="4480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Non-coding = hard to interpret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4114800" y="1472184"/>
            <a:ext cx="4480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Variants can affect chromatin, expression, splicing, TF binding, 3D structure — all in tissue-specific ways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840480" y="2011680"/>
            <a:ext cx="4937760" cy="713232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fr-CH"/>
          </a:p>
        </p:txBody>
      </p:sp>
      <p:sp>
        <p:nvSpPr>
          <p:cNvPr id="12" name="Shape 10"/>
          <p:cNvSpPr/>
          <p:nvPr/>
        </p:nvSpPr>
        <p:spPr>
          <a:xfrm>
            <a:off x="3840480" y="2011680"/>
            <a:ext cx="54864" cy="713232"/>
          </a:xfrm>
          <a:prstGeom prst="rect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fr-CH"/>
          </a:p>
        </p:txBody>
      </p:sp>
      <p:sp>
        <p:nvSpPr>
          <p:cNvPr id="13" name="Text 11"/>
          <p:cNvSpPr/>
          <p:nvPr/>
        </p:nvSpPr>
        <p:spPr>
          <a:xfrm>
            <a:off x="4114800" y="2084832"/>
            <a:ext cx="4480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Experimental validation is slow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4114800" y="2340864"/>
            <a:ext cx="4480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Can't functionally test every variant in every tissue; computational prediction is essential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3840480" y="2880360"/>
            <a:ext cx="4937760" cy="713232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fr-CH"/>
          </a:p>
        </p:txBody>
      </p:sp>
      <p:sp>
        <p:nvSpPr>
          <p:cNvPr id="16" name="Shape 14"/>
          <p:cNvSpPr/>
          <p:nvPr/>
        </p:nvSpPr>
        <p:spPr>
          <a:xfrm>
            <a:off x="3840480" y="2880360"/>
            <a:ext cx="54864" cy="713232"/>
          </a:xfrm>
          <a:prstGeom prst="rect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fr-CH"/>
          </a:p>
        </p:txBody>
      </p:sp>
      <p:sp>
        <p:nvSpPr>
          <p:cNvPr id="17" name="Text 15"/>
          <p:cNvSpPr/>
          <p:nvPr/>
        </p:nvSpPr>
        <p:spPr>
          <a:xfrm>
            <a:off x="4114800" y="2953512"/>
            <a:ext cx="4480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Existing models face trade-offs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4114800" y="3209544"/>
            <a:ext cx="4480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Long context OR high resolution OR multi-modality — pick two. No model unified all three before AlphaGenome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548640" y="4114800"/>
            <a:ext cx="8046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Avsec, Latysheva, Cheng et al. Nature (2026)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457200" y="470916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DII Bioinformatics Club  |  Luxembourg Institute of Health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The Trade-off Landscape Before AlphaGenome</a:t>
            </a:r>
            <a:endParaRPr lang="en-US" sz="26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051560"/>
          <a:ext cx="8229600" cy="2560320"/>
        </p:xfrm>
        <a:graphic>
          <a:graphicData uri="http://schemas.openxmlformats.org/drawingml/2006/table">
            <a:tbl>
              <a:tblPr/>
              <a:tblGrid>
                <a:gridCol w="14630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887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887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64592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7432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41148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Model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52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Input Length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52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Resolution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52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Modalities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52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Limitation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52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SpliceAI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EF44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 kb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04785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 bp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EF44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Splicing only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Short context, single modality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Enformer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200 kb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EF44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128 bp bins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04785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Multi-modal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Coarse resolution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Borzoi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500 kb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32 bp bins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04785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Multi-modal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Still binned, no splicing junctions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ChromBPNet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EF44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~2 kb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04785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 bp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EF44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Chromatin only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Very short, single modality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AlphaGenome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FD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04785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 Mb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FD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04785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 bp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FD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04785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11 output types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FD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04785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Unified — all three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FD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4" name="Text 1"/>
          <p:cNvSpPr/>
          <p:nvPr/>
        </p:nvSpPr>
        <p:spPr>
          <a:xfrm>
            <a:off x="548640" y="4114800"/>
            <a:ext cx="8046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AlphaGenome is the first model to unify long-range context (1 Mb), base-pair resolution, and broad modality coverage in a single framework.</a:t>
            </a:r>
            <a:endParaRPr lang="en-US" sz="1200" dirty="0"/>
          </a:p>
        </p:txBody>
      </p:sp>
      <p:sp>
        <p:nvSpPr>
          <p:cNvPr id="5" name="Text 2"/>
          <p:cNvSpPr/>
          <p:nvPr/>
        </p:nvSpPr>
        <p:spPr>
          <a:xfrm>
            <a:off x="457200" y="470916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DII Bioinformatics Club  |  Luxembourg Institute of Health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Model Architecture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457200" y="1143000"/>
            <a:ext cx="1645920" cy="914400"/>
          </a:xfrm>
          <a:prstGeom prst="rect">
            <a:avLst/>
          </a:prstGeom>
          <a:solidFill>
            <a:srgbClr val="1A252F"/>
          </a:solidFill>
          <a:ln/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fr-CH"/>
          </a:p>
        </p:txBody>
      </p:sp>
      <p:sp>
        <p:nvSpPr>
          <p:cNvPr id="4" name="Text 2"/>
          <p:cNvSpPr/>
          <p:nvPr/>
        </p:nvSpPr>
        <p:spPr>
          <a:xfrm>
            <a:off x="457200" y="1188720"/>
            <a:ext cx="1645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kern="0" spc="200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457200" y="1417320"/>
            <a:ext cx="16459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Mb DNA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sequence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species ID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2148840" y="1325880"/>
            <a:ext cx="365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0D9488"/>
                </a:solidFill>
              </a:rPr>
              <a:t>→</a:t>
            </a:r>
            <a:endParaRPr lang="en-US" sz="2400" dirty="0"/>
          </a:p>
        </p:txBody>
      </p:sp>
      <p:sp>
        <p:nvSpPr>
          <p:cNvPr id="7" name="Shape 5"/>
          <p:cNvSpPr/>
          <p:nvPr/>
        </p:nvSpPr>
        <p:spPr>
          <a:xfrm>
            <a:off x="2560320" y="1143000"/>
            <a:ext cx="1645920" cy="914400"/>
          </a:xfrm>
          <a:prstGeom prst="rect">
            <a:avLst/>
          </a:prstGeom>
          <a:solidFill>
            <a:srgbClr val="0D9488"/>
          </a:solidFill>
          <a:ln/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fr-CH"/>
          </a:p>
        </p:txBody>
      </p:sp>
      <p:sp>
        <p:nvSpPr>
          <p:cNvPr id="8" name="Text 6"/>
          <p:cNvSpPr/>
          <p:nvPr/>
        </p:nvSpPr>
        <p:spPr>
          <a:xfrm>
            <a:off x="2560320" y="1188720"/>
            <a:ext cx="1645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kern="0" spc="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ENCODER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2560320" y="1417320"/>
            <a:ext cx="16459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U-Net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downsampling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131 kb chunks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 rot="5400000">
            <a:off x="3200400" y="1968878"/>
            <a:ext cx="365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0D9488"/>
                </a:solidFill>
              </a:rPr>
              <a:t>→</a:t>
            </a:r>
            <a:endParaRPr lang="en-US" sz="2400" dirty="0"/>
          </a:p>
        </p:txBody>
      </p:sp>
      <p:sp>
        <p:nvSpPr>
          <p:cNvPr id="11" name="Shape 9"/>
          <p:cNvSpPr/>
          <p:nvPr/>
        </p:nvSpPr>
        <p:spPr>
          <a:xfrm>
            <a:off x="2560320" y="2418296"/>
            <a:ext cx="1645920" cy="914400"/>
          </a:xfrm>
          <a:prstGeom prst="rect">
            <a:avLst/>
          </a:prstGeom>
          <a:solidFill>
            <a:srgbClr val="334155"/>
          </a:solidFill>
          <a:ln/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fr-CH"/>
          </a:p>
        </p:txBody>
      </p:sp>
      <p:sp>
        <p:nvSpPr>
          <p:cNvPr id="12" name="Text 10"/>
          <p:cNvSpPr/>
          <p:nvPr/>
        </p:nvSpPr>
        <p:spPr>
          <a:xfrm>
            <a:off x="2560320" y="2464016"/>
            <a:ext cx="1645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kern="0" spc="200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TRANSFORMER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2560320" y="2692616"/>
            <a:ext cx="16459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Cross-device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attention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(long-range)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 flipV="1">
            <a:off x="2148840" y="2557888"/>
            <a:ext cx="365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0D9488"/>
                </a:solidFill>
              </a:rPr>
              <a:t>→</a:t>
            </a:r>
            <a:endParaRPr lang="en-US" sz="2400" dirty="0"/>
          </a:p>
        </p:txBody>
      </p:sp>
      <p:sp>
        <p:nvSpPr>
          <p:cNvPr id="15" name="Shape 13"/>
          <p:cNvSpPr/>
          <p:nvPr/>
        </p:nvSpPr>
        <p:spPr>
          <a:xfrm>
            <a:off x="228600" y="2418296"/>
            <a:ext cx="1920240" cy="914400"/>
          </a:xfrm>
          <a:prstGeom prst="rect">
            <a:avLst/>
          </a:prstGeom>
          <a:solidFill>
            <a:srgbClr val="0D9488"/>
          </a:solidFill>
          <a:ln/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fr-CH"/>
          </a:p>
        </p:txBody>
      </p:sp>
      <p:sp>
        <p:nvSpPr>
          <p:cNvPr id="16" name="Text 14"/>
          <p:cNvSpPr/>
          <p:nvPr/>
        </p:nvSpPr>
        <p:spPr>
          <a:xfrm>
            <a:off x="228600" y="2464016"/>
            <a:ext cx="19202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kern="0" spc="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DECODER + HEADS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228600" y="2692616"/>
            <a:ext cx="19202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U-Net upsampling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task-specific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 heads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457200" y="4434840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Predicted Output Types (5,930 human tracks / 1,128 mouse tracks)</a:t>
            </a:r>
            <a:endParaRPr lang="en-US" sz="1300" dirty="0"/>
          </a:p>
        </p:txBody>
      </p:sp>
      <p:sp>
        <p:nvSpPr>
          <p:cNvPr id="20" name="Text 17"/>
          <p:cNvSpPr/>
          <p:nvPr/>
        </p:nvSpPr>
        <p:spPr>
          <a:xfrm>
            <a:off x="457200" y="470916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DII Bioinformatics Club  |  Luxembourg Institute of Health</a:t>
            </a:r>
            <a:endParaRPr lang="en-US" sz="900" dirty="0"/>
          </a:p>
        </p:txBody>
      </p:sp>
      <p:pic>
        <p:nvPicPr>
          <p:cNvPr id="24" name="Picture 23">
            <a:extLst>
              <a:ext uri="{FF2B5EF4-FFF2-40B4-BE49-F238E27FC236}">
                <a16:creationId xmlns:a16="http://schemas.microsoft.com/office/drawing/2014/main" id="{4C282415-12EA-2306-942B-F4538EC0572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89161" y="122403"/>
            <a:ext cx="1972863" cy="5021097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217E709-A857-0725-27FF-2353097DF3E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1D28E6ED-D7AE-D0E5-5387-01C26877DBCE}"/>
              </a:ext>
            </a:extLst>
          </p:cNvPr>
          <p:cNvSpPr/>
          <p:nvPr/>
        </p:nvSpPr>
        <p:spPr>
          <a:xfrm>
            <a:off x="548640" y="320040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Model Architecture</a:t>
            </a:r>
            <a:endParaRPr lang="en-US" sz="3000" dirty="0"/>
          </a:p>
        </p:txBody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C33B74D8-04D0-6089-F072-A06ACB6FC317}"/>
              </a:ext>
            </a:extLst>
          </p:cNvPr>
          <p:cNvSpPr/>
          <p:nvPr/>
        </p:nvSpPr>
        <p:spPr>
          <a:xfrm>
            <a:off x="457200" y="1143000"/>
            <a:ext cx="1645920" cy="914400"/>
          </a:xfrm>
          <a:prstGeom prst="rect">
            <a:avLst/>
          </a:prstGeom>
          <a:solidFill>
            <a:srgbClr val="1A252F"/>
          </a:solidFill>
          <a:ln/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fr-CH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CDA993AB-5176-0621-50BE-50CC9E7086EF}"/>
              </a:ext>
            </a:extLst>
          </p:cNvPr>
          <p:cNvSpPr/>
          <p:nvPr/>
        </p:nvSpPr>
        <p:spPr>
          <a:xfrm>
            <a:off x="457200" y="1188720"/>
            <a:ext cx="1645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kern="0" spc="200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</a:t>
            </a:r>
            <a:endParaRPr lang="en-US" sz="900" dirty="0"/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B8A9D958-C668-5120-6A4F-8D28C6A1160F}"/>
              </a:ext>
            </a:extLst>
          </p:cNvPr>
          <p:cNvSpPr/>
          <p:nvPr/>
        </p:nvSpPr>
        <p:spPr>
          <a:xfrm>
            <a:off x="457200" y="1417320"/>
            <a:ext cx="16459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Mb DNA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sequence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species ID</a:t>
            </a:r>
            <a:endParaRPr lang="en-US" sz="1200" dirty="0"/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8F7617CA-17F0-969B-5FB9-469690CD70CC}"/>
              </a:ext>
            </a:extLst>
          </p:cNvPr>
          <p:cNvSpPr/>
          <p:nvPr/>
        </p:nvSpPr>
        <p:spPr>
          <a:xfrm>
            <a:off x="2148840" y="1325880"/>
            <a:ext cx="365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0D9488"/>
                </a:solidFill>
              </a:rPr>
              <a:t>→</a:t>
            </a:r>
            <a:endParaRPr lang="en-US" sz="2400" dirty="0"/>
          </a:p>
        </p:txBody>
      </p:sp>
      <p:sp>
        <p:nvSpPr>
          <p:cNvPr id="7" name="Shape 5">
            <a:extLst>
              <a:ext uri="{FF2B5EF4-FFF2-40B4-BE49-F238E27FC236}">
                <a16:creationId xmlns:a16="http://schemas.microsoft.com/office/drawing/2014/main" id="{054C79A5-A713-D5B5-31D6-BBE00D569754}"/>
              </a:ext>
            </a:extLst>
          </p:cNvPr>
          <p:cNvSpPr/>
          <p:nvPr/>
        </p:nvSpPr>
        <p:spPr>
          <a:xfrm>
            <a:off x="2560320" y="1143000"/>
            <a:ext cx="1645920" cy="914400"/>
          </a:xfrm>
          <a:prstGeom prst="rect">
            <a:avLst/>
          </a:prstGeom>
          <a:solidFill>
            <a:srgbClr val="0D9488"/>
          </a:solidFill>
          <a:ln/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fr-CH"/>
          </a:p>
        </p:txBody>
      </p:sp>
      <p:sp>
        <p:nvSpPr>
          <p:cNvPr id="8" name="Text 6">
            <a:extLst>
              <a:ext uri="{FF2B5EF4-FFF2-40B4-BE49-F238E27FC236}">
                <a16:creationId xmlns:a16="http://schemas.microsoft.com/office/drawing/2014/main" id="{10ECF809-3A90-DE8E-DF76-3262DF51253F}"/>
              </a:ext>
            </a:extLst>
          </p:cNvPr>
          <p:cNvSpPr/>
          <p:nvPr/>
        </p:nvSpPr>
        <p:spPr>
          <a:xfrm>
            <a:off x="2560320" y="1188720"/>
            <a:ext cx="1645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kern="0" spc="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ENCODER</a:t>
            </a:r>
            <a:endParaRPr lang="en-US" sz="900" dirty="0"/>
          </a:p>
        </p:txBody>
      </p:sp>
      <p:sp>
        <p:nvSpPr>
          <p:cNvPr id="9" name="Text 7">
            <a:extLst>
              <a:ext uri="{FF2B5EF4-FFF2-40B4-BE49-F238E27FC236}">
                <a16:creationId xmlns:a16="http://schemas.microsoft.com/office/drawing/2014/main" id="{86C160AD-BD17-E08D-78A1-A4A74F4DC010}"/>
              </a:ext>
            </a:extLst>
          </p:cNvPr>
          <p:cNvSpPr/>
          <p:nvPr/>
        </p:nvSpPr>
        <p:spPr>
          <a:xfrm>
            <a:off x="2560320" y="1417320"/>
            <a:ext cx="16459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U-Net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downsampling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131 kb chunks</a:t>
            </a:r>
            <a:endParaRPr lang="en-US" sz="1200" dirty="0"/>
          </a:p>
        </p:txBody>
      </p:sp>
      <p:sp>
        <p:nvSpPr>
          <p:cNvPr id="10" name="Text 8">
            <a:extLst>
              <a:ext uri="{FF2B5EF4-FFF2-40B4-BE49-F238E27FC236}">
                <a16:creationId xmlns:a16="http://schemas.microsoft.com/office/drawing/2014/main" id="{48DD45CA-CC08-4BBB-BC88-F1C6B3702EAB}"/>
              </a:ext>
            </a:extLst>
          </p:cNvPr>
          <p:cNvSpPr/>
          <p:nvPr/>
        </p:nvSpPr>
        <p:spPr>
          <a:xfrm rot="5400000">
            <a:off x="3200400" y="1968878"/>
            <a:ext cx="365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0D9488"/>
                </a:solidFill>
              </a:rPr>
              <a:t>→</a:t>
            </a:r>
            <a:endParaRPr lang="en-US" sz="2400" dirty="0"/>
          </a:p>
        </p:txBody>
      </p:sp>
      <p:sp>
        <p:nvSpPr>
          <p:cNvPr id="11" name="Shape 9">
            <a:extLst>
              <a:ext uri="{FF2B5EF4-FFF2-40B4-BE49-F238E27FC236}">
                <a16:creationId xmlns:a16="http://schemas.microsoft.com/office/drawing/2014/main" id="{2B83BA0E-9099-A80C-FA83-4EA8BDE398E9}"/>
              </a:ext>
            </a:extLst>
          </p:cNvPr>
          <p:cNvSpPr/>
          <p:nvPr/>
        </p:nvSpPr>
        <p:spPr>
          <a:xfrm>
            <a:off x="2560320" y="2418296"/>
            <a:ext cx="1645920" cy="914400"/>
          </a:xfrm>
          <a:prstGeom prst="rect">
            <a:avLst/>
          </a:prstGeom>
          <a:solidFill>
            <a:srgbClr val="334155"/>
          </a:solidFill>
          <a:ln/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fr-CH"/>
          </a:p>
        </p:txBody>
      </p:sp>
      <p:sp>
        <p:nvSpPr>
          <p:cNvPr id="12" name="Text 10">
            <a:extLst>
              <a:ext uri="{FF2B5EF4-FFF2-40B4-BE49-F238E27FC236}">
                <a16:creationId xmlns:a16="http://schemas.microsoft.com/office/drawing/2014/main" id="{EE557363-0821-718C-9276-2DA9B355FE09}"/>
              </a:ext>
            </a:extLst>
          </p:cNvPr>
          <p:cNvSpPr/>
          <p:nvPr/>
        </p:nvSpPr>
        <p:spPr>
          <a:xfrm>
            <a:off x="2560320" y="2464016"/>
            <a:ext cx="1645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kern="0" spc="200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TRANSFORMER</a:t>
            </a:r>
            <a:endParaRPr lang="en-US" sz="900" dirty="0"/>
          </a:p>
        </p:txBody>
      </p:sp>
      <p:sp>
        <p:nvSpPr>
          <p:cNvPr id="13" name="Text 11">
            <a:extLst>
              <a:ext uri="{FF2B5EF4-FFF2-40B4-BE49-F238E27FC236}">
                <a16:creationId xmlns:a16="http://schemas.microsoft.com/office/drawing/2014/main" id="{6DCFDCCB-49DF-ED73-6AAB-1806A64D9D0F}"/>
              </a:ext>
            </a:extLst>
          </p:cNvPr>
          <p:cNvSpPr/>
          <p:nvPr/>
        </p:nvSpPr>
        <p:spPr>
          <a:xfrm>
            <a:off x="2560320" y="2692616"/>
            <a:ext cx="16459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Cross-device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attention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(long-range)</a:t>
            </a:r>
            <a:endParaRPr lang="en-US" sz="1200" dirty="0"/>
          </a:p>
        </p:txBody>
      </p:sp>
      <p:sp>
        <p:nvSpPr>
          <p:cNvPr id="14" name="Text 12">
            <a:extLst>
              <a:ext uri="{FF2B5EF4-FFF2-40B4-BE49-F238E27FC236}">
                <a16:creationId xmlns:a16="http://schemas.microsoft.com/office/drawing/2014/main" id="{03BC88D4-2CAA-68A0-AC93-55935EAC737C}"/>
              </a:ext>
            </a:extLst>
          </p:cNvPr>
          <p:cNvSpPr/>
          <p:nvPr/>
        </p:nvSpPr>
        <p:spPr>
          <a:xfrm flipV="1">
            <a:off x="2148840" y="2557888"/>
            <a:ext cx="365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0D9488"/>
                </a:solidFill>
              </a:rPr>
              <a:t>→</a:t>
            </a:r>
            <a:endParaRPr lang="en-US" sz="2400" dirty="0"/>
          </a:p>
        </p:txBody>
      </p:sp>
      <p:sp>
        <p:nvSpPr>
          <p:cNvPr id="15" name="Shape 13">
            <a:extLst>
              <a:ext uri="{FF2B5EF4-FFF2-40B4-BE49-F238E27FC236}">
                <a16:creationId xmlns:a16="http://schemas.microsoft.com/office/drawing/2014/main" id="{5D1CFF0B-A748-1D9D-97E4-36F8B7195E8B}"/>
              </a:ext>
            </a:extLst>
          </p:cNvPr>
          <p:cNvSpPr/>
          <p:nvPr/>
        </p:nvSpPr>
        <p:spPr>
          <a:xfrm>
            <a:off x="228600" y="2418296"/>
            <a:ext cx="1920240" cy="914400"/>
          </a:xfrm>
          <a:prstGeom prst="rect">
            <a:avLst/>
          </a:prstGeom>
          <a:solidFill>
            <a:srgbClr val="0D9488"/>
          </a:solidFill>
          <a:ln/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fr-CH"/>
          </a:p>
        </p:txBody>
      </p:sp>
      <p:sp>
        <p:nvSpPr>
          <p:cNvPr id="16" name="Text 14">
            <a:extLst>
              <a:ext uri="{FF2B5EF4-FFF2-40B4-BE49-F238E27FC236}">
                <a16:creationId xmlns:a16="http://schemas.microsoft.com/office/drawing/2014/main" id="{F257A562-830A-7679-042C-1D9A3C3F185A}"/>
              </a:ext>
            </a:extLst>
          </p:cNvPr>
          <p:cNvSpPr/>
          <p:nvPr/>
        </p:nvSpPr>
        <p:spPr>
          <a:xfrm>
            <a:off x="228600" y="2464016"/>
            <a:ext cx="19202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kern="0" spc="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DECODER + HEADS</a:t>
            </a:r>
            <a:endParaRPr lang="en-US" sz="900" dirty="0"/>
          </a:p>
        </p:txBody>
      </p:sp>
      <p:sp>
        <p:nvSpPr>
          <p:cNvPr id="17" name="Text 15">
            <a:extLst>
              <a:ext uri="{FF2B5EF4-FFF2-40B4-BE49-F238E27FC236}">
                <a16:creationId xmlns:a16="http://schemas.microsoft.com/office/drawing/2014/main" id="{B7FFEF72-723A-E9F9-4A90-C17DB77444BE}"/>
              </a:ext>
            </a:extLst>
          </p:cNvPr>
          <p:cNvSpPr/>
          <p:nvPr/>
        </p:nvSpPr>
        <p:spPr>
          <a:xfrm>
            <a:off x="228600" y="2692616"/>
            <a:ext cx="19202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U-Net upsampling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task-specific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 heads</a:t>
            </a:r>
            <a:endParaRPr lang="en-US" sz="1200" dirty="0"/>
          </a:p>
        </p:txBody>
      </p:sp>
      <p:sp>
        <p:nvSpPr>
          <p:cNvPr id="18" name="Text 16">
            <a:extLst>
              <a:ext uri="{FF2B5EF4-FFF2-40B4-BE49-F238E27FC236}">
                <a16:creationId xmlns:a16="http://schemas.microsoft.com/office/drawing/2014/main" id="{427487E4-500E-2331-8B4B-CE7942F7860D}"/>
              </a:ext>
            </a:extLst>
          </p:cNvPr>
          <p:cNvSpPr/>
          <p:nvPr/>
        </p:nvSpPr>
        <p:spPr>
          <a:xfrm>
            <a:off x="457200" y="4434840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Predicted Output Types (5,930 human tracks / 1,128 mouse tracks)</a:t>
            </a:r>
            <a:endParaRPr lang="en-US" sz="1300" dirty="0"/>
          </a:p>
        </p:txBody>
      </p:sp>
      <p:sp>
        <p:nvSpPr>
          <p:cNvPr id="20" name="Text 17">
            <a:extLst>
              <a:ext uri="{FF2B5EF4-FFF2-40B4-BE49-F238E27FC236}">
                <a16:creationId xmlns:a16="http://schemas.microsoft.com/office/drawing/2014/main" id="{216F7EB9-183B-5886-4852-3F599253B4FF}"/>
              </a:ext>
            </a:extLst>
          </p:cNvPr>
          <p:cNvSpPr/>
          <p:nvPr/>
        </p:nvSpPr>
        <p:spPr>
          <a:xfrm>
            <a:off x="457200" y="470916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DII Bioinformatics Club  |  Luxembourg Institute of Health</a:t>
            </a:r>
            <a:endParaRPr lang="en-US" sz="900" dirty="0"/>
          </a:p>
        </p:txBody>
      </p:sp>
      <p:pic>
        <p:nvPicPr>
          <p:cNvPr id="22" name="Picture 21">
            <a:extLst>
              <a:ext uri="{FF2B5EF4-FFF2-40B4-BE49-F238E27FC236}">
                <a16:creationId xmlns:a16="http://schemas.microsoft.com/office/drawing/2014/main" id="{1BE88B95-FE05-1A59-801E-C0F73278410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0" y="806401"/>
            <a:ext cx="3867349" cy="30545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147882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EDF9E39-2922-565C-CE23-DB0622BB72C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494E572A-CC15-0022-ABC0-AD20558B98DF}"/>
              </a:ext>
            </a:extLst>
          </p:cNvPr>
          <p:cNvSpPr/>
          <p:nvPr/>
        </p:nvSpPr>
        <p:spPr>
          <a:xfrm>
            <a:off x="548640" y="320040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Model Architecture</a:t>
            </a:r>
            <a:endParaRPr lang="en-US" sz="3000" dirty="0"/>
          </a:p>
        </p:txBody>
      </p:sp>
      <p:sp>
        <p:nvSpPr>
          <p:cNvPr id="18" name="Text 16">
            <a:extLst>
              <a:ext uri="{FF2B5EF4-FFF2-40B4-BE49-F238E27FC236}">
                <a16:creationId xmlns:a16="http://schemas.microsoft.com/office/drawing/2014/main" id="{13002B0D-4EB4-AAC6-F45D-9F454D180ED2}"/>
              </a:ext>
            </a:extLst>
          </p:cNvPr>
          <p:cNvSpPr/>
          <p:nvPr/>
        </p:nvSpPr>
        <p:spPr>
          <a:xfrm>
            <a:off x="1463040" y="1501626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Predicted Output Types (5,930 human tracks / 1,128 mouse tracks)</a:t>
            </a:r>
            <a:endParaRPr lang="en-US" sz="1300" dirty="0"/>
          </a:p>
        </p:txBody>
      </p:sp>
      <p:graphicFrame>
        <p:nvGraphicFramePr>
          <p:cNvPr id="19" name="Table 0">
            <a:extLst>
              <a:ext uri="{FF2B5EF4-FFF2-40B4-BE49-F238E27FC236}">
                <a16:creationId xmlns:a16="http://schemas.microsoft.com/office/drawing/2014/main" id="{A9F4FD09-AC99-174C-4F66-6CF142C882F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52354843"/>
              </p:ext>
            </p:extLst>
          </p:nvPr>
        </p:nvGraphicFramePr>
        <p:xfrm>
          <a:off x="1371600" y="1867386"/>
          <a:ext cx="6400800" cy="1859280"/>
        </p:xfrm>
        <a:graphic>
          <a:graphicData uri="http://schemas.openxmlformats.org/drawingml/2006/table">
            <a:tbl>
              <a:tblPr/>
              <a:tblGrid>
                <a:gridCol w="12801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887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315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28016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18872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73152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29260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Output Type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52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Category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52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Resolution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52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Output Type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52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Category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52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Resolution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52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RNA-seq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Gene expression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04785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 bp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ChIP-TF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TF binding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04785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128 bp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CAGE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Transcription start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04785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 bp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Splice sites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Splicing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04785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 bp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DNASE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Chromatin access.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04785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 bp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Splice junctions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Splicing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04785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 bp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ATAC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Chromatin access.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04785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 bp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PRO-cap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TSS initiation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04785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 bp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ChIP-Histone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Epigenomics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04785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128 bp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Contact maps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3D structure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04785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2048 bp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20" name="Text 17">
            <a:extLst>
              <a:ext uri="{FF2B5EF4-FFF2-40B4-BE49-F238E27FC236}">
                <a16:creationId xmlns:a16="http://schemas.microsoft.com/office/drawing/2014/main" id="{77BC3370-4B94-85B1-738E-4507A8E371D7}"/>
              </a:ext>
            </a:extLst>
          </p:cNvPr>
          <p:cNvSpPr/>
          <p:nvPr/>
        </p:nvSpPr>
        <p:spPr>
          <a:xfrm>
            <a:off x="457200" y="470916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DII Bioinformatics Club  |  Luxembourg Institute of Health</a:t>
            </a:r>
            <a:endParaRPr lang="en-US" sz="900" dirty="0"/>
          </a:p>
        </p:txBody>
      </p:sp>
    </p:spTree>
    <p:extLst>
      <p:ext uri="{BB962C8B-B14F-4D97-AF65-F5344CB8AC3E}">
        <p14:creationId xmlns:p14="http://schemas.microsoft.com/office/powerpoint/2010/main" val="15545231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Two-Phase Training Strategy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1097280"/>
            <a:ext cx="3840480" cy="256032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fr-CH"/>
          </a:p>
        </p:txBody>
      </p:sp>
      <p:sp>
        <p:nvSpPr>
          <p:cNvPr id="4" name="Shape 2"/>
          <p:cNvSpPr/>
          <p:nvPr/>
        </p:nvSpPr>
        <p:spPr>
          <a:xfrm>
            <a:off x="457200" y="1097280"/>
            <a:ext cx="3840480" cy="457200"/>
          </a:xfrm>
          <a:prstGeom prst="rect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fr-CH"/>
          </a:p>
        </p:txBody>
      </p:sp>
      <p:sp>
        <p:nvSpPr>
          <p:cNvPr id="5" name="Text 3"/>
          <p:cNvSpPr/>
          <p:nvPr/>
        </p:nvSpPr>
        <p:spPr>
          <a:xfrm>
            <a:off x="640080" y="114300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Phase 1: Pretraining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640080" y="1691640"/>
            <a:ext cx="3474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 on experimental data</a:t>
            </a:r>
            <a:endParaRPr lang="en-US" sz="1300" dirty="0"/>
          </a:p>
          <a:p>
            <a:pPr marL="0" indent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Sample 1 Mb DNA intervals from
   cross-validation folds
</a:t>
            </a:r>
            <a:endParaRPr lang="en-US" sz="1300" dirty="0"/>
          </a:p>
          <a:p>
            <a:pPr marL="0" indent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Augment with shifts + reverse
   complement
</a:t>
            </a:r>
            <a:endParaRPr lang="en-US" sz="1300" dirty="0"/>
          </a:p>
          <a:p>
            <a:pPr marL="0" indent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Train against observed experimental
   targets (ChIP, RNA-seq, etc.)
</a:t>
            </a:r>
            <a:endParaRPr lang="en-US" sz="1300" dirty="0"/>
          </a:p>
          <a:p>
            <a:pPr marL="0" indent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Produces fold-specific teacher models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4297680" y="2011680"/>
            <a:ext cx="548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0D9488"/>
                </a:solidFill>
              </a:rPr>
              <a:t>→</a:t>
            </a:r>
            <a:endParaRPr lang="en-US" sz="3000" dirty="0"/>
          </a:p>
        </p:txBody>
      </p:sp>
      <p:sp>
        <p:nvSpPr>
          <p:cNvPr id="8" name="Shape 6"/>
          <p:cNvSpPr/>
          <p:nvPr/>
        </p:nvSpPr>
        <p:spPr>
          <a:xfrm>
            <a:off x="4846320" y="1097280"/>
            <a:ext cx="3840480" cy="256032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fr-CH"/>
          </a:p>
        </p:txBody>
      </p:sp>
      <p:sp>
        <p:nvSpPr>
          <p:cNvPr id="9" name="Shape 7"/>
          <p:cNvSpPr/>
          <p:nvPr/>
        </p:nvSpPr>
        <p:spPr>
          <a:xfrm>
            <a:off x="4846320" y="1097280"/>
            <a:ext cx="3840480" cy="457200"/>
          </a:xfrm>
          <a:prstGeom prst="rect">
            <a:avLst/>
          </a:prstGeom>
          <a:solidFill>
            <a:srgbClr val="1A252F"/>
          </a:solidFill>
          <a:ln/>
        </p:spPr>
        <p:txBody>
          <a:bodyPr/>
          <a:lstStyle/>
          <a:p>
            <a:endParaRPr lang="fr-CH"/>
          </a:p>
        </p:txBody>
      </p:sp>
      <p:sp>
        <p:nvSpPr>
          <p:cNvPr id="10" name="Text 8"/>
          <p:cNvSpPr/>
          <p:nvPr/>
        </p:nvSpPr>
        <p:spPr>
          <a:xfrm>
            <a:off x="5029200" y="114300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Phase 2: Distillation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5029200" y="1691640"/>
            <a:ext cx="3474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Optimise for variant prediction</a:t>
            </a:r>
            <a:endParaRPr lang="en-US" sz="1300" dirty="0"/>
          </a:p>
          <a:p>
            <a:pPr marL="0" indent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Student model learns from frozen
   all-fold teachers
</a:t>
            </a:r>
            <a:endParaRPr lang="en-US" sz="1300" dirty="0"/>
          </a:p>
          <a:p>
            <a:pPr marL="0" indent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Input sequences are mutationally
   perturbed (not just natural DNA)
</a:t>
            </a:r>
            <a:endParaRPr lang="en-US" sz="1300" dirty="0"/>
          </a:p>
          <a:p>
            <a:pPr marL="0" indent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Student sees how predictions change
   with mutations
</a:t>
            </a:r>
            <a:endParaRPr lang="en-US" sz="1300" dirty="0"/>
          </a:p>
          <a:p>
            <a:pPr marL="0" indent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Yields single model for variant scoring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457200" y="3931920"/>
            <a:ext cx="8229600" cy="640080"/>
          </a:xfrm>
          <a:prstGeom prst="rect">
            <a:avLst/>
          </a:prstGeom>
          <a:solidFill>
            <a:srgbClr val="ECFDF5"/>
          </a:solidFill>
          <a:ln/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fr-CH"/>
          </a:p>
        </p:txBody>
      </p:sp>
      <p:sp>
        <p:nvSpPr>
          <p:cNvPr id="13" name="Shape 11"/>
          <p:cNvSpPr/>
          <p:nvPr/>
        </p:nvSpPr>
        <p:spPr>
          <a:xfrm>
            <a:off x="457200" y="3931920"/>
            <a:ext cx="54864" cy="640080"/>
          </a:xfrm>
          <a:prstGeom prst="rect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fr-CH"/>
          </a:p>
        </p:txBody>
      </p:sp>
      <p:sp>
        <p:nvSpPr>
          <p:cNvPr id="14" name="Text 12"/>
          <p:cNvSpPr/>
          <p:nvPr/>
        </p:nvSpPr>
        <p:spPr>
          <a:xfrm>
            <a:off x="731520" y="3977640"/>
            <a:ext cx="7772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insight: distillation with mutated sequences teaches the model how variants shift predictions — critical for clinical variant interpretation.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470916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DII Bioinformatics Club  |  Luxembourg Institute of Health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Benchmark Performance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457200" y="1051560"/>
            <a:ext cx="3931920" cy="182880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fr-CH"/>
          </a:p>
        </p:txBody>
      </p:sp>
      <p:sp>
        <p:nvSpPr>
          <p:cNvPr id="4" name="Text 2"/>
          <p:cNvSpPr/>
          <p:nvPr/>
        </p:nvSpPr>
        <p:spPr>
          <a:xfrm>
            <a:off x="457200" y="1143000"/>
            <a:ext cx="39319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8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25/26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457200" y="1874520"/>
            <a:ext cx="3931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variant effect</a:t>
            </a:r>
            <a:endParaRPr lang="en-US" sz="1400" dirty="0"/>
          </a:p>
          <a:p>
            <a:pPr marL="0" indent="0" algn="ctr">
              <a:buNone/>
            </a:pPr>
            <a:r>
              <a:rPr lang="en-US" sz="1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prediction tasks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457200" y="2377440"/>
            <a:ext cx="3931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or matching best available model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4754880" y="1051560"/>
            <a:ext cx="3931920" cy="182880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fr-CH"/>
          </a:p>
        </p:txBody>
      </p:sp>
      <p:sp>
        <p:nvSpPr>
          <p:cNvPr id="8" name="Text 6"/>
          <p:cNvSpPr/>
          <p:nvPr/>
        </p:nvSpPr>
        <p:spPr>
          <a:xfrm>
            <a:off x="4754880" y="1143000"/>
            <a:ext cx="39319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8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22/24</a:t>
            </a:r>
            <a:endParaRPr lang="en-US" sz="4800" dirty="0"/>
          </a:p>
        </p:txBody>
      </p:sp>
      <p:sp>
        <p:nvSpPr>
          <p:cNvPr id="9" name="Text 7"/>
          <p:cNvSpPr/>
          <p:nvPr/>
        </p:nvSpPr>
        <p:spPr>
          <a:xfrm>
            <a:off x="4754880" y="1874520"/>
            <a:ext cx="3931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genome track</a:t>
            </a:r>
            <a:endParaRPr lang="en-US" sz="1400" dirty="0"/>
          </a:p>
          <a:p>
            <a:pPr marL="0" indent="0" algn="ctr">
              <a:buNone/>
            </a:pPr>
            <a:r>
              <a:rPr lang="en-US" sz="1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prediction tasks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754880" y="2377440"/>
            <a:ext cx="3931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State-of-the-art track accuracy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548640" y="3108960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Highlights from the paper</a:t>
            </a:r>
            <a:endParaRPr lang="en-US" sz="1400" dirty="0"/>
          </a:p>
        </p:txBody>
      </p:sp>
      <p:pic>
        <p:nvPicPr>
          <p:cNvPr id="1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3566160"/>
            <a:ext cx="201168" cy="201168"/>
          </a:xfrm>
          <a:prstGeom prst="rect">
            <a:avLst/>
          </a:prstGeom>
        </p:spPr>
      </p:pic>
      <p:sp>
        <p:nvSpPr>
          <p:cNvPr id="13" name="Text 10"/>
          <p:cNvSpPr/>
          <p:nvPr/>
        </p:nvSpPr>
        <p:spPr>
          <a:xfrm>
            <a:off x="960120" y="3538728"/>
            <a:ext cx="7589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Trained on human and mouse genomes simultaneously (GRCh38 + mm10)</a:t>
            </a:r>
            <a:endParaRPr lang="en-US" sz="1200" dirty="0"/>
          </a:p>
        </p:txBody>
      </p:sp>
      <p:pic>
        <p:nvPicPr>
          <p:cNvPr id="14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3913632"/>
            <a:ext cx="201168" cy="201168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960120" y="3886200"/>
            <a:ext cx="7589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Cross-modality analysis recapitulates known mechanisms at TAL1 oncogene locus</a:t>
            </a:r>
            <a:endParaRPr lang="en-US" sz="1200" dirty="0"/>
          </a:p>
        </p:txBody>
      </p:sp>
      <p:pic>
        <p:nvPicPr>
          <p:cNvPr id="16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4261104"/>
            <a:ext cx="201168" cy="201168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960120" y="4233672"/>
            <a:ext cx="7589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Quantile-calibrated scoring enables comparison across all assay types and tissues</a:t>
            </a:r>
            <a:endParaRPr lang="en-US" sz="1200" dirty="0"/>
          </a:p>
        </p:txBody>
      </p:sp>
      <p:sp>
        <p:nvSpPr>
          <p:cNvPr id="18" name="Text 13"/>
          <p:cNvSpPr/>
          <p:nvPr/>
        </p:nvSpPr>
        <p:spPr>
          <a:xfrm>
            <a:off x="457200" y="470916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DII Bioinformatics Club  |  Luxembourg Institute of Health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Key Figures from the Paper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822960"/>
            <a:ext cx="8046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These figures are best shown directly from the paper during the session.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457200" y="1371600"/>
            <a:ext cx="8229600" cy="68580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fr-CH"/>
          </a:p>
        </p:txBody>
      </p:sp>
      <p:sp>
        <p:nvSpPr>
          <p:cNvPr id="5" name="Shape 3"/>
          <p:cNvSpPr/>
          <p:nvPr/>
        </p:nvSpPr>
        <p:spPr>
          <a:xfrm>
            <a:off x="457200" y="1371600"/>
            <a:ext cx="54864" cy="685800"/>
          </a:xfrm>
          <a:prstGeom prst="rect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fr-CH"/>
          </a:p>
        </p:txBody>
      </p:sp>
      <p:sp>
        <p:nvSpPr>
          <p:cNvPr id="6" name="Text 4"/>
          <p:cNvSpPr/>
          <p:nvPr/>
        </p:nvSpPr>
        <p:spPr>
          <a:xfrm>
            <a:off x="685800" y="1444752"/>
            <a:ext cx="1188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Figure 1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1920240" y="1417320"/>
            <a:ext cx="6492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Architecture &amp; performance overview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1920240" y="1691640"/>
            <a:ext cx="6492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architecture diagram, pretraining/distillation pipeline, and bar charts showing relative improvement over competing models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57200" y="2194560"/>
            <a:ext cx="8229600" cy="68580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fr-CH"/>
          </a:p>
        </p:txBody>
      </p:sp>
      <p:sp>
        <p:nvSpPr>
          <p:cNvPr id="10" name="Shape 8"/>
          <p:cNvSpPr/>
          <p:nvPr/>
        </p:nvSpPr>
        <p:spPr>
          <a:xfrm>
            <a:off x="457200" y="2194560"/>
            <a:ext cx="54864" cy="685800"/>
          </a:xfrm>
          <a:prstGeom prst="rect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fr-CH"/>
          </a:p>
        </p:txBody>
      </p:sp>
      <p:sp>
        <p:nvSpPr>
          <p:cNvPr id="11" name="Text 9"/>
          <p:cNvSpPr/>
          <p:nvPr/>
        </p:nvSpPr>
        <p:spPr>
          <a:xfrm>
            <a:off x="685800" y="2267712"/>
            <a:ext cx="1188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Figure 2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1920240" y="2240280"/>
            <a:ext cx="6492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Track prediction examples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1920240" y="2514600"/>
            <a:ext cx="6492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HepG2 multi-modal predictions (RNA-seq, ATAC, DNase, ChIP, contacts, splicing) aligned to a 1 Mb region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57200" y="3017520"/>
            <a:ext cx="8229600" cy="68580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fr-CH"/>
          </a:p>
        </p:txBody>
      </p:sp>
      <p:sp>
        <p:nvSpPr>
          <p:cNvPr id="15" name="Shape 13"/>
          <p:cNvSpPr/>
          <p:nvPr/>
        </p:nvSpPr>
        <p:spPr>
          <a:xfrm>
            <a:off x="457200" y="3017520"/>
            <a:ext cx="54864" cy="685800"/>
          </a:xfrm>
          <a:prstGeom prst="rect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fr-CH"/>
          </a:p>
        </p:txBody>
      </p:sp>
      <p:sp>
        <p:nvSpPr>
          <p:cNvPr id="16" name="Text 14"/>
          <p:cNvSpPr/>
          <p:nvPr/>
        </p:nvSpPr>
        <p:spPr>
          <a:xfrm>
            <a:off x="685800" y="3090672"/>
            <a:ext cx="1188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Figure 3–5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1920240" y="3063240"/>
            <a:ext cx="6492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Modality deep-dives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1920240" y="3337560"/>
            <a:ext cx="6492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Splicing (SpliceAI comparison), gene expression (eQTL benchmarks), chromatin accessibility (caQTL/dsQTL)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295072" y="4320540"/>
            <a:ext cx="8229600" cy="68580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fr-CH"/>
          </a:p>
        </p:txBody>
      </p:sp>
      <p:sp>
        <p:nvSpPr>
          <p:cNvPr id="20" name="Shape 18"/>
          <p:cNvSpPr/>
          <p:nvPr/>
        </p:nvSpPr>
        <p:spPr>
          <a:xfrm>
            <a:off x="457200" y="3840480"/>
            <a:ext cx="54864" cy="685800"/>
          </a:xfrm>
          <a:prstGeom prst="rect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fr-CH"/>
          </a:p>
        </p:txBody>
      </p:sp>
      <p:sp>
        <p:nvSpPr>
          <p:cNvPr id="21" name="Text 19"/>
          <p:cNvSpPr/>
          <p:nvPr/>
        </p:nvSpPr>
        <p:spPr>
          <a:xfrm>
            <a:off x="685800" y="3913632"/>
            <a:ext cx="1188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Figure 6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1920240" y="3886200"/>
            <a:ext cx="6492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Cross-modality variant interpretation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1920240" y="4160520"/>
            <a:ext cx="6492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TAL1 oncogene case study — variant effects visualised across all modalities simultaneously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495008" y="4447324"/>
            <a:ext cx="8046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i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Suggestion: open the paper side-by-side and walk through Figure 1a (architecture) and Figure 2a (HepG2 predictions) live.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457200" y="470916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DII Bioinformatics Club  |  Luxembourg Institute of Health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A252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fr-CH"/>
          </a:p>
        </p:txBody>
      </p:sp>
      <p:sp>
        <p:nvSpPr>
          <p:cNvPr id="3" name="Text 1"/>
          <p:cNvSpPr/>
          <p:nvPr/>
        </p:nvSpPr>
        <p:spPr>
          <a:xfrm>
            <a:off x="731520" y="1097280"/>
            <a:ext cx="76809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kern="0" spc="400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2  ·  THE CODE</a:t>
            </a:r>
            <a:endParaRPr lang="en-US" sz="14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" y="1691640"/>
            <a:ext cx="502920" cy="50292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417320" y="1645920"/>
            <a:ext cx="6858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Python Tutorial</a:t>
            </a:r>
            <a:endParaRPr lang="en-US" sz="3400" dirty="0"/>
          </a:p>
        </p:txBody>
      </p:sp>
      <p:sp>
        <p:nvSpPr>
          <p:cNvPr id="6" name="Text 3"/>
          <p:cNvSpPr/>
          <p:nvPr/>
        </p:nvSpPr>
        <p:spPr>
          <a:xfrm>
            <a:off x="731520" y="2468880"/>
            <a:ext cx="76809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Walking through the AlphaGenome SDK — focus on variant analysis</a:t>
            </a:r>
            <a:endParaRPr lang="en-US" sz="1600" dirty="0"/>
          </a:p>
        </p:txBody>
      </p:sp>
      <p:sp>
        <p:nvSpPr>
          <p:cNvPr id="7" name="Shape 4"/>
          <p:cNvSpPr/>
          <p:nvPr/>
        </p:nvSpPr>
        <p:spPr>
          <a:xfrm>
            <a:off x="0" y="4960620"/>
            <a:ext cx="9144000" cy="182880"/>
          </a:xfrm>
          <a:prstGeom prst="rect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fr-CH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AlphaGenome Python SDK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822960"/>
            <a:ext cx="8046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quick_start.ipynb notebook from DeepMind walks through the full API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457200" y="1371600"/>
            <a:ext cx="1463040" cy="822960"/>
          </a:xfrm>
          <a:prstGeom prst="rect">
            <a:avLst/>
          </a:prstGeom>
          <a:solidFill>
            <a:srgbClr val="64748B"/>
          </a:solidFill>
          <a:ln/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fr-CH"/>
          </a:p>
        </p:txBody>
      </p:sp>
      <p:sp>
        <p:nvSpPr>
          <p:cNvPr id="5" name="Text 3"/>
          <p:cNvSpPr/>
          <p:nvPr/>
        </p:nvSpPr>
        <p:spPr>
          <a:xfrm>
            <a:off x="457200" y="1417320"/>
            <a:ext cx="14630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Install &amp;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Import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1874520" y="1508760"/>
            <a:ext cx="365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0D9488"/>
                </a:solidFill>
              </a:rPr>
              <a:t>→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2194560" y="1371600"/>
            <a:ext cx="1463040" cy="822960"/>
          </a:xfrm>
          <a:prstGeom prst="rect">
            <a:avLst/>
          </a:prstGeom>
          <a:solidFill>
            <a:srgbClr val="0D9488"/>
          </a:solidFill>
          <a:ln/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fr-CH"/>
          </a:p>
        </p:txBody>
      </p:sp>
      <p:sp>
        <p:nvSpPr>
          <p:cNvPr id="8" name="Text 6"/>
          <p:cNvSpPr/>
          <p:nvPr/>
        </p:nvSpPr>
        <p:spPr>
          <a:xfrm>
            <a:off x="2194560" y="1417320"/>
            <a:ext cx="14630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3611880" y="1508760"/>
            <a:ext cx="365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0D9488"/>
                </a:solidFill>
              </a:rPr>
              <a:t>→</a:t>
            </a:r>
            <a:endParaRPr lang="en-US" sz="2000" dirty="0"/>
          </a:p>
        </p:txBody>
      </p:sp>
      <p:sp>
        <p:nvSpPr>
          <p:cNvPr id="10" name="Shape 8"/>
          <p:cNvSpPr/>
          <p:nvPr/>
        </p:nvSpPr>
        <p:spPr>
          <a:xfrm>
            <a:off x="3931920" y="1371600"/>
            <a:ext cx="1463040" cy="822960"/>
          </a:xfrm>
          <a:prstGeom prst="rect">
            <a:avLst/>
          </a:prstGeom>
          <a:solidFill>
            <a:srgbClr val="0D9488"/>
          </a:solidFill>
          <a:ln/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fr-CH"/>
          </a:p>
        </p:txBody>
      </p:sp>
      <p:sp>
        <p:nvSpPr>
          <p:cNvPr id="11" name="Text 9"/>
          <p:cNvSpPr/>
          <p:nvPr/>
        </p:nvSpPr>
        <p:spPr>
          <a:xfrm>
            <a:off x="3931920" y="1417320"/>
            <a:ext cx="14630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Define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Variant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5349240" y="1508760"/>
            <a:ext cx="365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0D9488"/>
                </a:solidFill>
              </a:rPr>
              <a:t>→</a:t>
            </a:r>
            <a:endParaRPr lang="en-US" sz="2000" dirty="0"/>
          </a:p>
        </p:txBody>
      </p:sp>
      <p:sp>
        <p:nvSpPr>
          <p:cNvPr id="13" name="Shape 11"/>
          <p:cNvSpPr/>
          <p:nvPr/>
        </p:nvSpPr>
        <p:spPr>
          <a:xfrm>
            <a:off x="5669280" y="1371600"/>
            <a:ext cx="1463040" cy="822960"/>
          </a:xfrm>
          <a:prstGeom prst="rect">
            <a:avLst/>
          </a:prstGeom>
          <a:solidFill>
            <a:srgbClr val="1A252F"/>
          </a:solidFill>
          <a:ln/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fr-CH"/>
          </a:p>
        </p:txBody>
      </p:sp>
      <p:sp>
        <p:nvSpPr>
          <p:cNvPr id="14" name="Text 12"/>
          <p:cNvSpPr/>
          <p:nvPr/>
        </p:nvSpPr>
        <p:spPr>
          <a:xfrm>
            <a:off x="5669280" y="1417320"/>
            <a:ext cx="14630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 vs ALT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7086600" y="1508760"/>
            <a:ext cx="365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0D9488"/>
                </a:solidFill>
              </a:rPr>
              <a:t>→</a:t>
            </a:r>
            <a:endParaRPr lang="en-US" sz="2000" dirty="0"/>
          </a:p>
        </p:txBody>
      </p:sp>
      <p:sp>
        <p:nvSpPr>
          <p:cNvPr id="16" name="Shape 14"/>
          <p:cNvSpPr/>
          <p:nvPr/>
        </p:nvSpPr>
        <p:spPr>
          <a:xfrm>
            <a:off x="7406640" y="1371600"/>
            <a:ext cx="1463040" cy="822960"/>
          </a:xfrm>
          <a:prstGeom prst="rect">
            <a:avLst/>
          </a:prstGeom>
          <a:solidFill>
            <a:srgbClr val="1A252F"/>
          </a:solidFill>
          <a:ln/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fr-CH"/>
          </a:p>
        </p:txBody>
      </p:sp>
      <p:sp>
        <p:nvSpPr>
          <p:cNvPr id="17" name="Text 15"/>
          <p:cNvSpPr/>
          <p:nvPr/>
        </p:nvSpPr>
        <p:spPr>
          <a:xfrm>
            <a:off x="7406640" y="1417320"/>
            <a:ext cx="14630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 &amp;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Interpret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548640" y="2377440"/>
            <a:ext cx="8046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Today's focus: steps 2–5 (variant effect prediction workflow)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548640" y="2834640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Key Concepts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640080" y="324612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94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dna_client.create()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2926080" y="3246120"/>
            <a:ext cx="5669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Initialises the model connection via API key — all predictions go through this object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640080" y="365760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94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genome.Variant()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2926080" y="3657600"/>
            <a:ext cx="5669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Defines a variant with chromosome, position, REF, and ALT bases (VCF-style, 1-based)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640080" y="406908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94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predict_variant()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2926080" y="4069080"/>
            <a:ext cx="5669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Returns REF and ALT predictions for any output type and tissue — compare to see the variant's effect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640080" y="448056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94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score_variant()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2926080" y="4480560"/>
            <a:ext cx="5669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Aggregates REF vs ALT into a single score per track, with quantile calibration for cross-comparison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457200" y="470916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DII Bioinformatics Club  |  Luxembourg Institute of Health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8046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Variant Analysis — Code Walkthrough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960120"/>
            <a:ext cx="5029200" cy="1325880"/>
          </a:xfrm>
          <a:prstGeom prst="rect">
            <a:avLst/>
          </a:prstGeom>
          <a:solidFill>
            <a:srgbClr val="0F1923"/>
          </a:solidFill>
          <a:ln/>
        </p:spPr>
        <p:txBody>
          <a:bodyPr/>
          <a:lstStyle/>
          <a:p>
            <a:endParaRPr lang="fr-CH"/>
          </a:p>
        </p:txBody>
      </p:sp>
      <p:sp>
        <p:nvSpPr>
          <p:cNvPr id="4" name="Text 2"/>
          <p:cNvSpPr/>
          <p:nvPr/>
        </p:nvSpPr>
        <p:spPr>
          <a:xfrm>
            <a:off x="640080" y="1005840"/>
            <a:ext cx="466344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Define the variant
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variant = genome.Variant(
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5EEA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chromosome='chr22',
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5EEA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position=36201698,
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5EEA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reference_bases='A',
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5EEA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alternate_bases='C')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5669280" y="960120"/>
            <a:ext cx="3017520" cy="1325880"/>
          </a:xfrm>
          <a:prstGeom prst="rect">
            <a:avLst/>
          </a:prstGeom>
          <a:solidFill>
            <a:srgbClr val="ECFDF5"/>
          </a:solidFill>
          <a:ln/>
        </p:spPr>
        <p:txBody>
          <a:bodyPr/>
          <a:lstStyle/>
          <a:p>
            <a:endParaRPr lang="fr-CH"/>
          </a:p>
        </p:txBody>
      </p:sp>
      <p:sp>
        <p:nvSpPr>
          <p:cNvPr id="6" name="Shape 4"/>
          <p:cNvSpPr/>
          <p:nvPr/>
        </p:nvSpPr>
        <p:spPr>
          <a:xfrm>
            <a:off x="5669280" y="960120"/>
            <a:ext cx="45720" cy="1325880"/>
          </a:xfrm>
          <a:prstGeom prst="rect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fr-CH"/>
          </a:p>
        </p:txBody>
      </p:sp>
      <p:sp>
        <p:nvSpPr>
          <p:cNvPr id="7" name="Text 5"/>
          <p:cNvSpPr/>
          <p:nvPr/>
        </p:nvSpPr>
        <p:spPr>
          <a:xfrm>
            <a:off x="5852160" y="1005840"/>
            <a:ext cx="265176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VCF-style coordinates: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1-based position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Single nucleotide variant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chr22:36,201,698 A→C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Known colon eQTL variant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57200" y="2468880"/>
            <a:ext cx="5029200" cy="1234440"/>
          </a:xfrm>
          <a:prstGeom prst="rect">
            <a:avLst/>
          </a:prstGeom>
          <a:solidFill>
            <a:srgbClr val="0F1923"/>
          </a:solidFill>
          <a:ln/>
        </p:spPr>
        <p:txBody>
          <a:bodyPr/>
          <a:lstStyle/>
          <a:p>
            <a:endParaRPr lang="fr-CH"/>
          </a:p>
        </p:txBody>
      </p:sp>
      <p:sp>
        <p:nvSpPr>
          <p:cNvPr id="9" name="Text 7"/>
          <p:cNvSpPr/>
          <p:nvPr/>
        </p:nvSpPr>
        <p:spPr>
          <a:xfrm>
            <a:off x="640080" y="2514600"/>
            <a:ext cx="466344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Predict REF vs ALT
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output = dna_model.predict_variant(
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5EEA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interval=interval,
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5EEA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variant=variant,
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5EEA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requested_outputs=[OutputType.RNA_SEQ],
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5EEA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ontology_terms=['UBERON:0001157'])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5669280" y="2468880"/>
            <a:ext cx="3017520" cy="1234440"/>
          </a:xfrm>
          <a:prstGeom prst="rect">
            <a:avLst/>
          </a:prstGeom>
          <a:solidFill>
            <a:srgbClr val="ECFDF5"/>
          </a:solidFill>
          <a:ln/>
        </p:spPr>
        <p:txBody>
          <a:bodyPr/>
          <a:lstStyle/>
          <a:p>
            <a:endParaRPr lang="fr-CH"/>
          </a:p>
        </p:txBody>
      </p:sp>
      <p:sp>
        <p:nvSpPr>
          <p:cNvPr id="11" name="Shape 9"/>
          <p:cNvSpPr/>
          <p:nvPr/>
        </p:nvSpPr>
        <p:spPr>
          <a:xfrm>
            <a:off x="5669280" y="2468880"/>
            <a:ext cx="45720" cy="1234440"/>
          </a:xfrm>
          <a:prstGeom prst="rect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fr-CH"/>
          </a:p>
        </p:txBody>
      </p:sp>
      <p:sp>
        <p:nvSpPr>
          <p:cNvPr id="12" name="Text 10"/>
          <p:cNvSpPr/>
          <p:nvPr/>
        </p:nvSpPr>
        <p:spPr>
          <a:xfrm>
            <a:off x="5852160" y="2514600"/>
            <a:ext cx="265176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Returns two prediction sets: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output.reference → REF tracks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output.alternate → ALT tracks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Compare to see variant effect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57200" y="3886200"/>
            <a:ext cx="8229600" cy="640080"/>
          </a:xfrm>
          <a:prstGeom prst="rect">
            <a:avLst/>
          </a:prstGeom>
          <a:solidFill>
            <a:srgbClr val="1A252F"/>
          </a:solidFill>
          <a:ln/>
        </p:spPr>
        <p:txBody>
          <a:bodyPr/>
          <a:lstStyle/>
          <a:p>
            <a:endParaRPr lang="fr-CH"/>
          </a:p>
        </p:txBody>
      </p:sp>
      <p:sp>
        <p:nvSpPr>
          <p:cNvPr id="14" name="Text 12"/>
          <p:cNvSpPr/>
          <p:nvPr/>
        </p:nvSpPr>
        <p:spPr>
          <a:xfrm>
            <a:off x="640080" y="3931920"/>
            <a:ext cx="7863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you'll see: the ALT allele (C) is associated with lower expression AND an exon skipping event in the APOL4 gene on the negative strand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470916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DII Bioinformatics Club  |  Luxembourg Institute of Health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Variant Scoring &amp; Quantile Calibration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1005840"/>
            <a:ext cx="5029200" cy="1463040"/>
          </a:xfrm>
          <a:prstGeom prst="rect">
            <a:avLst/>
          </a:prstGeom>
          <a:solidFill>
            <a:srgbClr val="0F1923"/>
          </a:solidFill>
          <a:ln/>
        </p:spPr>
        <p:txBody>
          <a:bodyPr/>
          <a:lstStyle/>
          <a:p>
            <a:endParaRPr lang="fr-CH"/>
          </a:p>
        </p:txBody>
      </p:sp>
      <p:sp>
        <p:nvSpPr>
          <p:cNvPr id="4" name="Text 2"/>
          <p:cNvSpPr/>
          <p:nvPr/>
        </p:nvSpPr>
        <p:spPr>
          <a:xfrm>
            <a:off x="640080" y="1051560"/>
            <a:ext cx="46634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Score the variant
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scorer = RECOMMENDED_VARIANT_SCORERS['RNA_SEQ']
</a:t>
            </a:r>
            <a:endParaRPr lang="en-US" sz="1000" dirty="0"/>
          </a:p>
          <a:p>
            <a:pPr marL="0" indent="0">
              <a:buNone/>
            </a:pPr>
            <a:r>
              <a:rPr lang="en-US" sz="6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scores = dna_model.score_variant(
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5EEA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interval=interval,
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5EEA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variant=variant,
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5EEA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variant_scorers=[scorer])
</a:t>
            </a:r>
            <a:endParaRPr lang="en-US" sz="1000" dirty="0"/>
          </a:p>
          <a:p>
            <a:pPr marL="0" indent="0">
              <a:buNone/>
            </a:pPr>
            <a:r>
              <a:rPr lang="en-US" sz="6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Flatten to tidy dataframe
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variant_scorers.tidy_scores(scores)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5669280" y="1005840"/>
            <a:ext cx="3017520" cy="566928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fr-CH"/>
          </a:p>
        </p:txBody>
      </p:sp>
      <p:sp>
        <p:nvSpPr>
          <p:cNvPr id="6" name="Shape 4"/>
          <p:cNvSpPr/>
          <p:nvPr/>
        </p:nvSpPr>
        <p:spPr>
          <a:xfrm>
            <a:off x="5669280" y="1005840"/>
            <a:ext cx="45720" cy="566928"/>
          </a:xfrm>
          <a:prstGeom prst="rect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fr-CH"/>
          </a:p>
        </p:txBody>
      </p:sp>
      <p:sp>
        <p:nvSpPr>
          <p:cNvPr id="7" name="Text 5"/>
          <p:cNvSpPr/>
          <p:nvPr/>
        </p:nvSpPr>
        <p:spPr>
          <a:xfrm>
            <a:off x="5852160" y="1051560"/>
            <a:ext cx="2651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Raw Score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5852160" y="1261872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Effect size: how much does the predicted signal change between REF and ALT alleles?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5669280" y="1691640"/>
            <a:ext cx="3017520" cy="566928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fr-CH"/>
          </a:p>
        </p:txBody>
      </p:sp>
      <p:sp>
        <p:nvSpPr>
          <p:cNvPr id="10" name="Shape 8"/>
          <p:cNvSpPr/>
          <p:nvPr/>
        </p:nvSpPr>
        <p:spPr>
          <a:xfrm>
            <a:off x="5669280" y="1691640"/>
            <a:ext cx="45720" cy="566928"/>
          </a:xfrm>
          <a:prstGeom prst="rect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fr-CH"/>
          </a:p>
        </p:txBody>
      </p:sp>
      <p:sp>
        <p:nvSpPr>
          <p:cNvPr id="11" name="Text 9"/>
          <p:cNvSpPr/>
          <p:nvPr/>
        </p:nvSpPr>
        <p:spPr>
          <a:xfrm>
            <a:off x="5852160" y="1737360"/>
            <a:ext cx="2651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Quantile Score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5852160" y="1947672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Rank of the raw score against a background of common benign variants (0–1 scale). Enables cross-assay comparison.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548640" y="2743200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Understanding the Output: AnnData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457200" y="3154680"/>
            <a:ext cx="8229600" cy="118872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fr-CH"/>
          </a:p>
        </p:txBody>
      </p:sp>
      <p:sp>
        <p:nvSpPr>
          <p:cNvPr id="15" name="Text 13"/>
          <p:cNvSpPr/>
          <p:nvPr/>
        </p:nvSpPr>
        <p:spPr>
          <a:xfrm>
            <a:off x="640080" y="3246120"/>
            <a:ext cx="1645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94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scores.X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2286000" y="3246120"/>
            <a:ext cx="6217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Matrix of shape (n_genes × n_tracks) — one score per gene–track combination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640080" y="3566160"/>
            <a:ext cx="1645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94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scores.obs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2286000" y="3566160"/>
            <a:ext cx="6217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Gene metadata (symbol, strand, coordinates) — rows of the matrix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640080" y="3886200"/>
            <a:ext cx="1645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94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scores.var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2286000" y="3886200"/>
            <a:ext cx="6217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Track metadata (assay, tissue, ontology) — columns of the matrix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457200" y="470916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DII Bioinformatics Club  |  Luxembourg Institute of Health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1A252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fr-CH"/>
          </a:p>
        </p:txBody>
      </p:sp>
      <p:sp>
        <p:nvSpPr>
          <p:cNvPr id="3" name="Text 1"/>
          <p:cNvSpPr/>
          <p:nvPr/>
        </p:nvSpPr>
        <p:spPr>
          <a:xfrm>
            <a:off x="731520" y="1097280"/>
            <a:ext cx="76809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kern="0" spc="400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3  ·  THE APP</a:t>
            </a:r>
            <a:endParaRPr lang="en-US" sz="14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" y="1691640"/>
            <a:ext cx="502920" cy="50292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417320" y="1645920"/>
            <a:ext cx="6858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AlphaGenome Explorer</a:t>
            </a:r>
            <a:endParaRPr lang="en-US" sz="3400" dirty="0"/>
          </a:p>
        </p:txBody>
      </p:sp>
      <p:sp>
        <p:nvSpPr>
          <p:cNvPr id="6" name="Text 3"/>
          <p:cNvSpPr/>
          <p:nvPr/>
        </p:nvSpPr>
        <p:spPr>
          <a:xfrm>
            <a:off x="731520" y="2468880"/>
            <a:ext cx="76809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Hands-on exploration with the DII app — no coding required</a:t>
            </a:r>
            <a:endParaRPr lang="en-US" sz="1600" dirty="0"/>
          </a:p>
        </p:txBody>
      </p:sp>
      <p:sp>
        <p:nvSpPr>
          <p:cNvPr id="7" name="Shape 4"/>
          <p:cNvSpPr/>
          <p:nvPr/>
        </p:nvSpPr>
        <p:spPr>
          <a:xfrm>
            <a:off x="0" y="4960620"/>
            <a:ext cx="9144000" cy="182880"/>
          </a:xfrm>
          <a:prstGeom prst="rect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fr-CH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AlphaGenome Explorer — Overview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822960"/>
            <a:ext cx="8046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no-code web interface wrapping the AlphaGenome API into four prediction modules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365760" y="1371600"/>
            <a:ext cx="1965960" cy="228600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fr-CH"/>
          </a:p>
        </p:txBody>
      </p:sp>
      <p:sp>
        <p:nvSpPr>
          <p:cNvPr id="5" name="Shape 3"/>
          <p:cNvSpPr/>
          <p:nvPr/>
        </p:nvSpPr>
        <p:spPr>
          <a:xfrm>
            <a:off x="365760" y="1371600"/>
            <a:ext cx="1965960" cy="594360"/>
          </a:xfrm>
          <a:prstGeom prst="rect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fr-CH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15568" y="1435608"/>
            <a:ext cx="411480" cy="41148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502920" y="2057400"/>
            <a:ext cx="1691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Sequence</a:t>
            </a:r>
            <a:endParaRPr lang="en-US" sz="1400" dirty="0"/>
          </a:p>
          <a:p>
            <a:pPr marL="0" indent="0" algn="ctr">
              <a:buNone/>
            </a:pPr>
            <a:r>
              <a:rPr lang="en-US" sz="14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Prediction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502920" y="2651760"/>
            <a:ext cx="16916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 from raw DNA text.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coordinates needed.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2514600" y="1371600"/>
            <a:ext cx="1965960" cy="228600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fr-CH"/>
          </a:p>
        </p:txBody>
      </p:sp>
      <p:sp>
        <p:nvSpPr>
          <p:cNvPr id="10" name="Shape 7"/>
          <p:cNvSpPr/>
          <p:nvPr/>
        </p:nvSpPr>
        <p:spPr>
          <a:xfrm>
            <a:off x="2514600" y="1371600"/>
            <a:ext cx="1965960" cy="594360"/>
          </a:xfrm>
          <a:prstGeom prst="rect">
            <a:avLst/>
          </a:prstGeom>
          <a:solidFill>
            <a:srgbClr val="14B8A6"/>
          </a:solidFill>
          <a:ln/>
        </p:spPr>
        <p:txBody>
          <a:bodyPr/>
          <a:lstStyle/>
          <a:p>
            <a:endParaRPr lang="fr-CH"/>
          </a:p>
        </p:txBody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64408" y="1435608"/>
            <a:ext cx="411480" cy="41148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2651760" y="2057400"/>
            <a:ext cx="1691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Interval</a:t>
            </a:r>
            <a:endParaRPr lang="en-US" sz="1400" dirty="0"/>
          </a:p>
          <a:p>
            <a:pPr marL="0" indent="0" algn="ctr">
              <a:buNone/>
            </a:pPr>
            <a:r>
              <a:rPr lang="en-US" sz="14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Prediction</a:t>
            </a:r>
            <a:endParaRPr lang="en-US" sz="1400" dirty="0"/>
          </a:p>
        </p:txBody>
      </p:sp>
      <p:sp>
        <p:nvSpPr>
          <p:cNvPr id="13" name="Text 9"/>
          <p:cNvSpPr/>
          <p:nvPr/>
        </p:nvSpPr>
        <p:spPr>
          <a:xfrm>
            <a:off x="2651760" y="2651760"/>
            <a:ext cx="16916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 for a gene or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genomic region (hg38).</a:t>
            </a:r>
            <a:endParaRPr lang="en-US" sz="1100" dirty="0"/>
          </a:p>
        </p:txBody>
      </p:sp>
      <p:sp>
        <p:nvSpPr>
          <p:cNvPr id="14" name="Shape 10"/>
          <p:cNvSpPr/>
          <p:nvPr/>
        </p:nvSpPr>
        <p:spPr>
          <a:xfrm>
            <a:off x="4663440" y="1371600"/>
            <a:ext cx="1965960" cy="228600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fr-CH"/>
          </a:p>
        </p:txBody>
      </p:sp>
      <p:sp>
        <p:nvSpPr>
          <p:cNvPr id="15" name="Shape 11"/>
          <p:cNvSpPr/>
          <p:nvPr/>
        </p:nvSpPr>
        <p:spPr>
          <a:xfrm>
            <a:off x="4663440" y="1371600"/>
            <a:ext cx="1965960" cy="594360"/>
          </a:xfrm>
          <a:prstGeom prst="rect">
            <a:avLst/>
          </a:prstGeom>
          <a:solidFill>
            <a:srgbClr val="1A252F"/>
          </a:solidFill>
          <a:ln/>
        </p:spPr>
        <p:txBody>
          <a:bodyPr/>
          <a:lstStyle/>
          <a:p>
            <a:endParaRPr lang="fr-CH"/>
          </a:p>
        </p:txBody>
      </p:sp>
      <p:pic>
        <p:nvPicPr>
          <p:cNvPr id="16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413248" y="1435608"/>
            <a:ext cx="411480" cy="411480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4800600" y="2057400"/>
            <a:ext cx="1691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Variant</a:t>
            </a:r>
            <a:endParaRPr lang="en-US" sz="1400" dirty="0"/>
          </a:p>
          <a:p>
            <a:pPr marL="0" indent="0" algn="ctr">
              <a:buNone/>
            </a:pPr>
            <a:r>
              <a:rPr lang="en-US" sz="14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Analysis</a:t>
            </a:r>
            <a:endParaRPr lang="en-US" sz="1400" dirty="0"/>
          </a:p>
        </p:txBody>
      </p:sp>
      <p:sp>
        <p:nvSpPr>
          <p:cNvPr id="18" name="Text 13"/>
          <p:cNvSpPr/>
          <p:nvPr/>
        </p:nvSpPr>
        <p:spPr>
          <a:xfrm>
            <a:off x="4800600" y="2651760"/>
            <a:ext cx="16916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Compare REF vs ALT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allele predictions + scores.</a:t>
            </a:r>
            <a:endParaRPr lang="en-US" sz="1100" dirty="0"/>
          </a:p>
        </p:txBody>
      </p:sp>
      <p:sp>
        <p:nvSpPr>
          <p:cNvPr id="19" name="Shape 14"/>
          <p:cNvSpPr/>
          <p:nvPr/>
        </p:nvSpPr>
        <p:spPr>
          <a:xfrm>
            <a:off x="6812280" y="1371600"/>
            <a:ext cx="1965960" cy="228600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fr-CH"/>
          </a:p>
        </p:txBody>
      </p:sp>
      <p:sp>
        <p:nvSpPr>
          <p:cNvPr id="20" name="Shape 15"/>
          <p:cNvSpPr/>
          <p:nvPr/>
        </p:nvSpPr>
        <p:spPr>
          <a:xfrm>
            <a:off x="6812280" y="1371600"/>
            <a:ext cx="1965960" cy="594360"/>
          </a:xfrm>
          <a:prstGeom prst="rect">
            <a:avLst/>
          </a:prstGeom>
          <a:solidFill>
            <a:srgbClr val="334155"/>
          </a:solidFill>
          <a:ln/>
        </p:spPr>
        <p:txBody>
          <a:bodyPr/>
          <a:lstStyle/>
          <a:p>
            <a:endParaRPr lang="fr-CH"/>
          </a:p>
        </p:txBody>
      </p:sp>
      <p:pic>
        <p:nvPicPr>
          <p:cNvPr id="21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562088" y="1435608"/>
            <a:ext cx="411480" cy="411480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6949440" y="2057400"/>
            <a:ext cx="1691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ISM</a:t>
            </a:r>
            <a:endParaRPr lang="en-US" sz="1400" dirty="0"/>
          </a:p>
          <a:p>
            <a:pPr marL="0" indent="0" algn="ctr">
              <a:buNone/>
            </a:pPr>
            <a:r>
              <a:rPr lang="en-US" sz="14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Analysis</a:t>
            </a:r>
            <a:endParaRPr lang="en-US" sz="1400" dirty="0"/>
          </a:p>
        </p:txBody>
      </p:sp>
      <p:sp>
        <p:nvSpPr>
          <p:cNvPr id="23" name="Text 17"/>
          <p:cNvSpPr/>
          <p:nvPr/>
        </p:nvSpPr>
        <p:spPr>
          <a:xfrm>
            <a:off x="6949440" y="2651760"/>
            <a:ext cx="16916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Saturate all bases to find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important positions.</a:t>
            </a:r>
            <a:endParaRPr lang="en-US" sz="1100" dirty="0"/>
          </a:p>
        </p:txBody>
      </p:sp>
      <p:sp>
        <p:nvSpPr>
          <p:cNvPr id="24" name="Shape 18"/>
          <p:cNvSpPr/>
          <p:nvPr/>
        </p:nvSpPr>
        <p:spPr>
          <a:xfrm>
            <a:off x="457200" y="3931920"/>
            <a:ext cx="8229600" cy="594360"/>
          </a:xfrm>
          <a:prstGeom prst="rect">
            <a:avLst/>
          </a:prstGeom>
          <a:solidFill>
            <a:srgbClr val="FEF3C7"/>
          </a:solidFill>
          <a:ln/>
        </p:spPr>
        <p:txBody>
          <a:bodyPr/>
          <a:lstStyle/>
          <a:p>
            <a:endParaRPr lang="fr-CH"/>
          </a:p>
        </p:txBody>
      </p:sp>
      <p:pic>
        <p:nvPicPr>
          <p:cNvPr id="25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40080" y="4023360"/>
            <a:ext cx="320040" cy="320040"/>
          </a:xfrm>
          <a:prstGeom prst="rect">
            <a:avLst/>
          </a:prstGeom>
        </p:spPr>
      </p:pic>
      <p:sp>
        <p:nvSpPr>
          <p:cNvPr id="26" name="Text 19"/>
          <p:cNvSpPr/>
          <p:nvPr/>
        </p:nvSpPr>
        <p:spPr>
          <a:xfrm>
            <a:off x="1097280" y="4005072"/>
            <a:ext cx="7406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 step: go to Settings tab → paste your API key → click Save Key. A green confirmation will appear.</a:t>
            </a:r>
            <a:endParaRPr lang="en-US" sz="1200" dirty="0"/>
          </a:p>
        </p:txBody>
      </p:sp>
      <p:sp>
        <p:nvSpPr>
          <p:cNvPr id="27" name="Text 20"/>
          <p:cNvSpPr/>
          <p:nvPr/>
        </p:nvSpPr>
        <p:spPr>
          <a:xfrm>
            <a:off x="457200" y="470916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DII Bioinformatics Club  |  Luxembourg Institute of Health</a:t>
            </a:r>
            <a:endParaRPr lang="en-US" sz="9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28600"/>
            <a:ext cx="8046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Hands-On Exercises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868680"/>
            <a:ext cx="8229600" cy="886968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fr-CH"/>
          </a:p>
        </p:txBody>
      </p:sp>
      <p:sp>
        <p:nvSpPr>
          <p:cNvPr id="4" name="Shape 2"/>
          <p:cNvSpPr/>
          <p:nvPr/>
        </p:nvSpPr>
        <p:spPr>
          <a:xfrm>
            <a:off x="594360" y="1033272"/>
            <a:ext cx="502920" cy="502920"/>
          </a:xfrm>
          <a:prstGeom prst="ellipse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fr-CH"/>
          </a:p>
        </p:txBody>
      </p:sp>
      <p:sp>
        <p:nvSpPr>
          <p:cNvPr id="5" name="Text 3"/>
          <p:cNvSpPr/>
          <p:nvPr/>
        </p:nvSpPr>
        <p:spPr>
          <a:xfrm>
            <a:off x="594360" y="1051560"/>
            <a:ext cx="502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280160" y="932688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Interval Prediction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7772400" y="932688"/>
            <a:ext cx="822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~5 min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1280160" y="1179576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D94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Gene: CYP2B6  |  Output: RNA_SEQ  |  Tissue: Right liver lobe  |  Length: 1 MB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1280160" y="1435608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Strong RNA-seq signal at exons — CYP2B6 is a liver drug-metabolism enzyme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57200" y="1892808"/>
            <a:ext cx="8229600" cy="886968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fr-CH"/>
          </a:p>
        </p:txBody>
      </p:sp>
      <p:sp>
        <p:nvSpPr>
          <p:cNvPr id="11" name="Shape 9"/>
          <p:cNvSpPr/>
          <p:nvPr/>
        </p:nvSpPr>
        <p:spPr>
          <a:xfrm>
            <a:off x="594360" y="2057400"/>
            <a:ext cx="502920" cy="502920"/>
          </a:xfrm>
          <a:prstGeom prst="ellipse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fr-CH"/>
          </a:p>
        </p:txBody>
      </p:sp>
      <p:sp>
        <p:nvSpPr>
          <p:cNvPr id="12" name="Text 10"/>
          <p:cNvSpPr/>
          <p:nvPr/>
        </p:nvSpPr>
        <p:spPr>
          <a:xfrm>
            <a:off x="594360" y="2075688"/>
            <a:ext cx="502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1280160" y="1956816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Variant Analysis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7772400" y="1956816"/>
            <a:ext cx="822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~7 min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1280160" y="2203704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D94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chr22 : 36,201,698  A→C  |  RNA_SEQ  |  Colon Transverse  |  Zoom: 16 KB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1280160" y="2459736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REF/ALT divergence: lower expression + exon skipping in APOL4. Check scores table.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457200" y="2916936"/>
            <a:ext cx="8229600" cy="886968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fr-CH"/>
          </a:p>
        </p:txBody>
      </p:sp>
      <p:sp>
        <p:nvSpPr>
          <p:cNvPr id="18" name="Shape 16"/>
          <p:cNvSpPr/>
          <p:nvPr/>
        </p:nvSpPr>
        <p:spPr>
          <a:xfrm>
            <a:off x="594360" y="3081528"/>
            <a:ext cx="502920" cy="502920"/>
          </a:xfrm>
          <a:prstGeom prst="ellipse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fr-CH"/>
          </a:p>
        </p:txBody>
      </p:sp>
      <p:sp>
        <p:nvSpPr>
          <p:cNvPr id="19" name="Text 17"/>
          <p:cNvSpPr/>
          <p:nvPr/>
        </p:nvSpPr>
        <p:spPr>
          <a:xfrm>
            <a:off x="594360" y="3099816"/>
            <a:ext cx="502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1280160" y="2980944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ISM Analysis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7772400" y="2980944"/>
            <a:ext cx="822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~5 min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1280160" y="3227832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D94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chr20 : 3,753,200  |  DNASE  |  K562  |  256 bp  |  Context: 16 KB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1280160" y="3483864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Sequence logo shows functional positions — tall letters = important bases (TF motif?)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457200" y="3941064"/>
            <a:ext cx="8229600" cy="886968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fr-CH"/>
          </a:p>
        </p:txBody>
      </p:sp>
      <p:sp>
        <p:nvSpPr>
          <p:cNvPr id="25" name="Shape 23"/>
          <p:cNvSpPr/>
          <p:nvPr/>
        </p:nvSpPr>
        <p:spPr>
          <a:xfrm>
            <a:off x="594360" y="4105656"/>
            <a:ext cx="502920" cy="502920"/>
          </a:xfrm>
          <a:prstGeom prst="ellipse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fr-CH"/>
          </a:p>
        </p:txBody>
      </p:sp>
      <p:sp>
        <p:nvSpPr>
          <p:cNvPr id="26" name="Text 24"/>
          <p:cNvSpPr/>
          <p:nvPr/>
        </p:nvSpPr>
        <p:spPr>
          <a:xfrm>
            <a:off x="594360" y="4123944"/>
            <a:ext cx="502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4</a:t>
            </a:r>
            <a:endParaRPr lang="en-US" sz="1800" dirty="0"/>
          </a:p>
        </p:txBody>
      </p:sp>
      <p:sp>
        <p:nvSpPr>
          <p:cNvPr id="27" name="Text 25"/>
          <p:cNvSpPr/>
          <p:nvPr/>
        </p:nvSpPr>
        <p:spPr>
          <a:xfrm>
            <a:off x="1280160" y="4005072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Sequence Prediction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7772400" y="4005072"/>
            <a:ext cx="822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~3 min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1280160" y="4251960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D94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Sequence: GATTACA (default)  |  DNASE  |  Lung  |  Pad to: 1 MB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1280160" y="4507992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Shows model mechanics — padded N's produce flat signal; real sequence shows peaks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457200" y="470916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DII Bioinformatics Club  |  Luxembourg Institute of Health</a:t>
            </a:r>
            <a:endParaRPr lang="en-US" sz="9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8046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Quick Reference — Output Types &amp; Tissues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48640" y="91440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Scoreable Output Types (usable in Variant Analysis &amp; ISM)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548640" y="1234440"/>
            <a:ext cx="731520" cy="320040"/>
          </a:xfrm>
          <a:prstGeom prst="rect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fr-CH"/>
          </a:p>
        </p:txBody>
      </p:sp>
      <p:sp>
        <p:nvSpPr>
          <p:cNvPr id="5" name="Text 3"/>
          <p:cNvSpPr/>
          <p:nvPr/>
        </p:nvSpPr>
        <p:spPr>
          <a:xfrm>
            <a:off x="548640" y="1234440"/>
            <a:ext cx="731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ATAC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1371600" y="1234440"/>
            <a:ext cx="731520" cy="320040"/>
          </a:xfrm>
          <a:prstGeom prst="rect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fr-CH"/>
          </a:p>
        </p:txBody>
      </p:sp>
      <p:sp>
        <p:nvSpPr>
          <p:cNvPr id="7" name="Text 5"/>
          <p:cNvSpPr/>
          <p:nvPr/>
        </p:nvSpPr>
        <p:spPr>
          <a:xfrm>
            <a:off x="1371600" y="1234440"/>
            <a:ext cx="731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CAGE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2194560" y="1234440"/>
            <a:ext cx="731520" cy="320040"/>
          </a:xfrm>
          <a:prstGeom prst="rect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fr-CH"/>
          </a:p>
        </p:txBody>
      </p:sp>
      <p:sp>
        <p:nvSpPr>
          <p:cNvPr id="9" name="Text 7"/>
          <p:cNvSpPr/>
          <p:nvPr/>
        </p:nvSpPr>
        <p:spPr>
          <a:xfrm>
            <a:off x="2194560" y="1234440"/>
            <a:ext cx="731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DNASE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017520" y="1234440"/>
            <a:ext cx="731520" cy="320040"/>
          </a:xfrm>
          <a:prstGeom prst="rect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fr-CH"/>
          </a:p>
        </p:txBody>
      </p:sp>
      <p:sp>
        <p:nvSpPr>
          <p:cNvPr id="11" name="Text 9"/>
          <p:cNvSpPr/>
          <p:nvPr/>
        </p:nvSpPr>
        <p:spPr>
          <a:xfrm>
            <a:off x="3017520" y="1234440"/>
            <a:ext cx="731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RNA_SEQ</a:t>
            </a:r>
            <a:endParaRPr lang="en-US" sz="800" dirty="0"/>
          </a:p>
        </p:txBody>
      </p:sp>
      <p:sp>
        <p:nvSpPr>
          <p:cNvPr id="12" name="Shape 10"/>
          <p:cNvSpPr/>
          <p:nvPr/>
        </p:nvSpPr>
        <p:spPr>
          <a:xfrm>
            <a:off x="3840480" y="1234440"/>
            <a:ext cx="731520" cy="320040"/>
          </a:xfrm>
          <a:prstGeom prst="rect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fr-CH"/>
          </a:p>
        </p:txBody>
      </p:sp>
      <p:sp>
        <p:nvSpPr>
          <p:cNvPr id="13" name="Text 11"/>
          <p:cNvSpPr/>
          <p:nvPr/>
        </p:nvSpPr>
        <p:spPr>
          <a:xfrm>
            <a:off x="3840480" y="1234440"/>
            <a:ext cx="731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CHIP_HISTONE</a:t>
            </a:r>
            <a:endParaRPr lang="en-US" sz="800" dirty="0"/>
          </a:p>
        </p:txBody>
      </p:sp>
      <p:sp>
        <p:nvSpPr>
          <p:cNvPr id="14" name="Shape 12"/>
          <p:cNvSpPr/>
          <p:nvPr/>
        </p:nvSpPr>
        <p:spPr>
          <a:xfrm>
            <a:off x="4663440" y="1234440"/>
            <a:ext cx="731520" cy="320040"/>
          </a:xfrm>
          <a:prstGeom prst="rect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fr-CH"/>
          </a:p>
        </p:txBody>
      </p:sp>
      <p:sp>
        <p:nvSpPr>
          <p:cNvPr id="15" name="Text 13"/>
          <p:cNvSpPr/>
          <p:nvPr/>
        </p:nvSpPr>
        <p:spPr>
          <a:xfrm>
            <a:off x="4663440" y="1234440"/>
            <a:ext cx="731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CHIP_TF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5669280" y="914400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Plot-only: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5669280" y="1234440"/>
            <a:ext cx="731520" cy="320040"/>
          </a:xfrm>
          <a:prstGeom prst="rect">
            <a:avLst/>
          </a:prstGeom>
          <a:solidFill>
            <a:srgbClr val="64748B"/>
          </a:solidFill>
          <a:ln/>
        </p:spPr>
        <p:txBody>
          <a:bodyPr/>
          <a:lstStyle/>
          <a:p>
            <a:endParaRPr lang="fr-CH"/>
          </a:p>
        </p:txBody>
      </p:sp>
      <p:sp>
        <p:nvSpPr>
          <p:cNvPr id="18" name="Text 16"/>
          <p:cNvSpPr/>
          <p:nvPr/>
        </p:nvSpPr>
        <p:spPr>
          <a:xfrm>
            <a:off x="5669280" y="1216152"/>
            <a:ext cx="7315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SPLICE</a:t>
            </a:r>
            <a:endParaRPr lang="en-US" sz="700" dirty="0"/>
          </a:p>
          <a:p>
            <a:pPr marL="0" indent="0" algn="ctr">
              <a:buNone/>
            </a:pPr>
            <a:r>
              <a:rPr lang="en-US" sz="7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SITES</a:t>
            </a:r>
            <a:endParaRPr lang="en-US" sz="700" dirty="0"/>
          </a:p>
        </p:txBody>
      </p:sp>
      <p:sp>
        <p:nvSpPr>
          <p:cNvPr id="19" name="Shape 17"/>
          <p:cNvSpPr/>
          <p:nvPr/>
        </p:nvSpPr>
        <p:spPr>
          <a:xfrm>
            <a:off x="6492240" y="1234440"/>
            <a:ext cx="731520" cy="320040"/>
          </a:xfrm>
          <a:prstGeom prst="rect">
            <a:avLst/>
          </a:prstGeom>
          <a:solidFill>
            <a:srgbClr val="64748B"/>
          </a:solidFill>
          <a:ln/>
        </p:spPr>
        <p:txBody>
          <a:bodyPr/>
          <a:lstStyle/>
          <a:p>
            <a:endParaRPr lang="fr-CH"/>
          </a:p>
        </p:txBody>
      </p:sp>
      <p:sp>
        <p:nvSpPr>
          <p:cNvPr id="20" name="Text 18"/>
          <p:cNvSpPr/>
          <p:nvPr/>
        </p:nvSpPr>
        <p:spPr>
          <a:xfrm>
            <a:off x="6492240" y="1216152"/>
            <a:ext cx="7315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SPLICE</a:t>
            </a:r>
            <a:endParaRPr lang="en-US" sz="700" dirty="0"/>
          </a:p>
          <a:p>
            <a:pPr marL="0" indent="0" algn="ctr">
              <a:buNone/>
            </a:pPr>
            <a:r>
              <a:rPr lang="en-US" sz="7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SITE_USAGE</a:t>
            </a:r>
            <a:endParaRPr lang="en-US" sz="700" dirty="0"/>
          </a:p>
        </p:txBody>
      </p:sp>
      <p:sp>
        <p:nvSpPr>
          <p:cNvPr id="21" name="Shape 19"/>
          <p:cNvSpPr/>
          <p:nvPr/>
        </p:nvSpPr>
        <p:spPr>
          <a:xfrm>
            <a:off x="7315200" y="1234440"/>
            <a:ext cx="731520" cy="320040"/>
          </a:xfrm>
          <a:prstGeom prst="rect">
            <a:avLst/>
          </a:prstGeom>
          <a:solidFill>
            <a:srgbClr val="64748B"/>
          </a:solidFill>
          <a:ln/>
        </p:spPr>
        <p:txBody>
          <a:bodyPr/>
          <a:lstStyle/>
          <a:p>
            <a:endParaRPr lang="fr-CH"/>
          </a:p>
        </p:txBody>
      </p:sp>
      <p:sp>
        <p:nvSpPr>
          <p:cNvPr id="22" name="Text 20"/>
          <p:cNvSpPr/>
          <p:nvPr/>
        </p:nvSpPr>
        <p:spPr>
          <a:xfrm>
            <a:off x="7315200" y="1216152"/>
            <a:ext cx="7315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SPLICE</a:t>
            </a:r>
            <a:endParaRPr lang="en-US" sz="700" dirty="0"/>
          </a:p>
          <a:p>
            <a:pPr marL="0" indent="0" algn="ctr">
              <a:buNone/>
            </a:pPr>
            <a:r>
              <a:rPr lang="en-US" sz="7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JUNCTIONS</a:t>
            </a:r>
            <a:endParaRPr lang="en-US" sz="700" dirty="0"/>
          </a:p>
        </p:txBody>
      </p:sp>
      <p:sp>
        <p:nvSpPr>
          <p:cNvPr id="23" name="Shape 21"/>
          <p:cNvSpPr/>
          <p:nvPr/>
        </p:nvSpPr>
        <p:spPr>
          <a:xfrm>
            <a:off x="8138160" y="1234440"/>
            <a:ext cx="731520" cy="320040"/>
          </a:xfrm>
          <a:prstGeom prst="rect">
            <a:avLst/>
          </a:prstGeom>
          <a:solidFill>
            <a:srgbClr val="64748B"/>
          </a:solidFill>
          <a:ln/>
        </p:spPr>
        <p:txBody>
          <a:bodyPr/>
          <a:lstStyle/>
          <a:p>
            <a:endParaRPr lang="fr-CH"/>
          </a:p>
        </p:txBody>
      </p:sp>
      <p:sp>
        <p:nvSpPr>
          <p:cNvPr id="24" name="Text 22"/>
          <p:cNvSpPr/>
          <p:nvPr/>
        </p:nvSpPr>
        <p:spPr>
          <a:xfrm>
            <a:off x="8138160" y="1216152"/>
            <a:ext cx="7315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PROCAP</a:t>
            </a:r>
            <a:endParaRPr lang="en-US" sz="700" dirty="0"/>
          </a:p>
        </p:txBody>
      </p:sp>
      <p:sp>
        <p:nvSpPr>
          <p:cNvPr id="25" name="Text 23"/>
          <p:cNvSpPr/>
          <p:nvPr/>
        </p:nvSpPr>
        <p:spPr>
          <a:xfrm>
            <a:off x="548640" y="178308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Supported Tissues &amp; Cell Types</a:t>
            </a:r>
            <a:endParaRPr lang="en-US" sz="1200" dirty="0"/>
          </a:p>
        </p:txBody>
      </p:sp>
      <p:graphicFrame>
        <p:nvGraphicFramePr>
          <p:cNvPr id="2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2103120"/>
          <a:ext cx="8229600" cy="914400"/>
        </p:xfrm>
        <a:graphic>
          <a:graphicData uri="http://schemas.openxmlformats.org/drawingml/2006/table">
            <a:tbl>
              <a:tblPr/>
              <a:tblGrid>
                <a:gridCol w="1828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286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8288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286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743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Ontology ID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52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Name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52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Ontology ID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52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Name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52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UBERON:0002048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Lung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UBERON:0000948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Heart muscle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UBERON:0000955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Brain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UBERON:0000310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Breast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UBERON:0002107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Liver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UBERON:0001013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Adipose tissue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UBERON:0001114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Right liver lobe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UBERON:0000945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Stomach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UBERON:0001157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Colon — Transverse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EFO:0002067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K562 (leukaemia)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UBERON:0000178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Blood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CL:0000084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 cell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UBERON:0002367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Prostate gland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CL:0000115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Endothelial cell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UBERON:0002113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Kidney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CL:0000047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Neuroblast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27" name="Text 24"/>
          <p:cNvSpPr/>
          <p:nvPr/>
        </p:nvSpPr>
        <p:spPr>
          <a:xfrm>
            <a:off x="457200" y="470916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DII Bioinformatics Club  |  Luxembourg Institute of Health</a:t>
            </a:r>
            <a:endParaRPr lang="en-US" sz="9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0F192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fr-CH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" y="914400"/>
            <a:ext cx="548640" cy="54864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731520" y="1645920"/>
            <a:ext cx="7680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Thank You</a:t>
            </a:r>
            <a:endParaRPr lang="en-US" sz="4000" dirty="0"/>
          </a:p>
        </p:txBody>
      </p:sp>
      <p:sp>
        <p:nvSpPr>
          <p:cNvPr id="5" name="Shape 2"/>
          <p:cNvSpPr/>
          <p:nvPr/>
        </p:nvSpPr>
        <p:spPr>
          <a:xfrm>
            <a:off x="731520" y="2468880"/>
            <a:ext cx="1828800" cy="0"/>
          </a:xfrm>
          <a:prstGeom prst="line">
            <a:avLst/>
          </a:prstGeom>
          <a:noFill/>
          <a:ln w="254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fr-CH"/>
          </a:p>
        </p:txBody>
      </p:sp>
      <p:sp>
        <p:nvSpPr>
          <p:cNvPr id="6" name="Text 3"/>
          <p:cNvSpPr/>
          <p:nvPr/>
        </p:nvSpPr>
        <p:spPr>
          <a:xfrm>
            <a:off x="731520" y="2743200"/>
            <a:ext cx="7680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Resources</a:t>
            </a:r>
            <a:endParaRPr lang="en-US" sz="1500" dirty="0"/>
          </a:p>
        </p:txBody>
      </p:sp>
      <p:sp>
        <p:nvSpPr>
          <p:cNvPr id="7" name="Text 4"/>
          <p:cNvSpPr/>
          <p:nvPr/>
        </p:nvSpPr>
        <p:spPr>
          <a:xfrm>
            <a:off x="731520" y="3108960"/>
            <a:ext cx="7680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Paper: nature.com/articles/s41586-025-10014-0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731520" y="3429000"/>
            <a:ext cx="7680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Docs: alphagenomedocs.com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731520" y="3749040"/>
            <a:ext cx="7680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Quick start notebook: alphagenomedocs.com/tutorials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731520" y="4114800"/>
            <a:ext cx="7680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DII Bioinformatics Club  |  Luxembourg Institute of Health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0" y="4960620"/>
            <a:ext cx="9144000" cy="182880"/>
          </a:xfrm>
          <a:prstGeom prst="rect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fr-CH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29</TotalTime>
  <Words>2166</Words>
  <Application>Microsoft Office PowerPoint</Application>
  <PresentationFormat>On-screen Show (16:9)</PresentationFormat>
  <Paragraphs>415</Paragraphs>
  <Slides>20</Slides>
  <Notes>20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5" baseType="lpstr">
      <vt:lpstr>Arial</vt:lpstr>
      <vt:lpstr>Calibri</vt:lpstr>
      <vt:lpstr>Consolas</vt:lpstr>
      <vt:lpstr>Trebuchet MS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AlphaGenome: From Paper to Practice</dc:title>
  <dc:subject>PptxGenJS Presentation</dc:subject>
  <dc:creator>Joseph &amp; Oliver — DII Bioinformatics Club</dc:creator>
  <cp:lastModifiedBy>Joseph LONGWORTH</cp:lastModifiedBy>
  <cp:revision>2</cp:revision>
  <dcterms:created xsi:type="dcterms:W3CDTF">2026-03-13T14:38:16Z</dcterms:created>
  <dcterms:modified xsi:type="dcterms:W3CDTF">2026-03-17T02:02:12Z</dcterms:modified>
</cp:coreProperties>
</file>